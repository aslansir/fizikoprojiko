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LXGW Bright" charset="-122" pitchFamily="34"/>
      <p:regular r:id="rId19"/>
    </p:embeddedFont>
    <p:embeddedFont>
      <p:font typeface="阿里妈妈刀隶体" charset="-122" pitchFamily="34"/>
      <p:regular r:id="rId20"/>
    </p:embeddedFont>
    <p:embeddedFont>
      <p:font typeface="Unna" charset="-122" pitchFamily="34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Relationship Id="rId21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upload.wikimedia.org/81233507b6f335f9c8ba3b6811a187f44a6a5f34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22546" b="2254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5D4E37">
                  <a:alpha val="80000"/>
                </a:srgbClr>
              </a:gs>
              <a:gs pos="50000">
                <a:srgbClr val="5D4E37">
                  <a:alpha val="6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3133725" cy="419100"/>
          </a:xfrm>
          <a:custGeom>
            <a:avLst/>
            <a:gdLst/>
            <a:ahLst/>
            <a:cxnLst/>
            <a:rect l="l" t="t" r="r" b="b"/>
            <a:pathLst>
              <a:path w="3133725" h="419100">
                <a:moveTo>
                  <a:pt x="0" y="0"/>
                </a:moveTo>
                <a:lnTo>
                  <a:pt x="3133725" y="0"/>
                </a:lnTo>
                <a:lnTo>
                  <a:pt x="3133725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5" name="Text 2"/>
          <p:cNvSpPr/>
          <p:nvPr/>
        </p:nvSpPr>
        <p:spPr>
          <a:xfrm>
            <a:off x="381000" y="381000"/>
            <a:ext cx="3219450" cy="419100"/>
          </a:xfrm>
          <a:prstGeom prst="rect">
            <a:avLst/>
          </a:prstGeom>
          <a:noFill/>
          <a:ln/>
        </p:spPr>
        <p:txBody>
          <a:bodyPr wrap="square" lIns="228600" tIns="76200" rIns="228600" bIns="76200" rtlCol="0" anchor="ctr"/>
          <a:lstStyle/>
          <a:p>
            <a:pPr>
              <a:lnSpc>
                <a:spcPct val="130000"/>
              </a:lnSpc>
            </a:pPr>
            <a:r>
              <a:rPr lang="en-US" sz="1350" spc="135" kern="0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10. SINIF EDEBİYAT PROJESİ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028700"/>
            <a:ext cx="335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F8F5F2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Saf Şiir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23241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2590800"/>
            <a:ext cx="5991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F8F5F2">
                    <a:alpha val="9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Türk Edebiyatında Öz Şiir Anlayışı ve Temsilcileri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04813" y="625792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9161" y="33"/>
                </a:moveTo>
                <a:cubicBezTo>
                  <a:pt x="162476" y="-234"/>
                  <a:pt x="165724" y="1038"/>
                  <a:pt x="168068" y="3382"/>
                </a:cubicBezTo>
                <a:cubicBezTo>
                  <a:pt x="170412" y="5726"/>
                  <a:pt x="171684" y="8974"/>
                  <a:pt x="171417" y="12289"/>
                </a:cubicBezTo>
                <a:cubicBezTo>
                  <a:pt x="170077" y="28798"/>
                  <a:pt x="165590" y="54549"/>
                  <a:pt x="155912" y="79162"/>
                </a:cubicBezTo>
                <a:cubicBezTo>
                  <a:pt x="155310" y="80669"/>
                  <a:pt x="154071" y="81807"/>
                  <a:pt x="152497" y="82276"/>
                </a:cubicBezTo>
                <a:lnTo>
                  <a:pt x="125406" y="90413"/>
                </a:lnTo>
                <a:cubicBezTo>
                  <a:pt x="124100" y="90815"/>
                  <a:pt x="123230" y="91987"/>
                  <a:pt x="123230" y="93360"/>
                </a:cubicBezTo>
                <a:cubicBezTo>
                  <a:pt x="123230" y="95068"/>
                  <a:pt x="124603" y="96441"/>
                  <a:pt x="126310" y="96441"/>
                </a:cubicBezTo>
                <a:lnTo>
                  <a:pt x="139236" y="96441"/>
                </a:lnTo>
                <a:cubicBezTo>
                  <a:pt x="143255" y="96441"/>
                  <a:pt x="145833" y="100727"/>
                  <a:pt x="143757" y="104176"/>
                </a:cubicBezTo>
                <a:cubicBezTo>
                  <a:pt x="142417" y="106420"/>
                  <a:pt x="140977" y="108596"/>
                  <a:pt x="139504" y="110739"/>
                </a:cubicBezTo>
                <a:cubicBezTo>
                  <a:pt x="138834" y="111710"/>
                  <a:pt x="137830" y="112414"/>
                  <a:pt x="136691" y="112782"/>
                </a:cubicBezTo>
                <a:lnTo>
                  <a:pt x="103975" y="122560"/>
                </a:lnTo>
                <a:cubicBezTo>
                  <a:pt x="102669" y="122962"/>
                  <a:pt x="101798" y="124134"/>
                  <a:pt x="101798" y="125507"/>
                </a:cubicBezTo>
                <a:cubicBezTo>
                  <a:pt x="101798" y="127215"/>
                  <a:pt x="103171" y="128588"/>
                  <a:pt x="104879" y="128588"/>
                </a:cubicBezTo>
                <a:lnTo>
                  <a:pt x="110237" y="128588"/>
                </a:lnTo>
                <a:cubicBezTo>
                  <a:pt x="115126" y="128588"/>
                  <a:pt x="117269" y="134414"/>
                  <a:pt x="113184" y="137093"/>
                </a:cubicBezTo>
                <a:cubicBezTo>
                  <a:pt x="90413" y="152162"/>
                  <a:pt x="67073" y="151593"/>
                  <a:pt x="52105" y="147574"/>
                </a:cubicBezTo>
                <a:cubicBezTo>
                  <a:pt x="47852" y="146436"/>
                  <a:pt x="44068" y="144259"/>
                  <a:pt x="40585" y="141580"/>
                </a:cubicBezTo>
                <a:lnTo>
                  <a:pt x="16073" y="166092"/>
                </a:lnTo>
                <a:cubicBezTo>
                  <a:pt x="13127" y="169039"/>
                  <a:pt x="8305" y="169039"/>
                  <a:pt x="5358" y="166092"/>
                </a:cubicBezTo>
                <a:cubicBezTo>
                  <a:pt x="2411" y="163145"/>
                  <a:pt x="2411" y="158323"/>
                  <a:pt x="5358" y="155377"/>
                </a:cubicBezTo>
                <a:lnTo>
                  <a:pt x="32147" y="128588"/>
                </a:lnTo>
                <a:lnTo>
                  <a:pt x="32314" y="128755"/>
                </a:lnTo>
                <a:cubicBezTo>
                  <a:pt x="32549" y="128320"/>
                  <a:pt x="32850" y="127918"/>
                  <a:pt x="33218" y="127549"/>
                </a:cubicBezTo>
                <a:lnTo>
                  <a:pt x="85725" y="75009"/>
                </a:lnTo>
                <a:cubicBezTo>
                  <a:pt x="88672" y="72063"/>
                  <a:pt x="88672" y="67241"/>
                  <a:pt x="85725" y="64294"/>
                </a:cubicBezTo>
                <a:cubicBezTo>
                  <a:pt x="82778" y="61347"/>
                  <a:pt x="77956" y="61347"/>
                  <a:pt x="75009" y="64294"/>
                </a:cubicBezTo>
                <a:lnTo>
                  <a:pt x="30037" y="109232"/>
                </a:lnTo>
                <a:cubicBezTo>
                  <a:pt x="27057" y="112213"/>
                  <a:pt x="22001" y="110706"/>
                  <a:pt x="21666" y="106487"/>
                </a:cubicBezTo>
                <a:cubicBezTo>
                  <a:pt x="20226" y="88672"/>
                  <a:pt x="24780" y="65265"/>
                  <a:pt x="45977" y="44068"/>
                </a:cubicBezTo>
                <a:cubicBezTo>
                  <a:pt x="76483" y="13562"/>
                  <a:pt x="131099" y="2311"/>
                  <a:pt x="159127" y="33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10" name="Text 7"/>
          <p:cNvSpPr/>
          <p:nvPr/>
        </p:nvSpPr>
        <p:spPr>
          <a:xfrm>
            <a:off x="747713" y="6210300"/>
            <a:ext cx="2886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8F5F2">
                    <a:alpha val="7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Ali Aslanmirza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A44A3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İÇİNDEKİLER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5D4E3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Sunum Akışı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371600"/>
            <a:ext cx="5581650" cy="1104900"/>
          </a:xfrm>
          <a:custGeom>
            <a:avLst/>
            <a:gdLst/>
            <a:ahLst/>
            <a:cxnLst/>
            <a:rect l="l" t="t" r="r" b="b"/>
            <a:pathLst>
              <a:path w="5581650" h="1104900">
                <a:moveTo>
                  <a:pt x="38100" y="0"/>
                </a:moveTo>
                <a:lnTo>
                  <a:pt x="5505445" y="0"/>
                </a:lnTo>
                <a:cubicBezTo>
                  <a:pt x="5547532" y="0"/>
                  <a:pt x="5581650" y="34118"/>
                  <a:pt x="5581650" y="76205"/>
                </a:cubicBezTo>
                <a:lnTo>
                  <a:pt x="5581650" y="1028695"/>
                </a:lnTo>
                <a:cubicBezTo>
                  <a:pt x="5581650" y="1070782"/>
                  <a:pt x="5547532" y="1104900"/>
                  <a:pt x="5505445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371600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7" name="Text 5"/>
          <p:cNvSpPr/>
          <p:nvPr/>
        </p:nvSpPr>
        <p:spPr>
          <a:xfrm>
            <a:off x="552450" y="15621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8F5F2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19200" y="1562100"/>
            <a:ext cx="20764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5D4E3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Saf Şiir Nedir?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1943100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52E">
                    <a:alpha val="7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Tanımı, ortaya çıkışı ve felsefesi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29350" y="1371600"/>
            <a:ext cx="5581650" cy="1104900"/>
          </a:xfrm>
          <a:custGeom>
            <a:avLst/>
            <a:gdLst/>
            <a:ahLst/>
            <a:cxnLst/>
            <a:rect l="l" t="t" r="r" b="b"/>
            <a:pathLst>
              <a:path w="5581650" h="1104900">
                <a:moveTo>
                  <a:pt x="38100" y="0"/>
                </a:moveTo>
                <a:lnTo>
                  <a:pt x="5505445" y="0"/>
                </a:lnTo>
                <a:cubicBezTo>
                  <a:pt x="5547532" y="0"/>
                  <a:pt x="5581650" y="34118"/>
                  <a:pt x="5581650" y="76205"/>
                </a:cubicBezTo>
                <a:lnTo>
                  <a:pt x="5581650" y="1028695"/>
                </a:lnTo>
                <a:cubicBezTo>
                  <a:pt x="5581650" y="1070782"/>
                  <a:pt x="5547532" y="1104900"/>
                  <a:pt x="5505445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229350" y="1371600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A817C"/>
          </a:solidFill>
          <a:ln/>
        </p:spPr>
      </p:sp>
      <p:sp>
        <p:nvSpPr>
          <p:cNvPr id="12" name="Shape 10"/>
          <p:cNvSpPr/>
          <p:nvPr/>
        </p:nvSpPr>
        <p:spPr>
          <a:xfrm>
            <a:off x="6438900" y="1562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A817C"/>
          </a:solidFill>
          <a:ln/>
        </p:spPr>
      </p:sp>
      <p:sp>
        <p:nvSpPr>
          <p:cNvPr id="13" name="Text 11"/>
          <p:cNvSpPr/>
          <p:nvPr/>
        </p:nvSpPr>
        <p:spPr>
          <a:xfrm>
            <a:off x="6381750" y="15621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8F5F2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48500" y="1562100"/>
            <a:ext cx="2228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5D4E3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Temel Özellikleri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48500" y="1943100"/>
            <a:ext cx="2190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52E">
                    <a:alpha val="7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Temel özellikler işte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2705100"/>
            <a:ext cx="5581650" cy="1104900"/>
          </a:xfrm>
          <a:custGeom>
            <a:avLst/>
            <a:gdLst/>
            <a:ahLst/>
            <a:cxnLst/>
            <a:rect l="l" t="t" r="r" b="b"/>
            <a:pathLst>
              <a:path w="5581650" h="1104900">
                <a:moveTo>
                  <a:pt x="38100" y="0"/>
                </a:moveTo>
                <a:lnTo>
                  <a:pt x="5505445" y="0"/>
                </a:lnTo>
                <a:cubicBezTo>
                  <a:pt x="5547532" y="0"/>
                  <a:pt x="5581650" y="34118"/>
                  <a:pt x="5581650" y="76205"/>
                </a:cubicBezTo>
                <a:lnTo>
                  <a:pt x="5581650" y="1028695"/>
                </a:lnTo>
                <a:cubicBezTo>
                  <a:pt x="5581650" y="1070782"/>
                  <a:pt x="5547532" y="1104900"/>
                  <a:pt x="5505445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00050" y="2705100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18" name="Shape 16"/>
          <p:cNvSpPr/>
          <p:nvPr/>
        </p:nvSpPr>
        <p:spPr>
          <a:xfrm>
            <a:off x="609600" y="2895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19" name="Text 17"/>
          <p:cNvSpPr/>
          <p:nvPr/>
        </p:nvSpPr>
        <p:spPr>
          <a:xfrm>
            <a:off x="552450" y="28956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8F5F2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19200" y="2895600"/>
            <a:ext cx="1685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5D4E3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Temsilciler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9200" y="3276600"/>
            <a:ext cx="1647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52E">
                    <a:alpha val="7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Öncüleri ve önemli şairler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29350" y="2705100"/>
            <a:ext cx="5581650" cy="1104900"/>
          </a:xfrm>
          <a:custGeom>
            <a:avLst/>
            <a:gdLst/>
            <a:ahLst/>
            <a:cxnLst/>
            <a:rect l="l" t="t" r="r" b="b"/>
            <a:pathLst>
              <a:path w="5581650" h="1104900">
                <a:moveTo>
                  <a:pt x="38100" y="0"/>
                </a:moveTo>
                <a:lnTo>
                  <a:pt x="5505445" y="0"/>
                </a:lnTo>
                <a:cubicBezTo>
                  <a:pt x="5547532" y="0"/>
                  <a:pt x="5581650" y="34118"/>
                  <a:pt x="5581650" y="76205"/>
                </a:cubicBezTo>
                <a:lnTo>
                  <a:pt x="5581650" y="1028695"/>
                </a:lnTo>
                <a:cubicBezTo>
                  <a:pt x="5581650" y="1070782"/>
                  <a:pt x="5547532" y="1104900"/>
                  <a:pt x="5505445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229350" y="2705100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24" name="Shape 22"/>
          <p:cNvSpPr/>
          <p:nvPr/>
        </p:nvSpPr>
        <p:spPr>
          <a:xfrm>
            <a:off x="6438900" y="2895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25" name="Text 23"/>
          <p:cNvSpPr/>
          <p:nvPr/>
        </p:nvSpPr>
        <p:spPr>
          <a:xfrm>
            <a:off x="6381750" y="28956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8F5F2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048500" y="2895600"/>
            <a:ext cx="1466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5D4E3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Ahmet Haşim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48500" y="3276600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52E">
                    <a:alpha val="7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Saf şiirin kurucusu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4038600"/>
            <a:ext cx="5581650" cy="1104900"/>
          </a:xfrm>
          <a:custGeom>
            <a:avLst/>
            <a:gdLst/>
            <a:ahLst/>
            <a:cxnLst/>
            <a:rect l="l" t="t" r="r" b="b"/>
            <a:pathLst>
              <a:path w="5581650" h="1104900">
                <a:moveTo>
                  <a:pt x="38100" y="0"/>
                </a:moveTo>
                <a:lnTo>
                  <a:pt x="5505445" y="0"/>
                </a:lnTo>
                <a:cubicBezTo>
                  <a:pt x="5547532" y="0"/>
                  <a:pt x="5581650" y="34118"/>
                  <a:pt x="5581650" y="76205"/>
                </a:cubicBezTo>
                <a:lnTo>
                  <a:pt x="5581650" y="1028695"/>
                </a:lnTo>
                <a:cubicBezTo>
                  <a:pt x="5581650" y="1070782"/>
                  <a:pt x="5547532" y="1104900"/>
                  <a:pt x="5505445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00050" y="4038600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A817C"/>
          </a:solidFill>
          <a:ln/>
        </p:spPr>
      </p:sp>
      <p:sp>
        <p:nvSpPr>
          <p:cNvPr id="30" name="Shape 28"/>
          <p:cNvSpPr/>
          <p:nvPr/>
        </p:nvSpPr>
        <p:spPr>
          <a:xfrm>
            <a:off x="609600" y="4229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A817C"/>
          </a:solidFill>
          <a:ln/>
        </p:spPr>
      </p:sp>
      <p:sp>
        <p:nvSpPr>
          <p:cNvPr id="31" name="Text 29"/>
          <p:cNvSpPr/>
          <p:nvPr/>
        </p:nvSpPr>
        <p:spPr>
          <a:xfrm>
            <a:off x="552450" y="42291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8F5F2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19200" y="4229100"/>
            <a:ext cx="2190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5D4E3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Yahya Kemal Beyatlı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19200" y="4610100"/>
            <a:ext cx="2152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52E">
                    <a:alpha val="7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Son Divan şairi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29350" y="4038600"/>
            <a:ext cx="5581650" cy="1104900"/>
          </a:xfrm>
          <a:custGeom>
            <a:avLst/>
            <a:gdLst/>
            <a:ahLst/>
            <a:cxnLst/>
            <a:rect l="l" t="t" r="r" b="b"/>
            <a:pathLst>
              <a:path w="5581650" h="1104900">
                <a:moveTo>
                  <a:pt x="38100" y="0"/>
                </a:moveTo>
                <a:lnTo>
                  <a:pt x="5505445" y="0"/>
                </a:lnTo>
                <a:cubicBezTo>
                  <a:pt x="5547532" y="0"/>
                  <a:pt x="5581650" y="34118"/>
                  <a:pt x="5581650" y="76205"/>
                </a:cubicBezTo>
                <a:lnTo>
                  <a:pt x="5581650" y="1028695"/>
                </a:lnTo>
                <a:cubicBezTo>
                  <a:pt x="5581650" y="1070782"/>
                  <a:pt x="5547532" y="1104900"/>
                  <a:pt x="5505445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6229350" y="4038600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36" name="Shape 34"/>
          <p:cNvSpPr/>
          <p:nvPr/>
        </p:nvSpPr>
        <p:spPr>
          <a:xfrm>
            <a:off x="6438900" y="42291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37" name="Text 35"/>
          <p:cNvSpPr/>
          <p:nvPr/>
        </p:nvSpPr>
        <p:spPr>
          <a:xfrm>
            <a:off x="6381750" y="42291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8F5F2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48500" y="4229100"/>
            <a:ext cx="220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5D4E3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Diğer Temsilciler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048500" y="4610100"/>
            <a:ext cx="2171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52E">
                    <a:alpha val="7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Necip Fazıl, Tanpınar ve diğerleri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00050" y="5372100"/>
            <a:ext cx="5581650" cy="1104900"/>
          </a:xfrm>
          <a:custGeom>
            <a:avLst/>
            <a:gdLst/>
            <a:ahLst/>
            <a:cxnLst/>
            <a:rect l="l" t="t" r="r" b="b"/>
            <a:pathLst>
              <a:path w="5581650" h="1104900">
                <a:moveTo>
                  <a:pt x="38100" y="0"/>
                </a:moveTo>
                <a:lnTo>
                  <a:pt x="5505445" y="0"/>
                </a:lnTo>
                <a:cubicBezTo>
                  <a:pt x="5547532" y="0"/>
                  <a:pt x="5581650" y="34118"/>
                  <a:pt x="5581650" y="76205"/>
                </a:cubicBezTo>
                <a:lnTo>
                  <a:pt x="5581650" y="1028695"/>
                </a:lnTo>
                <a:cubicBezTo>
                  <a:pt x="5581650" y="1070782"/>
                  <a:pt x="5547532" y="1104900"/>
                  <a:pt x="5505445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00050" y="5372100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42" name="Shape 40"/>
          <p:cNvSpPr/>
          <p:nvPr/>
        </p:nvSpPr>
        <p:spPr>
          <a:xfrm>
            <a:off x="609600" y="556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43" name="Text 41"/>
          <p:cNvSpPr/>
          <p:nvPr/>
        </p:nvSpPr>
        <p:spPr>
          <a:xfrm>
            <a:off x="552450" y="55626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8F5F2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219200" y="5562600"/>
            <a:ext cx="1762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5D4E3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Gözde Örnekler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219200" y="5943600"/>
            <a:ext cx="17240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52E">
                    <a:alpha val="7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Seçilmiş şiirler ve analizler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29350" y="5372100"/>
            <a:ext cx="5581650" cy="1104900"/>
          </a:xfrm>
          <a:custGeom>
            <a:avLst/>
            <a:gdLst/>
            <a:ahLst/>
            <a:cxnLst/>
            <a:rect l="l" t="t" r="r" b="b"/>
            <a:pathLst>
              <a:path w="5581650" h="1104900">
                <a:moveTo>
                  <a:pt x="38100" y="0"/>
                </a:moveTo>
                <a:lnTo>
                  <a:pt x="5505445" y="0"/>
                </a:lnTo>
                <a:cubicBezTo>
                  <a:pt x="5547532" y="0"/>
                  <a:pt x="5581650" y="34118"/>
                  <a:pt x="5581650" y="76205"/>
                </a:cubicBezTo>
                <a:lnTo>
                  <a:pt x="5581650" y="1028695"/>
                </a:lnTo>
                <a:cubicBezTo>
                  <a:pt x="5581650" y="1070782"/>
                  <a:pt x="5547532" y="1104900"/>
                  <a:pt x="5505445" y="1104900"/>
                </a:cubicBez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6229350" y="5372100"/>
            <a:ext cx="38100" cy="1104900"/>
          </a:xfrm>
          <a:custGeom>
            <a:avLst/>
            <a:gdLst/>
            <a:ahLst/>
            <a:cxnLst/>
            <a:rect l="l" t="t" r="r" b="b"/>
            <a:pathLst>
              <a:path w="38100" h="1104900">
                <a:moveTo>
                  <a:pt x="38100" y="0"/>
                </a:moveTo>
                <a:lnTo>
                  <a:pt x="38100" y="0"/>
                </a:lnTo>
                <a:lnTo>
                  <a:pt x="38100" y="1104900"/>
                </a:lnTo>
                <a:lnTo>
                  <a:pt x="38100" y="1104900"/>
                </a:lnTo>
                <a:cubicBezTo>
                  <a:pt x="17072" y="1104900"/>
                  <a:pt x="0" y="1087828"/>
                  <a:pt x="0" y="1066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A817C"/>
          </a:solidFill>
          <a:ln/>
        </p:spPr>
      </p:sp>
      <p:sp>
        <p:nvSpPr>
          <p:cNvPr id="48" name="Shape 46"/>
          <p:cNvSpPr/>
          <p:nvPr/>
        </p:nvSpPr>
        <p:spPr>
          <a:xfrm>
            <a:off x="6438900" y="5562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8A817C"/>
          </a:solidFill>
          <a:ln/>
        </p:spPr>
      </p:sp>
      <p:sp>
        <p:nvSpPr>
          <p:cNvPr id="49" name="Text 47"/>
          <p:cNvSpPr/>
          <p:nvPr/>
        </p:nvSpPr>
        <p:spPr>
          <a:xfrm>
            <a:off x="6381750" y="5562600"/>
            <a:ext cx="57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8F5F2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8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7048500" y="5562600"/>
            <a:ext cx="1619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5D4E3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Sonuç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048500" y="5943600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D352E">
                    <a:alpha val="7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Değerlendirme ve önem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2111464" y="6745190"/>
            <a:ext cx="1702793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A44A3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BÖLÜM 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5D4E3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Saf Şiir Nedir?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371600"/>
            <a:ext cx="7296150" cy="2181225"/>
          </a:xfrm>
          <a:custGeom>
            <a:avLst/>
            <a:gdLst/>
            <a:ahLst/>
            <a:cxnLst/>
            <a:rect l="l" t="t" r="r" b="b"/>
            <a:pathLst>
              <a:path w="7296150" h="2181225">
                <a:moveTo>
                  <a:pt x="38100" y="0"/>
                </a:moveTo>
                <a:lnTo>
                  <a:pt x="7219960" y="0"/>
                </a:lnTo>
                <a:cubicBezTo>
                  <a:pt x="7262038" y="0"/>
                  <a:pt x="7296150" y="34112"/>
                  <a:pt x="7296150" y="76190"/>
                </a:cubicBezTo>
                <a:lnTo>
                  <a:pt x="7296150" y="2105035"/>
                </a:lnTo>
                <a:cubicBezTo>
                  <a:pt x="7296150" y="2147113"/>
                  <a:pt x="7262038" y="2181225"/>
                  <a:pt x="7219960" y="2181225"/>
                </a:cubicBezTo>
                <a:lnTo>
                  <a:pt x="38100" y="2181225"/>
                </a:lnTo>
                <a:cubicBezTo>
                  <a:pt x="17072" y="2181225"/>
                  <a:pt x="0" y="2164153"/>
                  <a:pt x="0" y="21431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371600"/>
            <a:ext cx="38100" cy="2181225"/>
          </a:xfrm>
          <a:custGeom>
            <a:avLst/>
            <a:gdLst/>
            <a:ahLst/>
            <a:cxnLst/>
            <a:rect l="l" t="t" r="r" b="b"/>
            <a:pathLst>
              <a:path w="38100" h="2181225">
                <a:moveTo>
                  <a:pt x="38100" y="0"/>
                </a:moveTo>
                <a:lnTo>
                  <a:pt x="38100" y="0"/>
                </a:lnTo>
                <a:lnTo>
                  <a:pt x="38100" y="2181225"/>
                </a:lnTo>
                <a:lnTo>
                  <a:pt x="38100" y="2181225"/>
                </a:lnTo>
                <a:cubicBezTo>
                  <a:pt x="17072" y="2181225"/>
                  <a:pt x="0" y="2164153"/>
                  <a:pt x="0" y="21431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6" name="Text 4"/>
          <p:cNvSpPr/>
          <p:nvPr/>
        </p:nvSpPr>
        <p:spPr>
          <a:xfrm>
            <a:off x="647700" y="1600200"/>
            <a:ext cx="6934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5D4E3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Tanım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7700" y="2057400"/>
            <a:ext cx="69056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b="1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Saf şiir (Öz Şiir)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, 20. yüzyıl başlarında Türk edebiyatında ortaya çıkan, şiirin amacının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A44A3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estetik haz vermek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olduğunu savunan bir anlayıştır.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7700" y="2767013"/>
            <a:ext cx="69056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Bu akım,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"sanat için sanat"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ilkesini savunur ve şiiri toplumsal, siyasi veya ahlaki amaçlardan arındırarak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A44A3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saf estetik bir değer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olarak ele alır.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1000" y="3781425"/>
            <a:ext cx="7315200" cy="2181225"/>
          </a:xfrm>
          <a:custGeom>
            <a:avLst/>
            <a:gdLst/>
            <a:ahLst/>
            <a:cxnLst/>
            <a:rect l="l" t="t" r="r" b="b"/>
            <a:pathLst>
              <a:path w="7315200" h="2181225">
                <a:moveTo>
                  <a:pt x="76190" y="0"/>
                </a:moveTo>
                <a:lnTo>
                  <a:pt x="7239010" y="0"/>
                </a:lnTo>
                <a:cubicBezTo>
                  <a:pt x="7281088" y="0"/>
                  <a:pt x="7315200" y="34112"/>
                  <a:pt x="7315200" y="76190"/>
                </a:cubicBezTo>
                <a:lnTo>
                  <a:pt x="7315200" y="2105035"/>
                </a:lnTo>
                <a:cubicBezTo>
                  <a:pt x="7315200" y="2147113"/>
                  <a:pt x="7281088" y="2181225"/>
                  <a:pt x="7239010" y="2181225"/>
                </a:cubicBezTo>
                <a:lnTo>
                  <a:pt x="76190" y="2181225"/>
                </a:lnTo>
                <a:cubicBezTo>
                  <a:pt x="34112" y="2181225"/>
                  <a:pt x="0" y="2147113"/>
                  <a:pt x="0" y="2105035"/>
                </a:cubicBezTo>
                <a:lnTo>
                  <a:pt x="0" y="76190"/>
                </a:lnTo>
                <a:cubicBezTo>
                  <a:pt x="0" y="34140"/>
                  <a:pt x="34140" y="0"/>
                  <a:pt x="76190" y="0"/>
                </a:cubicBez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" y="4010025"/>
            <a:ext cx="6972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8F5F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Ortaya Çıkışı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4467225"/>
            <a:ext cx="69437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1910'lu yıllarda Ahmet Haşim'in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"Şiir Hakkında Bazı Mülahazalar"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makalesiyle başlayan bu anlayış, Divan şiiri geleneğiyle sembolizm ve empresyonizmin sentezi olarak ortaya çıkmıştır.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5176838"/>
            <a:ext cx="694372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Fransız sembolistlerinden (Baudelaire, Verlaine, Mallarmé) etkilenen şairler, şiirin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8F5F2"/>
                </a:solidFill>
                <a:highlight>
                  <a:srgbClr val="A44A3F">
                    <a:alpha val="100000"/>
                  </a:srgbClr>
                </a:highlight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müzikalitesine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ve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8F5F2"/>
                </a:solidFill>
                <a:highlight>
                  <a:srgbClr val="A44A3F">
                    <a:alpha val="100000"/>
                  </a:srgbClr>
                </a:highlight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imgesel zenginliğine 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öncelik vermişlerdir.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01000" y="1371600"/>
            <a:ext cx="3810000" cy="2667000"/>
          </a:xfrm>
          <a:custGeom>
            <a:avLst/>
            <a:gdLst/>
            <a:ahLst/>
            <a:cxnLst/>
            <a:rect l="l" t="t" r="r" b="b"/>
            <a:pathLst>
              <a:path w="3810000" h="2667000">
                <a:moveTo>
                  <a:pt x="76196" y="0"/>
                </a:moveTo>
                <a:lnTo>
                  <a:pt x="3733804" y="0"/>
                </a:lnTo>
                <a:cubicBezTo>
                  <a:pt x="3775886" y="0"/>
                  <a:pt x="3810000" y="34114"/>
                  <a:pt x="3810000" y="76196"/>
                </a:cubicBezTo>
                <a:lnTo>
                  <a:pt x="3810000" y="2590804"/>
                </a:lnTo>
                <a:cubicBezTo>
                  <a:pt x="3810000" y="2632886"/>
                  <a:pt x="3775886" y="2667000"/>
                  <a:pt x="3733804" y="2667000"/>
                </a:cubicBezTo>
                <a:lnTo>
                  <a:pt x="76196" y="2667000"/>
                </a:lnTo>
                <a:cubicBezTo>
                  <a:pt x="34114" y="2667000"/>
                  <a:pt x="0" y="2632886"/>
                  <a:pt x="0" y="259080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8181975" y="1600200"/>
            <a:ext cx="3448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5D4E3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Temel Özellikleri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53412" y="2057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16" name="Text 14"/>
          <p:cNvSpPr/>
          <p:nvPr/>
        </p:nvSpPr>
        <p:spPr>
          <a:xfrm>
            <a:off x="8582025" y="2019300"/>
            <a:ext cx="24960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Şiir, kendi kendinin amacıdır.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53412" y="2438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18" name="Text 16"/>
          <p:cNvSpPr/>
          <p:nvPr/>
        </p:nvSpPr>
        <p:spPr>
          <a:xfrm>
            <a:off x="8582025" y="2400300"/>
            <a:ext cx="182039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Estetik haz vermelidir.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53412" y="2819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20" name="Text 18"/>
          <p:cNvSpPr/>
          <p:nvPr/>
        </p:nvSpPr>
        <p:spPr>
          <a:xfrm>
            <a:off x="8582025" y="2781300"/>
            <a:ext cx="24960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Duygu ve düşünce ön plandadır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53412" y="3200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22" name="Text 20"/>
          <p:cNvSpPr/>
          <p:nvPr/>
        </p:nvSpPr>
        <p:spPr>
          <a:xfrm>
            <a:off x="8582025" y="3162300"/>
            <a:ext cx="304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Musiki şeklinde olması önemlidir.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253412" y="35814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24" name="Text 22"/>
          <p:cNvSpPr/>
          <p:nvPr/>
        </p:nvSpPr>
        <p:spPr>
          <a:xfrm>
            <a:off x="8582025" y="3543300"/>
            <a:ext cx="3048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Biçim endişesi ön plandadır.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010525" y="4276725"/>
            <a:ext cx="3790950" cy="1704975"/>
          </a:xfrm>
          <a:custGeom>
            <a:avLst/>
            <a:gdLst/>
            <a:ahLst/>
            <a:cxnLst/>
            <a:rect l="l" t="t" r="r" b="b"/>
            <a:pathLst>
              <a:path w="3790950" h="1704975">
                <a:moveTo>
                  <a:pt x="76195" y="0"/>
                </a:moveTo>
                <a:lnTo>
                  <a:pt x="3714755" y="0"/>
                </a:lnTo>
                <a:cubicBezTo>
                  <a:pt x="3756836" y="0"/>
                  <a:pt x="3790950" y="34114"/>
                  <a:pt x="3790950" y="76195"/>
                </a:cubicBezTo>
                <a:lnTo>
                  <a:pt x="3790950" y="1628780"/>
                </a:lnTo>
                <a:cubicBezTo>
                  <a:pt x="3790950" y="1670861"/>
                  <a:pt x="3756836" y="1704975"/>
                  <a:pt x="3714755" y="1704975"/>
                </a:cubicBezTo>
                <a:lnTo>
                  <a:pt x="76195" y="1704975"/>
                </a:lnTo>
                <a:cubicBezTo>
                  <a:pt x="34114" y="1704975"/>
                  <a:pt x="0" y="1670861"/>
                  <a:pt x="0" y="1628780"/>
                </a:cubicBezTo>
                <a:lnTo>
                  <a:pt x="0" y="76195"/>
                </a:lnTo>
                <a:cubicBezTo>
                  <a:pt x="0" y="34114"/>
                  <a:pt x="34114" y="0"/>
                  <a:pt x="76195" y="0"/>
                </a:cubicBezTo>
                <a:close/>
              </a:path>
            </a:pathLst>
          </a:custGeom>
          <a:solidFill>
            <a:srgbClr val="A44A3F">
              <a:alpha val="10196"/>
            </a:srgbClr>
          </a:solidFill>
          <a:ln w="25400">
            <a:solidFill>
              <a:srgbClr val="A44A3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55981" y="4514850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0" y="144661"/>
                </a:moveTo>
                <a:cubicBezTo>
                  <a:pt x="0" y="100258"/>
                  <a:pt x="35964" y="64294"/>
                  <a:pt x="80367" y="64294"/>
                </a:cubicBezTo>
                <a:lnTo>
                  <a:pt x="85725" y="64294"/>
                </a:lnTo>
                <a:cubicBezTo>
                  <a:pt x="97579" y="64294"/>
                  <a:pt x="107156" y="73871"/>
                  <a:pt x="107156" y="85725"/>
                </a:cubicBezTo>
                <a:cubicBezTo>
                  <a:pt x="107156" y="97579"/>
                  <a:pt x="97579" y="107156"/>
                  <a:pt x="85725" y="107156"/>
                </a:cubicBezTo>
                <a:lnTo>
                  <a:pt x="80367" y="107156"/>
                </a:lnTo>
                <a:cubicBezTo>
                  <a:pt x="59673" y="107156"/>
                  <a:pt x="42863" y="123966"/>
                  <a:pt x="42863" y="144661"/>
                </a:cubicBezTo>
                <a:lnTo>
                  <a:pt x="42863" y="150019"/>
                </a:lnTo>
                <a:lnTo>
                  <a:pt x="85725" y="150019"/>
                </a:lnTo>
                <a:cubicBezTo>
                  <a:pt x="109366" y="150019"/>
                  <a:pt x="128588" y="169240"/>
                  <a:pt x="128588" y="192881"/>
                </a:cubicBezTo>
                <a:lnTo>
                  <a:pt x="128588" y="235744"/>
                </a:lnTo>
                <a:cubicBezTo>
                  <a:pt x="128588" y="259385"/>
                  <a:pt x="109366" y="278606"/>
                  <a:pt x="85725" y="278606"/>
                </a:cubicBezTo>
                <a:lnTo>
                  <a:pt x="42863" y="278606"/>
                </a:lnTo>
                <a:cubicBezTo>
                  <a:pt x="19221" y="278606"/>
                  <a:pt x="0" y="259385"/>
                  <a:pt x="0" y="235744"/>
                </a:cubicBezTo>
                <a:lnTo>
                  <a:pt x="0" y="144661"/>
                </a:lnTo>
                <a:close/>
                <a:moveTo>
                  <a:pt x="171450" y="144661"/>
                </a:moveTo>
                <a:cubicBezTo>
                  <a:pt x="171450" y="100258"/>
                  <a:pt x="207414" y="64294"/>
                  <a:pt x="251817" y="64294"/>
                </a:cubicBezTo>
                <a:lnTo>
                  <a:pt x="257175" y="64294"/>
                </a:lnTo>
                <a:cubicBezTo>
                  <a:pt x="269029" y="64294"/>
                  <a:pt x="278606" y="73871"/>
                  <a:pt x="278606" y="85725"/>
                </a:cubicBezTo>
                <a:cubicBezTo>
                  <a:pt x="278606" y="97579"/>
                  <a:pt x="269029" y="107156"/>
                  <a:pt x="257175" y="107156"/>
                </a:cubicBezTo>
                <a:lnTo>
                  <a:pt x="251817" y="107156"/>
                </a:lnTo>
                <a:cubicBezTo>
                  <a:pt x="231123" y="107156"/>
                  <a:pt x="214313" y="123966"/>
                  <a:pt x="214313" y="144661"/>
                </a:cubicBezTo>
                <a:lnTo>
                  <a:pt x="214313" y="150019"/>
                </a:lnTo>
                <a:lnTo>
                  <a:pt x="257175" y="150019"/>
                </a:lnTo>
                <a:cubicBezTo>
                  <a:pt x="280816" y="150019"/>
                  <a:pt x="300038" y="169240"/>
                  <a:pt x="300038" y="192881"/>
                </a:cubicBezTo>
                <a:lnTo>
                  <a:pt x="300038" y="235744"/>
                </a:lnTo>
                <a:cubicBezTo>
                  <a:pt x="300038" y="259385"/>
                  <a:pt x="280816" y="278606"/>
                  <a:pt x="257175" y="278606"/>
                </a:cubicBezTo>
                <a:lnTo>
                  <a:pt x="214313" y="278606"/>
                </a:lnTo>
                <a:cubicBezTo>
                  <a:pt x="190671" y="278606"/>
                  <a:pt x="171450" y="259385"/>
                  <a:pt x="171450" y="235744"/>
                </a:cubicBezTo>
                <a:lnTo>
                  <a:pt x="171450" y="144661"/>
                </a:ln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27" name="Text 25"/>
          <p:cNvSpPr/>
          <p:nvPr/>
        </p:nvSpPr>
        <p:spPr>
          <a:xfrm>
            <a:off x="8201025" y="5010150"/>
            <a:ext cx="34099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"Şiir bir hikaye değil, sessiz bir şarkıdır."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05788" y="5472113"/>
            <a:ext cx="3400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— Ahmet Haşim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A44A3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BÖLÜM 02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5D4E3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Saf Şiirin Temel Özellikleri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90650"/>
            <a:ext cx="3705225" cy="1638300"/>
          </a:xfrm>
          <a:custGeom>
            <a:avLst/>
            <a:gdLst/>
            <a:ahLst/>
            <a:cxnLst/>
            <a:rect l="l" t="t" r="r" b="b"/>
            <a:pathLst>
              <a:path w="3705225" h="16383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562103"/>
                </a:lnTo>
                <a:cubicBezTo>
                  <a:pt x="3705225" y="1604185"/>
                  <a:pt x="3671110" y="1638300"/>
                  <a:pt x="3629028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906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600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7" name="Text 5"/>
          <p:cNvSpPr/>
          <p:nvPr/>
        </p:nvSpPr>
        <p:spPr>
          <a:xfrm>
            <a:off x="523875" y="160020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5F2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1657350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D4E3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Biçim Endişesi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095500"/>
            <a:ext cx="3400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Şiirin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biçimi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, içeriğinden ayrılmaz bir bütündür. Aruz ölçüsünün ustalıkla kullanımı, kafiye ve rediflerin estetik değeri ön plandadır.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41800" y="1390650"/>
            <a:ext cx="3705225" cy="1638300"/>
          </a:xfrm>
          <a:custGeom>
            <a:avLst/>
            <a:gdLst/>
            <a:ahLst/>
            <a:cxnLst/>
            <a:rect l="l" t="t" r="r" b="b"/>
            <a:pathLst>
              <a:path w="3705225" h="16383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562103"/>
                </a:lnTo>
                <a:cubicBezTo>
                  <a:pt x="3705225" y="1604185"/>
                  <a:pt x="3671110" y="1638300"/>
                  <a:pt x="3629028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241800" y="13906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2300" y="1600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13" name="Text 11"/>
          <p:cNvSpPr/>
          <p:nvPr/>
        </p:nvSpPr>
        <p:spPr>
          <a:xfrm>
            <a:off x="4384675" y="160020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5F2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27600" y="1657350"/>
            <a:ext cx="1314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D4E3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Dilde Saflaşma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32300" y="2095500"/>
            <a:ext cx="3400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Osmanlıcadan arınmış,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günlük konuşma diline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yakın ancak şiirsel bir dil kullanılmıştır. Arapça ve Farsça sözcükler bu şiirlerde daha az kullanılmıştır.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02600" y="1390650"/>
            <a:ext cx="3705225" cy="1638300"/>
          </a:xfrm>
          <a:custGeom>
            <a:avLst/>
            <a:gdLst/>
            <a:ahLst/>
            <a:cxnLst/>
            <a:rect l="l" t="t" r="r" b="b"/>
            <a:pathLst>
              <a:path w="3705225" h="16383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562103"/>
                </a:lnTo>
                <a:cubicBezTo>
                  <a:pt x="3705225" y="1604185"/>
                  <a:pt x="3671110" y="1638300"/>
                  <a:pt x="3629028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102600" y="13906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A817C"/>
          </a:solidFill>
          <a:ln/>
        </p:spPr>
      </p:sp>
      <p:sp>
        <p:nvSpPr>
          <p:cNvPr id="18" name="Shape 16"/>
          <p:cNvSpPr/>
          <p:nvPr/>
        </p:nvSpPr>
        <p:spPr>
          <a:xfrm>
            <a:off x="8293100" y="1600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8A817C"/>
          </a:solidFill>
          <a:ln/>
        </p:spPr>
      </p:sp>
      <p:sp>
        <p:nvSpPr>
          <p:cNvPr id="19" name="Text 17"/>
          <p:cNvSpPr/>
          <p:nvPr/>
        </p:nvSpPr>
        <p:spPr>
          <a:xfrm>
            <a:off x="8245475" y="160020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5F2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88400" y="1657350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D4E3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Estetik Haz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93100" y="2095500"/>
            <a:ext cx="3400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Şiirin temel amacı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estetik haz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vermektir. "Sanat için sanat" ilkesi. Şiir, kendi amacıdır ve başka bir amaca hizmet etmez.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1000" y="3200400"/>
            <a:ext cx="3705225" cy="1638300"/>
          </a:xfrm>
          <a:custGeom>
            <a:avLst/>
            <a:gdLst/>
            <a:ahLst/>
            <a:cxnLst/>
            <a:rect l="l" t="t" r="r" b="b"/>
            <a:pathLst>
              <a:path w="3705225" h="16383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562103"/>
                </a:lnTo>
                <a:cubicBezTo>
                  <a:pt x="3705225" y="1604185"/>
                  <a:pt x="3671110" y="1638300"/>
                  <a:pt x="3629028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381000" y="32004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24" name="Shape 22"/>
          <p:cNvSpPr/>
          <p:nvPr/>
        </p:nvSpPr>
        <p:spPr>
          <a:xfrm>
            <a:off x="571500" y="3409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25" name="Text 23"/>
          <p:cNvSpPr/>
          <p:nvPr/>
        </p:nvSpPr>
        <p:spPr>
          <a:xfrm>
            <a:off x="523875" y="340995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5F2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66800" y="3467100"/>
            <a:ext cx="88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D4E3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Bireysellik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71500" y="3905250"/>
            <a:ext cx="3400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Şairin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kişisel duygu ve düşünceleri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ön plandadır. Toplumsal konulardan ziyade bireysel deneyimler, iç dünya ve ruh halleri şiire yansıtılır.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41800" y="3200400"/>
            <a:ext cx="3705225" cy="1638300"/>
          </a:xfrm>
          <a:custGeom>
            <a:avLst/>
            <a:gdLst/>
            <a:ahLst/>
            <a:cxnLst/>
            <a:rect l="l" t="t" r="r" b="b"/>
            <a:pathLst>
              <a:path w="3705225" h="16383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562103"/>
                </a:lnTo>
                <a:cubicBezTo>
                  <a:pt x="3705225" y="1604185"/>
                  <a:pt x="3671110" y="1638300"/>
                  <a:pt x="3629028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4241800" y="32004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30" name="Shape 28"/>
          <p:cNvSpPr/>
          <p:nvPr/>
        </p:nvSpPr>
        <p:spPr>
          <a:xfrm>
            <a:off x="4432300" y="3409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31" name="Text 29"/>
          <p:cNvSpPr/>
          <p:nvPr/>
        </p:nvSpPr>
        <p:spPr>
          <a:xfrm>
            <a:off x="4384675" y="340995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5F2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27600" y="3467100"/>
            <a:ext cx="762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D4E3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Düşsellik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32300" y="3905250"/>
            <a:ext cx="3400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Hayal gücünün ön plana çıktığı,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gerçeküstü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ve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mistik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unsurlar kullanılır. Rüya, hatıra ve hayaller şiirin temel kaynağıdır.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02600" y="3200400"/>
            <a:ext cx="3705225" cy="1638300"/>
          </a:xfrm>
          <a:custGeom>
            <a:avLst/>
            <a:gdLst/>
            <a:ahLst/>
            <a:cxnLst/>
            <a:rect l="l" t="t" r="r" b="b"/>
            <a:pathLst>
              <a:path w="3705225" h="16383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562103"/>
                </a:lnTo>
                <a:cubicBezTo>
                  <a:pt x="3705225" y="1604185"/>
                  <a:pt x="3671110" y="1638300"/>
                  <a:pt x="3629028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8102600" y="32004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A817C"/>
          </a:solidFill>
          <a:ln/>
        </p:spPr>
      </p:sp>
      <p:sp>
        <p:nvSpPr>
          <p:cNvPr id="36" name="Shape 34"/>
          <p:cNvSpPr/>
          <p:nvPr/>
        </p:nvSpPr>
        <p:spPr>
          <a:xfrm>
            <a:off x="8293100" y="3409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8A817C"/>
          </a:solidFill>
          <a:ln/>
        </p:spPr>
      </p:sp>
      <p:sp>
        <p:nvSpPr>
          <p:cNvPr id="37" name="Text 35"/>
          <p:cNvSpPr/>
          <p:nvPr/>
        </p:nvSpPr>
        <p:spPr>
          <a:xfrm>
            <a:off x="8245475" y="340995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5F2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788400" y="3467100"/>
            <a:ext cx="148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D4E3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Sembolizm Etkisi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93100" y="3905250"/>
            <a:ext cx="3400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Fransız sembolistlerinden etkilenilmesi sonucu ortaya çıkmıştır.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Semboller ve imgeler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kullanılmıştır. Kapalı ve yoruma açık anlatım söz konusudur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1000" y="5010150"/>
            <a:ext cx="3705225" cy="1638300"/>
          </a:xfrm>
          <a:custGeom>
            <a:avLst/>
            <a:gdLst/>
            <a:ahLst/>
            <a:cxnLst/>
            <a:rect l="l" t="t" r="r" b="b"/>
            <a:pathLst>
              <a:path w="3705225" h="16383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562103"/>
                </a:lnTo>
                <a:cubicBezTo>
                  <a:pt x="3705225" y="1604185"/>
                  <a:pt x="3671110" y="1638300"/>
                  <a:pt x="3629028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381000" y="50101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42" name="Shape 40"/>
          <p:cNvSpPr/>
          <p:nvPr/>
        </p:nvSpPr>
        <p:spPr>
          <a:xfrm>
            <a:off x="571500" y="5219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43" name="Text 41"/>
          <p:cNvSpPr/>
          <p:nvPr/>
        </p:nvSpPr>
        <p:spPr>
          <a:xfrm>
            <a:off x="523875" y="521970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5F2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66800" y="5276850"/>
            <a:ext cx="1200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D4E3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Musiki Önemi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71500" y="5715000"/>
            <a:ext cx="3400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Şiirin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müzikalitesine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büyük önem verilir. Ses ve ritim, anlam kadar önemlidir. "Şiir, sessiz bir şarkıdır."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4241800" y="5010150"/>
            <a:ext cx="3705225" cy="1638300"/>
          </a:xfrm>
          <a:custGeom>
            <a:avLst/>
            <a:gdLst/>
            <a:ahLst/>
            <a:cxnLst/>
            <a:rect l="l" t="t" r="r" b="b"/>
            <a:pathLst>
              <a:path w="3705225" h="16383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562103"/>
                </a:lnTo>
                <a:cubicBezTo>
                  <a:pt x="3705225" y="1604185"/>
                  <a:pt x="3671110" y="1638300"/>
                  <a:pt x="3629028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4241800" y="50101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48" name="Shape 46"/>
          <p:cNvSpPr/>
          <p:nvPr/>
        </p:nvSpPr>
        <p:spPr>
          <a:xfrm>
            <a:off x="4432300" y="5219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49" name="Text 47"/>
          <p:cNvSpPr/>
          <p:nvPr/>
        </p:nvSpPr>
        <p:spPr>
          <a:xfrm>
            <a:off x="4384675" y="521970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5F2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8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927600" y="5276850"/>
            <a:ext cx="210204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D4E3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Sesin Anlamı Bastırması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432300" y="5715000"/>
            <a:ext cx="3400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Anlamdan çok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ses ve ritim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ön plandadır. "Şiir duyulmak ve hissedilmek içindir." Anlam ikinci plana atılmıştır.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102600" y="5010150"/>
            <a:ext cx="3705225" cy="1638300"/>
          </a:xfrm>
          <a:custGeom>
            <a:avLst/>
            <a:gdLst/>
            <a:ahLst/>
            <a:cxnLst/>
            <a:rect l="l" t="t" r="r" b="b"/>
            <a:pathLst>
              <a:path w="3705225" h="16383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562103"/>
                </a:lnTo>
                <a:cubicBezTo>
                  <a:pt x="3705225" y="1604185"/>
                  <a:pt x="3671110" y="1638300"/>
                  <a:pt x="3629028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3" name="Shape 51"/>
          <p:cNvSpPr/>
          <p:nvPr/>
        </p:nvSpPr>
        <p:spPr>
          <a:xfrm>
            <a:off x="8102600" y="50101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A817C"/>
          </a:solidFill>
          <a:ln/>
        </p:spPr>
      </p:sp>
      <p:sp>
        <p:nvSpPr>
          <p:cNvPr id="54" name="Shape 52"/>
          <p:cNvSpPr/>
          <p:nvPr/>
        </p:nvSpPr>
        <p:spPr>
          <a:xfrm>
            <a:off x="8293100" y="5219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solidFill>
            <a:srgbClr val="8A817C"/>
          </a:solidFill>
          <a:ln/>
        </p:spPr>
      </p:sp>
      <p:sp>
        <p:nvSpPr>
          <p:cNvPr id="55" name="Text 53"/>
          <p:cNvSpPr/>
          <p:nvPr/>
        </p:nvSpPr>
        <p:spPr>
          <a:xfrm>
            <a:off x="8245475" y="5219700"/>
            <a:ext cx="4762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F8F5F2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9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788400" y="5276850"/>
            <a:ext cx="1304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D4E3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Özgün İmgeler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293100" y="5715000"/>
            <a:ext cx="34004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Yeni ve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özgün imgeler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kullanılmıştır. Geleneksel şiir imgelerinden farklı olarak doğaya ve duyulara odaklanılmıştır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A44A3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BÖLÜM 03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5D4E3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Saf Şiirin Temsilcileri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71600"/>
            <a:ext cx="6677025" cy="1447800"/>
          </a:xfrm>
          <a:custGeom>
            <a:avLst/>
            <a:gdLst/>
            <a:ahLst/>
            <a:cxnLst/>
            <a:rect l="l" t="t" r="r" b="b"/>
            <a:pathLst>
              <a:path w="6677025" h="1447800">
                <a:moveTo>
                  <a:pt x="76198" y="0"/>
                </a:moveTo>
                <a:lnTo>
                  <a:pt x="6600827" y="0"/>
                </a:lnTo>
                <a:cubicBezTo>
                  <a:pt x="6642882" y="0"/>
                  <a:pt x="6677025" y="34143"/>
                  <a:pt x="6677025" y="76198"/>
                </a:cubicBezTo>
                <a:lnTo>
                  <a:pt x="6677025" y="1371602"/>
                </a:lnTo>
                <a:cubicBezTo>
                  <a:pt x="6677025" y="1413657"/>
                  <a:pt x="6642882" y="1447800"/>
                  <a:pt x="6600827" y="1447800"/>
                </a:cubicBezTo>
                <a:lnTo>
                  <a:pt x="76198" y="1447800"/>
                </a:lnTo>
                <a:cubicBezTo>
                  <a:pt x="34143" y="1447800"/>
                  <a:pt x="0" y="1413657"/>
                  <a:pt x="0" y="13716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5" name="Text 3"/>
          <p:cNvSpPr/>
          <p:nvPr/>
        </p:nvSpPr>
        <p:spPr>
          <a:xfrm>
            <a:off x="609600" y="1600200"/>
            <a:ext cx="6334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8F5F2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Öncüler ve Kurucular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600" y="2057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7" name="Shape 5"/>
          <p:cNvSpPr/>
          <p:nvPr/>
        </p:nvSpPr>
        <p:spPr>
          <a:xfrm>
            <a:off x="747713" y="22098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9750" y="38933"/>
                </a:moveTo>
                <a:cubicBezTo>
                  <a:pt x="143857" y="35674"/>
                  <a:pt x="146447" y="30629"/>
                  <a:pt x="146447" y="25003"/>
                </a:cubicBezTo>
                <a:cubicBezTo>
                  <a:pt x="146447" y="15136"/>
                  <a:pt x="138455" y="7144"/>
                  <a:pt x="128588" y="7144"/>
                </a:cubicBezTo>
                <a:cubicBezTo>
                  <a:pt x="118720" y="7144"/>
                  <a:pt x="110728" y="15136"/>
                  <a:pt x="110728" y="25003"/>
                </a:cubicBezTo>
                <a:cubicBezTo>
                  <a:pt x="110728" y="30629"/>
                  <a:pt x="113362" y="35674"/>
                  <a:pt x="117425" y="38933"/>
                </a:cubicBezTo>
                <a:lnTo>
                  <a:pt x="86886" y="86975"/>
                </a:lnTo>
                <a:cubicBezTo>
                  <a:pt x="82421" y="93985"/>
                  <a:pt x="72911" y="95726"/>
                  <a:pt x="66258" y="90726"/>
                </a:cubicBezTo>
                <a:lnTo>
                  <a:pt x="39692" y="70857"/>
                </a:lnTo>
                <a:cubicBezTo>
                  <a:pt x="41702" y="68000"/>
                  <a:pt x="42863" y="64472"/>
                  <a:pt x="42863" y="60722"/>
                </a:cubicBezTo>
                <a:cubicBezTo>
                  <a:pt x="42863" y="50855"/>
                  <a:pt x="34870" y="42863"/>
                  <a:pt x="25003" y="42863"/>
                </a:cubicBezTo>
                <a:cubicBezTo>
                  <a:pt x="15136" y="42863"/>
                  <a:pt x="7144" y="50855"/>
                  <a:pt x="7144" y="60722"/>
                </a:cubicBezTo>
                <a:cubicBezTo>
                  <a:pt x="7144" y="70455"/>
                  <a:pt x="14957" y="78403"/>
                  <a:pt x="24646" y="78581"/>
                </a:cubicBezTo>
                <a:lnTo>
                  <a:pt x="39201" y="175692"/>
                </a:lnTo>
                <a:cubicBezTo>
                  <a:pt x="41300" y="189667"/>
                  <a:pt x="53310" y="200025"/>
                  <a:pt x="67464" y="200025"/>
                </a:cubicBezTo>
                <a:lnTo>
                  <a:pt x="189711" y="200025"/>
                </a:lnTo>
                <a:cubicBezTo>
                  <a:pt x="203865" y="200025"/>
                  <a:pt x="215875" y="189667"/>
                  <a:pt x="217974" y="175692"/>
                </a:cubicBezTo>
                <a:lnTo>
                  <a:pt x="232529" y="78581"/>
                </a:lnTo>
                <a:cubicBezTo>
                  <a:pt x="242218" y="78403"/>
                  <a:pt x="250031" y="70455"/>
                  <a:pt x="250031" y="60722"/>
                </a:cubicBezTo>
                <a:cubicBezTo>
                  <a:pt x="250031" y="50855"/>
                  <a:pt x="242039" y="42863"/>
                  <a:pt x="232172" y="42863"/>
                </a:cubicBezTo>
                <a:cubicBezTo>
                  <a:pt x="222305" y="42863"/>
                  <a:pt x="214313" y="50855"/>
                  <a:pt x="214313" y="60722"/>
                </a:cubicBezTo>
                <a:cubicBezTo>
                  <a:pt x="214313" y="64472"/>
                  <a:pt x="215473" y="68000"/>
                  <a:pt x="217483" y="70857"/>
                </a:cubicBezTo>
                <a:lnTo>
                  <a:pt x="190961" y="90770"/>
                </a:lnTo>
                <a:cubicBezTo>
                  <a:pt x="184309" y="95771"/>
                  <a:pt x="174799" y="94030"/>
                  <a:pt x="170334" y="87020"/>
                </a:cubicBezTo>
                <a:lnTo>
                  <a:pt x="139750" y="38933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8" name="Text 6"/>
          <p:cNvSpPr/>
          <p:nvPr/>
        </p:nvSpPr>
        <p:spPr>
          <a:xfrm>
            <a:off x="1257300" y="2076450"/>
            <a:ext cx="1295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Ahmet Haşim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57300" y="2343150"/>
            <a:ext cx="1285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5F2">
                    <a:alpha val="7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Saf Şiirin Kurucusu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794760" y="2057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lnTo>
                  <a:pt x="0" y="0"/>
                </a:ln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11" name="Shape 9"/>
          <p:cNvSpPr/>
          <p:nvPr/>
        </p:nvSpPr>
        <p:spPr>
          <a:xfrm>
            <a:off x="3932872" y="22098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12" name="Text 10"/>
          <p:cNvSpPr/>
          <p:nvPr/>
        </p:nvSpPr>
        <p:spPr>
          <a:xfrm>
            <a:off x="4442460" y="2076450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Yahya Kemal Beyatlı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42460" y="2343150"/>
            <a:ext cx="1619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5F2">
                    <a:alpha val="7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Son Divan Şairi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" y="2971800"/>
            <a:ext cx="6677025" cy="3848100"/>
          </a:xfrm>
          <a:custGeom>
            <a:avLst/>
            <a:gdLst/>
            <a:ahLst/>
            <a:cxnLst/>
            <a:rect l="l" t="t" r="r" b="b"/>
            <a:pathLst>
              <a:path w="6677025" h="3848100">
                <a:moveTo>
                  <a:pt x="76192" y="0"/>
                </a:moveTo>
                <a:lnTo>
                  <a:pt x="6600833" y="0"/>
                </a:lnTo>
                <a:cubicBezTo>
                  <a:pt x="6642913" y="0"/>
                  <a:pt x="6677025" y="34112"/>
                  <a:pt x="6677025" y="76192"/>
                </a:cubicBezTo>
                <a:lnTo>
                  <a:pt x="6677025" y="3771908"/>
                </a:lnTo>
                <a:cubicBezTo>
                  <a:pt x="6677025" y="3813988"/>
                  <a:pt x="6642913" y="3848100"/>
                  <a:pt x="6600833" y="3848100"/>
                </a:cubicBezTo>
                <a:lnTo>
                  <a:pt x="76192" y="3848100"/>
                </a:lnTo>
                <a:cubicBezTo>
                  <a:pt x="34112" y="3848100"/>
                  <a:pt x="0" y="3813988"/>
                  <a:pt x="0" y="37719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" y="3200400"/>
            <a:ext cx="6334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5D4E37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Diğer Önemli Temsilciler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8650" y="3657600"/>
            <a:ext cx="3028950" cy="647700"/>
          </a:xfrm>
          <a:custGeom>
            <a:avLst/>
            <a:gdLst/>
            <a:ahLst/>
            <a:cxnLst/>
            <a:rect l="l" t="t" r="r" b="b"/>
            <a:pathLst>
              <a:path w="3028950" h="647700">
                <a:moveTo>
                  <a:pt x="38098" y="0"/>
                </a:moveTo>
                <a:lnTo>
                  <a:pt x="2990852" y="0"/>
                </a:lnTo>
                <a:cubicBezTo>
                  <a:pt x="3011879" y="0"/>
                  <a:pt x="3028950" y="17071"/>
                  <a:pt x="3028950" y="38098"/>
                </a:cubicBezTo>
                <a:lnTo>
                  <a:pt x="3028950" y="609602"/>
                </a:lnTo>
                <a:cubicBezTo>
                  <a:pt x="3028950" y="630643"/>
                  <a:pt x="3011893" y="647700"/>
                  <a:pt x="29908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17" name="Shape 15"/>
          <p:cNvSpPr/>
          <p:nvPr/>
        </p:nvSpPr>
        <p:spPr>
          <a:xfrm>
            <a:off x="628650" y="36576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18" name="Shape 16"/>
          <p:cNvSpPr/>
          <p:nvPr/>
        </p:nvSpPr>
        <p:spPr>
          <a:xfrm>
            <a:off x="785813" y="3886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69" y="0"/>
                </a:moveTo>
                <a:cubicBezTo>
                  <a:pt x="146224" y="0"/>
                  <a:pt x="160846" y="6065"/>
                  <a:pt x="171599" y="16818"/>
                </a:cubicBezTo>
                <a:lnTo>
                  <a:pt x="173645" y="18864"/>
                </a:lnTo>
                <a:cubicBezTo>
                  <a:pt x="184435" y="29654"/>
                  <a:pt x="190500" y="44276"/>
                  <a:pt x="190500" y="59494"/>
                </a:cubicBezTo>
                <a:cubicBezTo>
                  <a:pt x="190500" y="68461"/>
                  <a:pt x="188379" y="77205"/>
                  <a:pt x="184472" y="85092"/>
                </a:cubicBezTo>
                <a:cubicBezTo>
                  <a:pt x="183766" y="86469"/>
                  <a:pt x="182500" y="87511"/>
                  <a:pt x="181012" y="87957"/>
                </a:cubicBezTo>
                <a:lnTo>
                  <a:pt x="139340" y="100459"/>
                </a:lnTo>
                <a:cubicBezTo>
                  <a:pt x="137889" y="100905"/>
                  <a:pt x="136922" y="102208"/>
                  <a:pt x="136922" y="103733"/>
                </a:cubicBezTo>
                <a:cubicBezTo>
                  <a:pt x="136922" y="105631"/>
                  <a:pt x="138447" y="107156"/>
                  <a:pt x="140345" y="107156"/>
                </a:cubicBezTo>
                <a:lnTo>
                  <a:pt x="152326" y="107156"/>
                </a:lnTo>
                <a:cubicBezTo>
                  <a:pt x="157646" y="107156"/>
                  <a:pt x="160288" y="113556"/>
                  <a:pt x="156530" y="117314"/>
                </a:cubicBezTo>
                <a:lnTo>
                  <a:pt x="148196" y="125648"/>
                </a:lnTo>
                <a:cubicBezTo>
                  <a:pt x="147489" y="126355"/>
                  <a:pt x="146633" y="126839"/>
                  <a:pt x="145703" y="127136"/>
                </a:cubicBezTo>
                <a:lnTo>
                  <a:pt x="115565" y="136178"/>
                </a:lnTo>
                <a:cubicBezTo>
                  <a:pt x="114114" y="136624"/>
                  <a:pt x="113147" y="137926"/>
                  <a:pt x="113147" y="139452"/>
                </a:cubicBezTo>
                <a:cubicBezTo>
                  <a:pt x="113147" y="141350"/>
                  <a:pt x="114672" y="142875"/>
                  <a:pt x="116570" y="142875"/>
                </a:cubicBezTo>
                <a:cubicBezTo>
                  <a:pt x="121481" y="142875"/>
                  <a:pt x="123602" y="148717"/>
                  <a:pt x="119472" y="151395"/>
                </a:cubicBezTo>
                <a:cubicBezTo>
                  <a:pt x="104180" y="161292"/>
                  <a:pt x="86246" y="166688"/>
                  <a:pt x="67754" y="166688"/>
                </a:cubicBezTo>
                <a:lnTo>
                  <a:pt x="35756" y="166688"/>
                </a:lnTo>
                <a:lnTo>
                  <a:pt x="17897" y="184547"/>
                </a:lnTo>
                <a:cubicBezTo>
                  <a:pt x="14622" y="187821"/>
                  <a:pt x="9265" y="187821"/>
                  <a:pt x="5990" y="184547"/>
                </a:cubicBezTo>
                <a:cubicBezTo>
                  <a:pt x="2716" y="181273"/>
                  <a:pt x="2716" y="175915"/>
                  <a:pt x="5990" y="172641"/>
                </a:cubicBezTo>
                <a:lnTo>
                  <a:pt x="95250" y="83344"/>
                </a:lnTo>
                <a:cubicBezTo>
                  <a:pt x="98524" y="80070"/>
                  <a:pt x="98524" y="74712"/>
                  <a:pt x="95250" y="71438"/>
                </a:cubicBezTo>
                <a:cubicBezTo>
                  <a:pt x="91976" y="68163"/>
                  <a:pt x="86618" y="68163"/>
                  <a:pt x="83344" y="71438"/>
                </a:cubicBezTo>
                <a:lnTo>
                  <a:pt x="29580" y="125202"/>
                </a:lnTo>
                <a:cubicBezTo>
                  <a:pt x="27459" y="127322"/>
                  <a:pt x="23812" y="125834"/>
                  <a:pt x="23812" y="122820"/>
                </a:cubicBezTo>
                <a:cubicBezTo>
                  <a:pt x="23812" y="97557"/>
                  <a:pt x="33858" y="73335"/>
                  <a:pt x="51718" y="55476"/>
                </a:cubicBezTo>
                <a:lnTo>
                  <a:pt x="90339" y="16818"/>
                </a:lnTo>
                <a:cubicBezTo>
                  <a:pt x="101092" y="6065"/>
                  <a:pt x="115714" y="0"/>
                  <a:pt x="130969" y="0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19" name="Text 17"/>
          <p:cNvSpPr/>
          <p:nvPr/>
        </p:nvSpPr>
        <p:spPr>
          <a:xfrm>
            <a:off x="1114425" y="37719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Necip Fazıl Kısakürek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14425" y="4000500"/>
            <a:ext cx="1514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Çile Şairi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794760" y="3657600"/>
            <a:ext cx="3028950" cy="647700"/>
          </a:xfrm>
          <a:custGeom>
            <a:avLst/>
            <a:gdLst/>
            <a:ahLst/>
            <a:cxnLst/>
            <a:rect l="l" t="t" r="r" b="b"/>
            <a:pathLst>
              <a:path w="3028950" h="647700">
                <a:moveTo>
                  <a:pt x="38098" y="0"/>
                </a:moveTo>
                <a:lnTo>
                  <a:pt x="2990852" y="0"/>
                </a:lnTo>
                <a:cubicBezTo>
                  <a:pt x="3011879" y="0"/>
                  <a:pt x="3028950" y="17071"/>
                  <a:pt x="3028950" y="38098"/>
                </a:cubicBezTo>
                <a:lnTo>
                  <a:pt x="3028950" y="609602"/>
                </a:lnTo>
                <a:cubicBezTo>
                  <a:pt x="3028950" y="630643"/>
                  <a:pt x="3011893" y="647700"/>
                  <a:pt x="29908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22" name="Shape 20"/>
          <p:cNvSpPr/>
          <p:nvPr/>
        </p:nvSpPr>
        <p:spPr>
          <a:xfrm>
            <a:off x="3794760" y="36576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23" name="Shape 21"/>
          <p:cNvSpPr/>
          <p:nvPr/>
        </p:nvSpPr>
        <p:spPr>
          <a:xfrm>
            <a:off x="3951922" y="3886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69" y="0"/>
                </a:moveTo>
                <a:cubicBezTo>
                  <a:pt x="146224" y="0"/>
                  <a:pt x="160846" y="6065"/>
                  <a:pt x="171599" y="16818"/>
                </a:cubicBezTo>
                <a:lnTo>
                  <a:pt x="173645" y="18864"/>
                </a:lnTo>
                <a:cubicBezTo>
                  <a:pt x="184435" y="29654"/>
                  <a:pt x="190500" y="44276"/>
                  <a:pt x="190500" y="59494"/>
                </a:cubicBezTo>
                <a:cubicBezTo>
                  <a:pt x="190500" y="68461"/>
                  <a:pt x="188379" y="77205"/>
                  <a:pt x="184472" y="85092"/>
                </a:cubicBezTo>
                <a:cubicBezTo>
                  <a:pt x="183766" y="86469"/>
                  <a:pt x="182500" y="87511"/>
                  <a:pt x="181012" y="87957"/>
                </a:cubicBezTo>
                <a:lnTo>
                  <a:pt x="139340" y="100459"/>
                </a:lnTo>
                <a:cubicBezTo>
                  <a:pt x="137889" y="100905"/>
                  <a:pt x="136922" y="102208"/>
                  <a:pt x="136922" y="103733"/>
                </a:cubicBezTo>
                <a:cubicBezTo>
                  <a:pt x="136922" y="105631"/>
                  <a:pt x="138447" y="107156"/>
                  <a:pt x="140345" y="107156"/>
                </a:cubicBezTo>
                <a:lnTo>
                  <a:pt x="152326" y="107156"/>
                </a:lnTo>
                <a:cubicBezTo>
                  <a:pt x="157646" y="107156"/>
                  <a:pt x="160288" y="113556"/>
                  <a:pt x="156530" y="117314"/>
                </a:cubicBezTo>
                <a:lnTo>
                  <a:pt x="148196" y="125648"/>
                </a:lnTo>
                <a:cubicBezTo>
                  <a:pt x="147489" y="126355"/>
                  <a:pt x="146633" y="126839"/>
                  <a:pt x="145703" y="127136"/>
                </a:cubicBezTo>
                <a:lnTo>
                  <a:pt x="115565" y="136178"/>
                </a:lnTo>
                <a:cubicBezTo>
                  <a:pt x="114114" y="136624"/>
                  <a:pt x="113147" y="137926"/>
                  <a:pt x="113147" y="139452"/>
                </a:cubicBezTo>
                <a:cubicBezTo>
                  <a:pt x="113147" y="141350"/>
                  <a:pt x="114672" y="142875"/>
                  <a:pt x="116570" y="142875"/>
                </a:cubicBezTo>
                <a:cubicBezTo>
                  <a:pt x="121481" y="142875"/>
                  <a:pt x="123602" y="148717"/>
                  <a:pt x="119472" y="151395"/>
                </a:cubicBezTo>
                <a:cubicBezTo>
                  <a:pt x="104180" y="161292"/>
                  <a:pt x="86246" y="166688"/>
                  <a:pt x="67754" y="166688"/>
                </a:cubicBezTo>
                <a:lnTo>
                  <a:pt x="35756" y="166688"/>
                </a:lnTo>
                <a:lnTo>
                  <a:pt x="17897" y="184547"/>
                </a:lnTo>
                <a:cubicBezTo>
                  <a:pt x="14622" y="187821"/>
                  <a:pt x="9265" y="187821"/>
                  <a:pt x="5990" y="184547"/>
                </a:cubicBezTo>
                <a:cubicBezTo>
                  <a:pt x="2716" y="181273"/>
                  <a:pt x="2716" y="175915"/>
                  <a:pt x="5990" y="172641"/>
                </a:cubicBezTo>
                <a:lnTo>
                  <a:pt x="95250" y="83344"/>
                </a:lnTo>
                <a:cubicBezTo>
                  <a:pt x="98524" y="80070"/>
                  <a:pt x="98524" y="74712"/>
                  <a:pt x="95250" y="71438"/>
                </a:cubicBezTo>
                <a:cubicBezTo>
                  <a:pt x="91976" y="68163"/>
                  <a:pt x="86618" y="68163"/>
                  <a:pt x="83344" y="71438"/>
                </a:cubicBezTo>
                <a:lnTo>
                  <a:pt x="29580" y="125202"/>
                </a:lnTo>
                <a:cubicBezTo>
                  <a:pt x="27459" y="127322"/>
                  <a:pt x="23812" y="125834"/>
                  <a:pt x="23812" y="122820"/>
                </a:cubicBezTo>
                <a:cubicBezTo>
                  <a:pt x="23812" y="97557"/>
                  <a:pt x="33858" y="73335"/>
                  <a:pt x="51718" y="55476"/>
                </a:cubicBezTo>
                <a:lnTo>
                  <a:pt x="90339" y="16818"/>
                </a:lnTo>
                <a:cubicBezTo>
                  <a:pt x="101092" y="6065"/>
                  <a:pt x="115714" y="0"/>
                  <a:pt x="130969" y="0"/>
                </a:cubicBez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24" name="Text 22"/>
          <p:cNvSpPr/>
          <p:nvPr/>
        </p:nvSpPr>
        <p:spPr>
          <a:xfrm>
            <a:off x="4280535" y="3771900"/>
            <a:ext cx="167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Ahmet Hamdi Tanpınar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280535" y="4000500"/>
            <a:ext cx="1666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Zaman Şairi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8650" y="4419600"/>
            <a:ext cx="3028950" cy="647700"/>
          </a:xfrm>
          <a:custGeom>
            <a:avLst/>
            <a:gdLst/>
            <a:ahLst/>
            <a:cxnLst/>
            <a:rect l="l" t="t" r="r" b="b"/>
            <a:pathLst>
              <a:path w="3028950" h="647700">
                <a:moveTo>
                  <a:pt x="38098" y="0"/>
                </a:moveTo>
                <a:lnTo>
                  <a:pt x="2990852" y="0"/>
                </a:lnTo>
                <a:cubicBezTo>
                  <a:pt x="3011879" y="0"/>
                  <a:pt x="3028950" y="17071"/>
                  <a:pt x="3028950" y="38098"/>
                </a:cubicBezTo>
                <a:lnTo>
                  <a:pt x="3028950" y="609602"/>
                </a:lnTo>
                <a:cubicBezTo>
                  <a:pt x="3028950" y="630643"/>
                  <a:pt x="3011893" y="647700"/>
                  <a:pt x="29908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27" name="Shape 25"/>
          <p:cNvSpPr/>
          <p:nvPr/>
        </p:nvSpPr>
        <p:spPr>
          <a:xfrm>
            <a:off x="628650" y="44196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A817C"/>
          </a:solidFill>
          <a:ln/>
        </p:spPr>
      </p:sp>
      <p:sp>
        <p:nvSpPr>
          <p:cNvPr id="28" name="Shape 26"/>
          <p:cNvSpPr/>
          <p:nvPr/>
        </p:nvSpPr>
        <p:spPr>
          <a:xfrm>
            <a:off x="785813" y="4648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69" y="0"/>
                </a:moveTo>
                <a:cubicBezTo>
                  <a:pt x="146224" y="0"/>
                  <a:pt x="160846" y="6065"/>
                  <a:pt x="171599" y="16818"/>
                </a:cubicBezTo>
                <a:lnTo>
                  <a:pt x="173645" y="18864"/>
                </a:lnTo>
                <a:cubicBezTo>
                  <a:pt x="184435" y="29654"/>
                  <a:pt x="190500" y="44276"/>
                  <a:pt x="190500" y="59494"/>
                </a:cubicBezTo>
                <a:cubicBezTo>
                  <a:pt x="190500" y="68461"/>
                  <a:pt x="188379" y="77205"/>
                  <a:pt x="184472" y="85092"/>
                </a:cubicBezTo>
                <a:cubicBezTo>
                  <a:pt x="183766" y="86469"/>
                  <a:pt x="182500" y="87511"/>
                  <a:pt x="181012" y="87957"/>
                </a:cubicBezTo>
                <a:lnTo>
                  <a:pt x="139340" y="100459"/>
                </a:lnTo>
                <a:cubicBezTo>
                  <a:pt x="137889" y="100905"/>
                  <a:pt x="136922" y="102208"/>
                  <a:pt x="136922" y="103733"/>
                </a:cubicBezTo>
                <a:cubicBezTo>
                  <a:pt x="136922" y="105631"/>
                  <a:pt x="138447" y="107156"/>
                  <a:pt x="140345" y="107156"/>
                </a:cubicBezTo>
                <a:lnTo>
                  <a:pt x="152326" y="107156"/>
                </a:lnTo>
                <a:cubicBezTo>
                  <a:pt x="157646" y="107156"/>
                  <a:pt x="160288" y="113556"/>
                  <a:pt x="156530" y="117314"/>
                </a:cubicBezTo>
                <a:lnTo>
                  <a:pt x="148196" y="125648"/>
                </a:lnTo>
                <a:cubicBezTo>
                  <a:pt x="147489" y="126355"/>
                  <a:pt x="146633" y="126839"/>
                  <a:pt x="145703" y="127136"/>
                </a:cubicBezTo>
                <a:lnTo>
                  <a:pt x="115565" y="136178"/>
                </a:lnTo>
                <a:cubicBezTo>
                  <a:pt x="114114" y="136624"/>
                  <a:pt x="113147" y="137926"/>
                  <a:pt x="113147" y="139452"/>
                </a:cubicBezTo>
                <a:cubicBezTo>
                  <a:pt x="113147" y="141350"/>
                  <a:pt x="114672" y="142875"/>
                  <a:pt x="116570" y="142875"/>
                </a:cubicBezTo>
                <a:cubicBezTo>
                  <a:pt x="121481" y="142875"/>
                  <a:pt x="123602" y="148717"/>
                  <a:pt x="119472" y="151395"/>
                </a:cubicBezTo>
                <a:cubicBezTo>
                  <a:pt x="104180" y="161292"/>
                  <a:pt x="86246" y="166688"/>
                  <a:pt x="67754" y="166688"/>
                </a:cubicBezTo>
                <a:lnTo>
                  <a:pt x="35756" y="166688"/>
                </a:lnTo>
                <a:lnTo>
                  <a:pt x="17897" y="184547"/>
                </a:lnTo>
                <a:cubicBezTo>
                  <a:pt x="14622" y="187821"/>
                  <a:pt x="9265" y="187821"/>
                  <a:pt x="5990" y="184547"/>
                </a:cubicBezTo>
                <a:cubicBezTo>
                  <a:pt x="2716" y="181273"/>
                  <a:pt x="2716" y="175915"/>
                  <a:pt x="5990" y="172641"/>
                </a:cubicBezTo>
                <a:lnTo>
                  <a:pt x="95250" y="83344"/>
                </a:lnTo>
                <a:cubicBezTo>
                  <a:pt x="98524" y="80070"/>
                  <a:pt x="98524" y="74712"/>
                  <a:pt x="95250" y="71438"/>
                </a:cubicBezTo>
                <a:cubicBezTo>
                  <a:pt x="91976" y="68163"/>
                  <a:pt x="86618" y="68163"/>
                  <a:pt x="83344" y="71438"/>
                </a:cubicBezTo>
                <a:lnTo>
                  <a:pt x="29580" y="125202"/>
                </a:lnTo>
                <a:cubicBezTo>
                  <a:pt x="27459" y="127322"/>
                  <a:pt x="23812" y="125834"/>
                  <a:pt x="23812" y="122820"/>
                </a:cubicBezTo>
                <a:cubicBezTo>
                  <a:pt x="23812" y="97557"/>
                  <a:pt x="33858" y="73335"/>
                  <a:pt x="51718" y="55476"/>
                </a:cubicBezTo>
                <a:lnTo>
                  <a:pt x="90339" y="16818"/>
                </a:lnTo>
                <a:cubicBezTo>
                  <a:pt x="101092" y="6065"/>
                  <a:pt x="115714" y="0"/>
                  <a:pt x="130969" y="0"/>
                </a:cubicBezTo>
                <a:close/>
              </a:path>
            </a:pathLst>
          </a:custGeom>
          <a:solidFill>
            <a:srgbClr val="8A817C"/>
          </a:solidFill>
          <a:ln/>
        </p:spPr>
      </p:sp>
      <p:sp>
        <p:nvSpPr>
          <p:cNvPr id="29" name="Text 27"/>
          <p:cNvSpPr/>
          <p:nvPr/>
        </p:nvSpPr>
        <p:spPr>
          <a:xfrm>
            <a:off x="1114425" y="4533900"/>
            <a:ext cx="1352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Cahit Sıtkı Tarancı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14425" y="4762500"/>
            <a:ext cx="134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Otuz Beş Yaş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794760" y="4419600"/>
            <a:ext cx="3028950" cy="647700"/>
          </a:xfrm>
          <a:custGeom>
            <a:avLst/>
            <a:gdLst/>
            <a:ahLst/>
            <a:cxnLst/>
            <a:rect l="l" t="t" r="r" b="b"/>
            <a:pathLst>
              <a:path w="3028950" h="647700">
                <a:moveTo>
                  <a:pt x="38098" y="0"/>
                </a:moveTo>
                <a:lnTo>
                  <a:pt x="2990852" y="0"/>
                </a:lnTo>
                <a:cubicBezTo>
                  <a:pt x="3011879" y="0"/>
                  <a:pt x="3028950" y="17071"/>
                  <a:pt x="3028950" y="38098"/>
                </a:cubicBezTo>
                <a:lnTo>
                  <a:pt x="3028950" y="609602"/>
                </a:lnTo>
                <a:cubicBezTo>
                  <a:pt x="3028950" y="630643"/>
                  <a:pt x="3011893" y="647700"/>
                  <a:pt x="29908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32" name="Shape 30"/>
          <p:cNvSpPr/>
          <p:nvPr/>
        </p:nvSpPr>
        <p:spPr>
          <a:xfrm>
            <a:off x="3794760" y="44196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33" name="Shape 31"/>
          <p:cNvSpPr/>
          <p:nvPr/>
        </p:nvSpPr>
        <p:spPr>
          <a:xfrm>
            <a:off x="3951922" y="4648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69" y="0"/>
                </a:moveTo>
                <a:cubicBezTo>
                  <a:pt x="146224" y="0"/>
                  <a:pt x="160846" y="6065"/>
                  <a:pt x="171599" y="16818"/>
                </a:cubicBezTo>
                <a:lnTo>
                  <a:pt x="173645" y="18864"/>
                </a:lnTo>
                <a:cubicBezTo>
                  <a:pt x="184435" y="29654"/>
                  <a:pt x="190500" y="44276"/>
                  <a:pt x="190500" y="59494"/>
                </a:cubicBezTo>
                <a:cubicBezTo>
                  <a:pt x="190500" y="68461"/>
                  <a:pt x="188379" y="77205"/>
                  <a:pt x="184472" y="85092"/>
                </a:cubicBezTo>
                <a:cubicBezTo>
                  <a:pt x="183766" y="86469"/>
                  <a:pt x="182500" y="87511"/>
                  <a:pt x="181012" y="87957"/>
                </a:cubicBezTo>
                <a:lnTo>
                  <a:pt x="139340" y="100459"/>
                </a:lnTo>
                <a:cubicBezTo>
                  <a:pt x="137889" y="100905"/>
                  <a:pt x="136922" y="102208"/>
                  <a:pt x="136922" y="103733"/>
                </a:cubicBezTo>
                <a:cubicBezTo>
                  <a:pt x="136922" y="105631"/>
                  <a:pt x="138447" y="107156"/>
                  <a:pt x="140345" y="107156"/>
                </a:cubicBezTo>
                <a:lnTo>
                  <a:pt x="152326" y="107156"/>
                </a:lnTo>
                <a:cubicBezTo>
                  <a:pt x="157646" y="107156"/>
                  <a:pt x="160288" y="113556"/>
                  <a:pt x="156530" y="117314"/>
                </a:cubicBezTo>
                <a:lnTo>
                  <a:pt x="148196" y="125648"/>
                </a:lnTo>
                <a:cubicBezTo>
                  <a:pt x="147489" y="126355"/>
                  <a:pt x="146633" y="126839"/>
                  <a:pt x="145703" y="127136"/>
                </a:cubicBezTo>
                <a:lnTo>
                  <a:pt x="115565" y="136178"/>
                </a:lnTo>
                <a:cubicBezTo>
                  <a:pt x="114114" y="136624"/>
                  <a:pt x="113147" y="137926"/>
                  <a:pt x="113147" y="139452"/>
                </a:cubicBezTo>
                <a:cubicBezTo>
                  <a:pt x="113147" y="141350"/>
                  <a:pt x="114672" y="142875"/>
                  <a:pt x="116570" y="142875"/>
                </a:cubicBezTo>
                <a:cubicBezTo>
                  <a:pt x="121481" y="142875"/>
                  <a:pt x="123602" y="148717"/>
                  <a:pt x="119472" y="151395"/>
                </a:cubicBezTo>
                <a:cubicBezTo>
                  <a:pt x="104180" y="161292"/>
                  <a:pt x="86246" y="166688"/>
                  <a:pt x="67754" y="166688"/>
                </a:cubicBezTo>
                <a:lnTo>
                  <a:pt x="35756" y="166688"/>
                </a:lnTo>
                <a:lnTo>
                  <a:pt x="17897" y="184547"/>
                </a:lnTo>
                <a:cubicBezTo>
                  <a:pt x="14622" y="187821"/>
                  <a:pt x="9265" y="187821"/>
                  <a:pt x="5990" y="184547"/>
                </a:cubicBezTo>
                <a:cubicBezTo>
                  <a:pt x="2716" y="181273"/>
                  <a:pt x="2716" y="175915"/>
                  <a:pt x="5990" y="172641"/>
                </a:cubicBezTo>
                <a:lnTo>
                  <a:pt x="95250" y="83344"/>
                </a:lnTo>
                <a:cubicBezTo>
                  <a:pt x="98524" y="80070"/>
                  <a:pt x="98524" y="74712"/>
                  <a:pt x="95250" y="71438"/>
                </a:cubicBezTo>
                <a:cubicBezTo>
                  <a:pt x="91976" y="68163"/>
                  <a:pt x="86618" y="68163"/>
                  <a:pt x="83344" y="71438"/>
                </a:cubicBezTo>
                <a:lnTo>
                  <a:pt x="29580" y="125202"/>
                </a:lnTo>
                <a:cubicBezTo>
                  <a:pt x="27459" y="127322"/>
                  <a:pt x="23812" y="125834"/>
                  <a:pt x="23812" y="122820"/>
                </a:cubicBezTo>
                <a:cubicBezTo>
                  <a:pt x="23812" y="97557"/>
                  <a:pt x="33858" y="73335"/>
                  <a:pt x="51718" y="55476"/>
                </a:cubicBezTo>
                <a:lnTo>
                  <a:pt x="90339" y="16818"/>
                </a:lnTo>
                <a:cubicBezTo>
                  <a:pt x="101092" y="6065"/>
                  <a:pt x="115714" y="0"/>
                  <a:pt x="130969" y="0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34" name="Text 32"/>
          <p:cNvSpPr/>
          <p:nvPr/>
        </p:nvSpPr>
        <p:spPr>
          <a:xfrm>
            <a:off x="4280535" y="4533900"/>
            <a:ext cx="1581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Ahmet Muhip Dıranas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280535" y="4762500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Fahriye Abla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28650" y="5181600"/>
            <a:ext cx="3028950" cy="647700"/>
          </a:xfrm>
          <a:custGeom>
            <a:avLst/>
            <a:gdLst/>
            <a:ahLst/>
            <a:cxnLst/>
            <a:rect l="l" t="t" r="r" b="b"/>
            <a:pathLst>
              <a:path w="3028950" h="647700">
                <a:moveTo>
                  <a:pt x="38098" y="0"/>
                </a:moveTo>
                <a:lnTo>
                  <a:pt x="2990852" y="0"/>
                </a:lnTo>
                <a:cubicBezTo>
                  <a:pt x="3011879" y="0"/>
                  <a:pt x="3028950" y="17071"/>
                  <a:pt x="3028950" y="38098"/>
                </a:cubicBezTo>
                <a:lnTo>
                  <a:pt x="3028950" y="609602"/>
                </a:lnTo>
                <a:cubicBezTo>
                  <a:pt x="3028950" y="630643"/>
                  <a:pt x="3011893" y="647700"/>
                  <a:pt x="29908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37" name="Shape 35"/>
          <p:cNvSpPr/>
          <p:nvPr/>
        </p:nvSpPr>
        <p:spPr>
          <a:xfrm>
            <a:off x="628650" y="51816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38" name="Shape 36"/>
          <p:cNvSpPr/>
          <p:nvPr/>
        </p:nvSpPr>
        <p:spPr>
          <a:xfrm>
            <a:off x="785813" y="5410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69" y="0"/>
                </a:moveTo>
                <a:cubicBezTo>
                  <a:pt x="146224" y="0"/>
                  <a:pt x="160846" y="6065"/>
                  <a:pt x="171599" y="16818"/>
                </a:cubicBezTo>
                <a:lnTo>
                  <a:pt x="173645" y="18864"/>
                </a:lnTo>
                <a:cubicBezTo>
                  <a:pt x="184435" y="29654"/>
                  <a:pt x="190500" y="44276"/>
                  <a:pt x="190500" y="59494"/>
                </a:cubicBezTo>
                <a:cubicBezTo>
                  <a:pt x="190500" y="68461"/>
                  <a:pt x="188379" y="77205"/>
                  <a:pt x="184472" y="85092"/>
                </a:cubicBezTo>
                <a:cubicBezTo>
                  <a:pt x="183766" y="86469"/>
                  <a:pt x="182500" y="87511"/>
                  <a:pt x="181012" y="87957"/>
                </a:cubicBezTo>
                <a:lnTo>
                  <a:pt x="139340" y="100459"/>
                </a:lnTo>
                <a:cubicBezTo>
                  <a:pt x="137889" y="100905"/>
                  <a:pt x="136922" y="102208"/>
                  <a:pt x="136922" y="103733"/>
                </a:cubicBezTo>
                <a:cubicBezTo>
                  <a:pt x="136922" y="105631"/>
                  <a:pt x="138447" y="107156"/>
                  <a:pt x="140345" y="107156"/>
                </a:cubicBezTo>
                <a:lnTo>
                  <a:pt x="152326" y="107156"/>
                </a:lnTo>
                <a:cubicBezTo>
                  <a:pt x="157646" y="107156"/>
                  <a:pt x="160288" y="113556"/>
                  <a:pt x="156530" y="117314"/>
                </a:cubicBezTo>
                <a:lnTo>
                  <a:pt x="148196" y="125648"/>
                </a:lnTo>
                <a:cubicBezTo>
                  <a:pt x="147489" y="126355"/>
                  <a:pt x="146633" y="126839"/>
                  <a:pt x="145703" y="127136"/>
                </a:cubicBezTo>
                <a:lnTo>
                  <a:pt x="115565" y="136178"/>
                </a:lnTo>
                <a:cubicBezTo>
                  <a:pt x="114114" y="136624"/>
                  <a:pt x="113147" y="137926"/>
                  <a:pt x="113147" y="139452"/>
                </a:cubicBezTo>
                <a:cubicBezTo>
                  <a:pt x="113147" y="141350"/>
                  <a:pt x="114672" y="142875"/>
                  <a:pt x="116570" y="142875"/>
                </a:cubicBezTo>
                <a:cubicBezTo>
                  <a:pt x="121481" y="142875"/>
                  <a:pt x="123602" y="148717"/>
                  <a:pt x="119472" y="151395"/>
                </a:cubicBezTo>
                <a:cubicBezTo>
                  <a:pt x="104180" y="161292"/>
                  <a:pt x="86246" y="166688"/>
                  <a:pt x="67754" y="166688"/>
                </a:cubicBezTo>
                <a:lnTo>
                  <a:pt x="35756" y="166688"/>
                </a:lnTo>
                <a:lnTo>
                  <a:pt x="17897" y="184547"/>
                </a:lnTo>
                <a:cubicBezTo>
                  <a:pt x="14622" y="187821"/>
                  <a:pt x="9265" y="187821"/>
                  <a:pt x="5990" y="184547"/>
                </a:cubicBezTo>
                <a:cubicBezTo>
                  <a:pt x="2716" y="181273"/>
                  <a:pt x="2716" y="175915"/>
                  <a:pt x="5990" y="172641"/>
                </a:cubicBezTo>
                <a:lnTo>
                  <a:pt x="95250" y="83344"/>
                </a:lnTo>
                <a:cubicBezTo>
                  <a:pt x="98524" y="80070"/>
                  <a:pt x="98524" y="74712"/>
                  <a:pt x="95250" y="71438"/>
                </a:cubicBezTo>
                <a:cubicBezTo>
                  <a:pt x="91976" y="68163"/>
                  <a:pt x="86618" y="68163"/>
                  <a:pt x="83344" y="71438"/>
                </a:cubicBezTo>
                <a:lnTo>
                  <a:pt x="29580" y="125202"/>
                </a:lnTo>
                <a:cubicBezTo>
                  <a:pt x="27459" y="127322"/>
                  <a:pt x="23812" y="125834"/>
                  <a:pt x="23812" y="122820"/>
                </a:cubicBezTo>
                <a:cubicBezTo>
                  <a:pt x="23812" y="97557"/>
                  <a:pt x="33858" y="73335"/>
                  <a:pt x="51718" y="55476"/>
                </a:cubicBezTo>
                <a:lnTo>
                  <a:pt x="90339" y="16818"/>
                </a:lnTo>
                <a:cubicBezTo>
                  <a:pt x="101092" y="6065"/>
                  <a:pt x="115714" y="0"/>
                  <a:pt x="130969" y="0"/>
                </a:cubicBez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39" name="Text 37"/>
          <p:cNvSpPr/>
          <p:nvPr/>
        </p:nvSpPr>
        <p:spPr>
          <a:xfrm>
            <a:off x="1114425" y="5295900"/>
            <a:ext cx="12668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Asaf Halet Çelebi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14425" y="5524500"/>
            <a:ext cx="1257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Mistik Şair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794760" y="5181600"/>
            <a:ext cx="3028950" cy="647700"/>
          </a:xfrm>
          <a:custGeom>
            <a:avLst/>
            <a:gdLst/>
            <a:ahLst/>
            <a:cxnLst/>
            <a:rect l="l" t="t" r="r" b="b"/>
            <a:pathLst>
              <a:path w="3028950" h="647700">
                <a:moveTo>
                  <a:pt x="38098" y="0"/>
                </a:moveTo>
                <a:lnTo>
                  <a:pt x="2990852" y="0"/>
                </a:lnTo>
                <a:cubicBezTo>
                  <a:pt x="3011879" y="0"/>
                  <a:pt x="3028950" y="17071"/>
                  <a:pt x="3028950" y="38098"/>
                </a:cubicBezTo>
                <a:lnTo>
                  <a:pt x="3028950" y="609602"/>
                </a:lnTo>
                <a:cubicBezTo>
                  <a:pt x="3028950" y="630643"/>
                  <a:pt x="3011893" y="647700"/>
                  <a:pt x="29908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42" name="Shape 40"/>
          <p:cNvSpPr/>
          <p:nvPr/>
        </p:nvSpPr>
        <p:spPr>
          <a:xfrm>
            <a:off x="3794760" y="51816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A817C"/>
          </a:solidFill>
          <a:ln/>
        </p:spPr>
      </p:sp>
      <p:sp>
        <p:nvSpPr>
          <p:cNvPr id="43" name="Shape 41"/>
          <p:cNvSpPr/>
          <p:nvPr/>
        </p:nvSpPr>
        <p:spPr>
          <a:xfrm>
            <a:off x="3951922" y="5410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69" y="0"/>
                </a:moveTo>
                <a:cubicBezTo>
                  <a:pt x="146224" y="0"/>
                  <a:pt x="160846" y="6065"/>
                  <a:pt x="171599" y="16818"/>
                </a:cubicBezTo>
                <a:lnTo>
                  <a:pt x="173645" y="18864"/>
                </a:lnTo>
                <a:cubicBezTo>
                  <a:pt x="184435" y="29654"/>
                  <a:pt x="190500" y="44276"/>
                  <a:pt x="190500" y="59494"/>
                </a:cubicBezTo>
                <a:cubicBezTo>
                  <a:pt x="190500" y="68461"/>
                  <a:pt x="188379" y="77205"/>
                  <a:pt x="184472" y="85092"/>
                </a:cubicBezTo>
                <a:cubicBezTo>
                  <a:pt x="183766" y="86469"/>
                  <a:pt x="182500" y="87511"/>
                  <a:pt x="181012" y="87957"/>
                </a:cubicBezTo>
                <a:lnTo>
                  <a:pt x="139340" y="100459"/>
                </a:lnTo>
                <a:cubicBezTo>
                  <a:pt x="137889" y="100905"/>
                  <a:pt x="136922" y="102208"/>
                  <a:pt x="136922" y="103733"/>
                </a:cubicBezTo>
                <a:cubicBezTo>
                  <a:pt x="136922" y="105631"/>
                  <a:pt x="138447" y="107156"/>
                  <a:pt x="140345" y="107156"/>
                </a:cubicBezTo>
                <a:lnTo>
                  <a:pt x="152326" y="107156"/>
                </a:lnTo>
                <a:cubicBezTo>
                  <a:pt x="157646" y="107156"/>
                  <a:pt x="160288" y="113556"/>
                  <a:pt x="156530" y="117314"/>
                </a:cubicBezTo>
                <a:lnTo>
                  <a:pt x="148196" y="125648"/>
                </a:lnTo>
                <a:cubicBezTo>
                  <a:pt x="147489" y="126355"/>
                  <a:pt x="146633" y="126839"/>
                  <a:pt x="145703" y="127136"/>
                </a:cubicBezTo>
                <a:lnTo>
                  <a:pt x="115565" y="136178"/>
                </a:lnTo>
                <a:cubicBezTo>
                  <a:pt x="114114" y="136624"/>
                  <a:pt x="113147" y="137926"/>
                  <a:pt x="113147" y="139452"/>
                </a:cubicBezTo>
                <a:cubicBezTo>
                  <a:pt x="113147" y="141350"/>
                  <a:pt x="114672" y="142875"/>
                  <a:pt x="116570" y="142875"/>
                </a:cubicBezTo>
                <a:cubicBezTo>
                  <a:pt x="121481" y="142875"/>
                  <a:pt x="123602" y="148717"/>
                  <a:pt x="119472" y="151395"/>
                </a:cubicBezTo>
                <a:cubicBezTo>
                  <a:pt x="104180" y="161292"/>
                  <a:pt x="86246" y="166688"/>
                  <a:pt x="67754" y="166688"/>
                </a:cubicBezTo>
                <a:lnTo>
                  <a:pt x="35756" y="166688"/>
                </a:lnTo>
                <a:lnTo>
                  <a:pt x="17897" y="184547"/>
                </a:lnTo>
                <a:cubicBezTo>
                  <a:pt x="14622" y="187821"/>
                  <a:pt x="9265" y="187821"/>
                  <a:pt x="5990" y="184547"/>
                </a:cubicBezTo>
                <a:cubicBezTo>
                  <a:pt x="2716" y="181273"/>
                  <a:pt x="2716" y="175915"/>
                  <a:pt x="5990" y="172641"/>
                </a:cubicBezTo>
                <a:lnTo>
                  <a:pt x="95250" y="83344"/>
                </a:lnTo>
                <a:cubicBezTo>
                  <a:pt x="98524" y="80070"/>
                  <a:pt x="98524" y="74712"/>
                  <a:pt x="95250" y="71438"/>
                </a:cubicBezTo>
                <a:cubicBezTo>
                  <a:pt x="91976" y="68163"/>
                  <a:pt x="86618" y="68163"/>
                  <a:pt x="83344" y="71438"/>
                </a:cubicBezTo>
                <a:lnTo>
                  <a:pt x="29580" y="125202"/>
                </a:lnTo>
                <a:cubicBezTo>
                  <a:pt x="27459" y="127322"/>
                  <a:pt x="23812" y="125834"/>
                  <a:pt x="23812" y="122820"/>
                </a:cubicBezTo>
                <a:cubicBezTo>
                  <a:pt x="23812" y="97557"/>
                  <a:pt x="33858" y="73335"/>
                  <a:pt x="51718" y="55476"/>
                </a:cubicBezTo>
                <a:lnTo>
                  <a:pt x="90339" y="16818"/>
                </a:lnTo>
                <a:cubicBezTo>
                  <a:pt x="101092" y="6065"/>
                  <a:pt x="115714" y="0"/>
                  <a:pt x="130969" y="0"/>
                </a:cubicBezTo>
                <a:close/>
              </a:path>
            </a:pathLst>
          </a:custGeom>
          <a:solidFill>
            <a:srgbClr val="8A817C"/>
          </a:solidFill>
          <a:ln/>
        </p:spPr>
      </p:sp>
      <p:sp>
        <p:nvSpPr>
          <p:cNvPr id="44" name="Text 42"/>
          <p:cNvSpPr/>
          <p:nvPr/>
        </p:nvSpPr>
        <p:spPr>
          <a:xfrm>
            <a:off x="4280535" y="5295900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Ziya Osman Saba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280535" y="5524500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Yedi Meşale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8650" y="5943600"/>
            <a:ext cx="3028950" cy="647700"/>
          </a:xfrm>
          <a:custGeom>
            <a:avLst/>
            <a:gdLst/>
            <a:ahLst/>
            <a:cxnLst/>
            <a:rect l="l" t="t" r="r" b="b"/>
            <a:pathLst>
              <a:path w="3028950" h="647700">
                <a:moveTo>
                  <a:pt x="38098" y="0"/>
                </a:moveTo>
                <a:lnTo>
                  <a:pt x="2990852" y="0"/>
                </a:lnTo>
                <a:cubicBezTo>
                  <a:pt x="3011879" y="0"/>
                  <a:pt x="3028950" y="17071"/>
                  <a:pt x="3028950" y="38098"/>
                </a:cubicBezTo>
                <a:lnTo>
                  <a:pt x="3028950" y="609602"/>
                </a:lnTo>
                <a:cubicBezTo>
                  <a:pt x="3028950" y="630643"/>
                  <a:pt x="3011893" y="647700"/>
                  <a:pt x="29908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47" name="Shape 45"/>
          <p:cNvSpPr/>
          <p:nvPr/>
        </p:nvSpPr>
        <p:spPr>
          <a:xfrm>
            <a:off x="628650" y="59436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48" name="Shape 46"/>
          <p:cNvSpPr/>
          <p:nvPr/>
        </p:nvSpPr>
        <p:spPr>
          <a:xfrm>
            <a:off x="785813" y="6172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69" y="0"/>
                </a:moveTo>
                <a:cubicBezTo>
                  <a:pt x="146224" y="0"/>
                  <a:pt x="160846" y="6065"/>
                  <a:pt x="171599" y="16818"/>
                </a:cubicBezTo>
                <a:lnTo>
                  <a:pt x="173645" y="18864"/>
                </a:lnTo>
                <a:cubicBezTo>
                  <a:pt x="184435" y="29654"/>
                  <a:pt x="190500" y="44276"/>
                  <a:pt x="190500" y="59494"/>
                </a:cubicBezTo>
                <a:cubicBezTo>
                  <a:pt x="190500" y="68461"/>
                  <a:pt x="188379" y="77205"/>
                  <a:pt x="184472" y="85092"/>
                </a:cubicBezTo>
                <a:cubicBezTo>
                  <a:pt x="183766" y="86469"/>
                  <a:pt x="182500" y="87511"/>
                  <a:pt x="181012" y="87957"/>
                </a:cubicBezTo>
                <a:lnTo>
                  <a:pt x="139340" y="100459"/>
                </a:lnTo>
                <a:cubicBezTo>
                  <a:pt x="137889" y="100905"/>
                  <a:pt x="136922" y="102208"/>
                  <a:pt x="136922" y="103733"/>
                </a:cubicBezTo>
                <a:cubicBezTo>
                  <a:pt x="136922" y="105631"/>
                  <a:pt x="138447" y="107156"/>
                  <a:pt x="140345" y="107156"/>
                </a:cubicBezTo>
                <a:lnTo>
                  <a:pt x="152326" y="107156"/>
                </a:lnTo>
                <a:cubicBezTo>
                  <a:pt x="157646" y="107156"/>
                  <a:pt x="160288" y="113556"/>
                  <a:pt x="156530" y="117314"/>
                </a:cubicBezTo>
                <a:lnTo>
                  <a:pt x="148196" y="125648"/>
                </a:lnTo>
                <a:cubicBezTo>
                  <a:pt x="147489" y="126355"/>
                  <a:pt x="146633" y="126839"/>
                  <a:pt x="145703" y="127136"/>
                </a:cubicBezTo>
                <a:lnTo>
                  <a:pt x="115565" y="136178"/>
                </a:lnTo>
                <a:cubicBezTo>
                  <a:pt x="114114" y="136624"/>
                  <a:pt x="113147" y="137926"/>
                  <a:pt x="113147" y="139452"/>
                </a:cubicBezTo>
                <a:cubicBezTo>
                  <a:pt x="113147" y="141350"/>
                  <a:pt x="114672" y="142875"/>
                  <a:pt x="116570" y="142875"/>
                </a:cubicBezTo>
                <a:cubicBezTo>
                  <a:pt x="121481" y="142875"/>
                  <a:pt x="123602" y="148717"/>
                  <a:pt x="119472" y="151395"/>
                </a:cubicBezTo>
                <a:cubicBezTo>
                  <a:pt x="104180" y="161292"/>
                  <a:pt x="86246" y="166688"/>
                  <a:pt x="67754" y="166688"/>
                </a:cubicBezTo>
                <a:lnTo>
                  <a:pt x="35756" y="166688"/>
                </a:lnTo>
                <a:lnTo>
                  <a:pt x="17897" y="184547"/>
                </a:lnTo>
                <a:cubicBezTo>
                  <a:pt x="14622" y="187821"/>
                  <a:pt x="9265" y="187821"/>
                  <a:pt x="5990" y="184547"/>
                </a:cubicBezTo>
                <a:cubicBezTo>
                  <a:pt x="2716" y="181273"/>
                  <a:pt x="2716" y="175915"/>
                  <a:pt x="5990" y="172641"/>
                </a:cubicBezTo>
                <a:lnTo>
                  <a:pt x="95250" y="83344"/>
                </a:lnTo>
                <a:cubicBezTo>
                  <a:pt x="98524" y="80070"/>
                  <a:pt x="98524" y="74712"/>
                  <a:pt x="95250" y="71438"/>
                </a:cubicBezTo>
                <a:cubicBezTo>
                  <a:pt x="91976" y="68163"/>
                  <a:pt x="86618" y="68163"/>
                  <a:pt x="83344" y="71438"/>
                </a:cubicBezTo>
                <a:lnTo>
                  <a:pt x="29580" y="125202"/>
                </a:lnTo>
                <a:cubicBezTo>
                  <a:pt x="27459" y="127322"/>
                  <a:pt x="23812" y="125834"/>
                  <a:pt x="23812" y="122820"/>
                </a:cubicBezTo>
                <a:cubicBezTo>
                  <a:pt x="23812" y="97557"/>
                  <a:pt x="33858" y="73335"/>
                  <a:pt x="51718" y="55476"/>
                </a:cubicBezTo>
                <a:lnTo>
                  <a:pt x="90339" y="16818"/>
                </a:lnTo>
                <a:cubicBezTo>
                  <a:pt x="101092" y="6065"/>
                  <a:pt x="115714" y="0"/>
                  <a:pt x="130969" y="0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49" name="Text 47"/>
          <p:cNvSpPr/>
          <p:nvPr/>
        </p:nvSpPr>
        <p:spPr>
          <a:xfrm>
            <a:off x="1114425" y="6057900"/>
            <a:ext cx="1200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Behçet Necatigil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14425" y="6286500"/>
            <a:ext cx="119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Modern Şiir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794760" y="5943600"/>
            <a:ext cx="3028950" cy="647700"/>
          </a:xfrm>
          <a:custGeom>
            <a:avLst/>
            <a:gdLst/>
            <a:ahLst/>
            <a:cxnLst/>
            <a:rect l="l" t="t" r="r" b="b"/>
            <a:pathLst>
              <a:path w="3028950" h="647700">
                <a:moveTo>
                  <a:pt x="38098" y="0"/>
                </a:moveTo>
                <a:lnTo>
                  <a:pt x="2990852" y="0"/>
                </a:lnTo>
                <a:cubicBezTo>
                  <a:pt x="3011879" y="0"/>
                  <a:pt x="3028950" y="17071"/>
                  <a:pt x="3028950" y="38098"/>
                </a:cubicBezTo>
                <a:lnTo>
                  <a:pt x="3028950" y="609602"/>
                </a:lnTo>
                <a:cubicBezTo>
                  <a:pt x="3028950" y="630643"/>
                  <a:pt x="3011893" y="647700"/>
                  <a:pt x="2990852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52" name="Shape 50"/>
          <p:cNvSpPr/>
          <p:nvPr/>
        </p:nvSpPr>
        <p:spPr>
          <a:xfrm>
            <a:off x="3794760" y="59436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53" name="Shape 51"/>
          <p:cNvSpPr/>
          <p:nvPr/>
        </p:nvSpPr>
        <p:spPr>
          <a:xfrm>
            <a:off x="3951922" y="6172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0969" y="0"/>
                </a:moveTo>
                <a:cubicBezTo>
                  <a:pt x="146224" y="0"/>
                  <a:pt x="160846" y="6065"/>
                  <a:pt x="171599" y="16818"/>
                </a:cubicBezTo>
                <a:lnTo>
                  <a:pt x="173645" y="18864"/>
                </a:lnTo>
                <a:cubicBezTo>
                  <a:pt x="184435" y="29654"/>
                  <a:pt x="190500" y="44276"/>
                  <a:pt x="190500" y="59494"/>
                </a:cubicBezTo>
                <a:cubicBezTo>
                  <a:pt x="190500" y="68461"/>
                  <a:pt x="188379" y="77205"/>
                  <a:pt x="184472" y="85092"/>
                </a:cubicBezTo>
                <a:cubicBezTo>
                  <a:pt x="183766" y="86469"/>
                  <a:pt x="182500" y="87511"/>
                  <a:pt x="181012" y="87957"/>
                </a:cubicBezTo>
                <a:lnTo>
                  <a:pt x="139340" y="100459"/>
                </a:lnTo>
                <a:cubicBezTo>
                  <a:pt x="137889" y="100905"/>
                  <a:pt x="136922" y="102208"/>
                  <a:pt x="136922" y="103733"/>
                </a:cubicBezTo>
                <a:cubicBezTo>
                  <a:pt x="136922" y="105631"/>
                  <a:pt x="138447" y="107156"/>
                  <a:pt x="140345" y="107156"/>
                </a:cubicBezTo>
                <a:lnTo>
                  <a:pt x="152326" y="107156"/>
                </a:lnTo>
                <a:cubicBezTo>
                  <a:pt x="157646" y="107156"/>
                  <a:pt x="160288" y="113556"/>
                  <a:pt x="156530" y="117314"/>
                </a:cubicBezTo>
                <a:lnTo>
                  <a:pt x="148196" y="125648"/>
                </a:lnTo>
                <a:cubicBezTo>
                  <a:pt x="147489" y="126355"/>
                  <a:pt x="146633" y="126839"/>
                  <a:pt x="145703" y="127136"/>
                </a:cubicBezTo>
                <a:lnTo>
                  <a:pt x="115565" y="136178"/>
                </a:lnTo>
                <a:cubicBezTo>
                  <a:pt x="114114" y="136624"/>
                  <a:pt x="113147" y="137926"/>
                  <a:pt x="113147" y="139452"/>
                </a:cubicBezTo>
                <a:cubicBezTo>
                  <a:pt x="113147" y="141350"/>
                  <a:pt x="114672" y="142875"/>
                  <a:pt x="116570" y="142875"/>
                </a:cubicBezTo>
                <a:cubicBezTo>
                  <a:pt x="121481" y="142875"/>
                  <a:pt x="123602" y="148717"/>
                  <a:pt x="119472" y="151395"/>
                </a:cubicBezTo>
                <a:cubicBezTo>
                  <a:pt x="104180" y="161292"/>
                  <a:pt x="86246" y="166688"/>
                  <a:pt x="67754" y="166688"/>
                </a:cubicBezTo>
                <a:lnTo>
                  <a:pt x="35756" y="166688"/>
                </a:lnTo>
                <a:lnTo>
                  <a:pt x="17897" y="184547"/>
                </a:lnTo>
                <a:cubicBezTo>
                  <a:pt x="14622" y="187821"/>
                  <a:pt x="9265" y="187821"/>
                  <a:pt x="5990" y="184547"/>
                </a:cubicBezTo>
                <a:cubicBezTo>
                  <a:pt x="2716" y="181273"/>
                  <a:pt x="2716" y="175915"/>
                  <a:pt x="5990" y="172641"/>
                </a:cubicBezTo>
                <a:lnTo>
                  <a:pt x="95250" y="83344"/>
                </a:lnTo>
                <a:cubicBezTo>
                  <a:pt x="98524" y="80070"/>
                  <a:pt x="98524" y="74712"/>
                  <a:pt x="95250" y="71438"/>
                </a:cubicBezTo>
                <a:cubicBezTo>
                  <a:pt x="91976" y="68163"/>
                  <a:pt x="86618" y="68163"/>
                  <a:pt x="83344" y="71438"/>
                </a:cubicBezTo>
                <a:lnTo>
                  <a:pt x="29580" y="125202"/>
                </a:lnTo>
                <a:cubicBezTo>
                  <a:pt x="27459" y="127322"/>
                  <a:pt x="23812" y="125834"/>
                  <a:pt x="23812" y="122820"/>
                </a:cubicBezTo>
                <a:cubicBezTo>
                  <a:pt x="23812" y="97557"/>
                  <a:pt x="33858" y="73335"/>
                  <a:pt x="51718" y="55476"/>
                </a:cubicBezTo>
                <a:lnTo>
                  <a:pt x="90339" y="16818"/>
                </a:lnTo>
                <a:cubicBezTo>
                  <a:pt x="101092" y="6065"/>
                  <a:pt x="115714" y="0"/>
                  <a:pt x="130969" y="0"/>
                </a:cubicBez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54" name="Text 52"/>
          <p:cNvSpPr/>
          <p:nvPr/>
        </p:nvSpPr>
        <p:spPr>
          <a:xfrm>
            <a:off x="4280535" y="6057900"/>
            <a:ext cx="14382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Halit Fahri Ozansoy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280535" y="6286500"/>
            <a:ext cx="1428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Dergâh Topluluğu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370445" y="1381125"/>
            <a:ext cx="4429125" cy="2457450"/>
          </a:xfrm>
          <a:custGeom>
            <a:avLst/>
            <a:gdLst/>
            <a:ahLst/>
            <a:cxnLst/>
            <a:rect l="l" t="t" r="r" b="b"/>
            <a:pathLst>
              <a:path w="4429125" h="2457450">
                <a:moveTo>
                  <a:pt x="76206" y="0"/>
                </a:moveTo>
                <a:lnTo>
                  <a:pt x="4352919" y="0"/>
                </a:lnTo>
                <a:cubicBezTo>
                  <a:pt x="4395007" y="0"/>
                  <a:pt x="4429125" y="34118"/>
                  <a:pt x="4429125" y="76206"/>
                </a:cubicBezTo>
                <a:lnTo>
                  <a:pt x="4429125" y="2381244"/>
                </a:lnTo>
                <a:cubicBezTo>
                  <a:pt x="4429125" y="2423332"/>
                  <a:pt x="4395007" y="2457450"/>
                  <a:pt x="4352919" y="2457450"/>
                </a:cubicBezTo>
                <a:lnTo>
                  <a:pt x="76206" y="2457450"/>
                </a:lnTo>
                <a:cubicBezTo>
                  <a:pt x="34118" y="2457450"/>
                  <a:pt x="0" y="2423332"/>
                  <a:pt x="0" y="238124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A44A3F">
              <a:alpha val="10196"/>
            </a:srgbClr>
          </a:solidFill>
          <a:ln w="25400">
            <a:solidFill>
              <a:srgbClr val="A44A3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60945" y="1619250"/>
            <a:ext cx="4048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5D4E37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Dönem ve Etkiler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608570" y="20383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59" name="Text 57"/>
          <p:cNvSpPr/>
          <p:nvPr/>
        </p:nvSpPr>
        <p:spPr>
          <a:xfrm>
            <a:off x="7575232" y="203835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1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027670" y="2038350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Fransız Sembolizmi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027670" y="2266950"/>
            <a:ext cx="177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52E">
                    <a:alpha val="7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Baudelaire, Verlaine, Mallarmé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7608570" y="26098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63" name="Text 61"/>
          <p:cNvSpPr/>
          <p:nvPr/>
        </p:nvSpPr>
        <p:spPr>
          <a:xfrm>
            <a:off x="7575232" y="260985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2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027670" y="2609850"/>
            <a:ext cx="149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Divan Şiiri Geleneği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027670" y="2838450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52E">
                    <a:alpha val="7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Aruz vezni, biçim endişesi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7608570" y="31813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0"/>
                </a:moveTo>
                <a:lnTo>
                  <a:pt x="304800" y="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A817C"/>
          </a:solidFill>
          <a:ln/>
        </p:spPr>
      </p:sp>
      <p:sp>
        <p:nvSpPr>
          <p:cNvPr id="67" name="Text 65"/>
          <p:cNvSpPr/>
          <p:nvPr/>
        </p:nvSpPr>
        <p:spPr>
          <a:xfrm>
            <a:off x="7575232" y="3181350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3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027670" y="3181350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Empresyonizm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027670" y="3409950"/>
            <a:ext cx="1409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D352E">
                    <a:alpha val="7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Anlık izlenimler, duyular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7360920" y="4000500"/>
            <a:ext cx="4448175" cy="2590800"/>
          </a:xfrm>
          <a:custGeom>
            <a:avLst/>
            <a:gdLst/>
            <a:ahLst/>
            <a:cxnLst/>
            <a:rect l="l" t="t" r="r" b="b"/>
            <a:pathLst>
              <a:path w="4448175" h="2590800">
                <a:moveTo>
                  <a:pt x="76208" y="0"/>
                </a:moveTo>
                <a:lnTo>
                  <a:pt x="4371967" y="0"/>
                </a:lnTo>
                <a:cubicBezTo>
                  <a:pt x="4414055" y="0"/>
                  <a:pt x="4448175" y="31353"/>
                  <a:pt x="4448175" y="70029"/>
                </a:cubicBezTo>
                <a:lnTo>
                  <a:pt x="4448175" y="2520771"/>
                </a:lnTo>
                <a:cubicBezTo>
                  <a:pt x="4448175" y="2559447"/>
                  <a:pt x="4414055" y="2590800"/>
                  <a:pt x="4371967" y="2590800"/>
                </a:cubicBezTo>
                <a:lnTo>
                  <a:pt x="76208" y="2590800"/>
                </a:lnTo>
                <a:cubicBezTo>
                  <a:pt x="34120" y="2590800"/>
                  <a:pt x="0" y="2559447"/>
                  <a:pt x="0" y="2520771"/>
                </a:cubicBezTo>
                <a:lnTo>
                  <a:pt x="0" y="70029"/>
                </a:lnTo>
                <a:cubicBezTo>
                  <a:pt x="0" y="31379"/>
                  <a:pt x="34148" y="0"/>
                  <a:pt x="7620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1" name="Shape 69"/>
          <p:cNvSpPr/>
          <p:nvPr/>
        </p:nvSpPr>
        <p:spPr>
          <a:xfrm>
            <a:off x="9357360" y="4687412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126176"/>
                </a:moveTo>
                <a:lnTo>
                  <a:pt x="228600" y="402372"/>
                </a:lnTo>
                <a:lnTo>
                  <a:pt x="229046" y="402193"/>
                </a:lnTo>
                <a:cubicBezTo>
                  <a:pt x="277803" y="381923"/>
                  <a:pt x="330131" y="371475"/>
                  <a:pt x="382905" y="371475"/>
                </a:cubicBezTo>
                <a:lnTo>
                  <a:pt x="400050" y="371475"/>
                </a:lnTo>
                <a:lnTo>
                  <a:pt x="400050" y="85725"/>
                </a:lnTo>
                <a:lnTo>
                  <a:pt x="382905" y="85725"/>
                </a:lnTo>
                <a:cubicBezTo>
                  <a:pt x="345222" y="85725"/>
                  <a:pt x="307806" y="93226"/>
                  <a:pt x="272981" y="107692"/>
                </a:cubicBezTo>
                <a:cubicBezTo>
                  <a:pt x="257979" y="113943"/>
                  <a:pt x="243155" y="120104"/>
                  <a:pt x="228600" y="126176"/>
                </a:cubicBezTo>
                <a:close/>
                <a:moveTo>
                  <a:pt x="206186" y="54918"/>
                </a:moveTo>
                <a:lnTo>
                  <a:pt x="228600" y="64294"/>
                </a:lnTo>
                <a:lnTo>
                  <a:pt x="251014" y="54918"/>
                </a:lnTo>
                <a:cubicBezTo>
                  <a:pt x="292804" y="37505"/>
                  <a:pt x="337631" y="28575"/>
                  <a:pt x="382905" y="28575"/>
                </a:cubicBezTo>
                <a:lnTo>
                  <a:pt x="414338" y="28575"/>
                </a:lnTo>
                <a:cubicBezTo>
                  <a:pt x="438001" y="28575"/>
                  <a:pt x="457200" y="47774"/>
                  <a:pt x="457200" y="71438"/>
                </a:cubicBezTo>
                <a:lnTo>
                  <a:pt x="457200" y="385763"/>
                </a:lnTo>
                <a:cubicBezTo>
                  <a:pt x="457200" y="409426"/>
                  <a:pt x="438001" y="428625"/>
                  <a:pt x="414338" y="428625"/>
                </a:cubicBezTo>
                <a:lnTo>
                  <a:pt x="382905" y="428625"/>
                </a:lnTo>
                <a:cubicBezTo>
                  <a:pt x="337631" y="428625"/>
                  <a:pt x="292804" y="437555"/>
                  <a:pt x="251014" y="454968"/>
                </a:cubicBezTo>
                <a:lnTo>
                  <a:pt x="239584" y="459700"/>
                </a:lnTo>
                <a:cubicBezTo>
                  <a:pt x="232529" y="462647"/>
                  <a:pt x="224671" y="462647"/>
                  <a:pt x="217616" y="459700"/>
                </a:cubicBezTo>
                <a:lnTo>
                  <a:pt x="206186" y="454968"/>
                </a:lnTo>
                <a:cubicBezTo>
                  <a:pt x="164396" y="437555"/>
                  <a:pt x="119569" y="428625"/>
                  <a:pt x="74295" y="428625"/>
                </a:cubicBezTo>
                <a:lnTo>
                  <a:pt x="42863" y="428625"/>
                </a:lnTo>
                <a:cubicBezTo>
                  <a:pt x="19199" y="428625"/>
                  <a:pt x="0" y="409426"/>
                  <a:pt x="0" y="385763"/>
                </a:cubicBezTo>
                <a:lnTo>
                  <a:pt x="0" y="71438"/>
                </a:lnTo>
                <a:cubicBezTo>
                  <a:pt x="0" y="47774"/>
                  <a:pt x="19199" y="28575"/>
                  <a:pt x="42863" y="28575"/>
                </a:cubicBezTo>
                <a:lnTo>
                  <a:pt x="74295" y="28575"/>
                </a:lnTo>
                <a:cubicBezTo>
                  <a:pt x="119569" y="28575"/>
                  <a:pt x="164396" y="37505"/>
                  <a:pt x="206186" y="54918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72" name="Text 70"/>
          <p:cNvSpPr/>
          <p:nvPr/>
        </p:nvSpPr>
        <p:spPr>
          <a:xfrm>
            <a:off x="7546657" y="5297012"/>
            <a:ext cx="40767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"Bu şairler, Türk şiirini modernleştirme yolunda önemli adımlar atmış ve günümüz şiirine kadar uzanan bir geleneğin temellerini atmışlardır."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A44A3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BÖLÜM 04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5D4E3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Ahmet Haşim - Saf Şiirin Kurucusu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4457700" cy="2514600"/>
          </a:xfrm>
          <a:custGeom>
            <a:avLst/>
            <a:gdLst/>
            <a:ahLst/>
            <a:cxnLst/>
            <a:rect l="l" t="t" r="r" b="b"/>
            <a:pathLst>
              <a:path w="4457700" h="2514600">
                <a:moveTo>
                  <a:pt x="38100" y="0"/>
                </a:moveTo>
                <a:lnTo>
                  <a:pt x="4381508" y="0"/>
                </a:lnTo>
                <a:cubicBezTo>
                  <a:pt x="4423588" y="0"/>
                  <a:pt x="4457700" y="34112"/>
                  <a:pt x="4457700" y="76192"/>
                </a:cubicBezTo>
                <a:lnTo>
                  <a:pt x="4457700" y="2438408"/>
                </a:lnTo>
                <a:cubicBezTo>
                  <a:pt x="4457700" y="2480488"/>
                  <a:pt x="4423588" y="2514600"/>
                  <a:pt x="4381508" y="2514600"/>
                </a:cubicBezTo>
                <a:lnTo>
                  <a:pt x="38100" y="2514600"/>
                </a:lnTo>
                <a:cubicBezTo>
                  <a:pt x="17072" y="2514600"/>
                  <a:pt x="0" y="2497528"/>
                  <a:pt x="0" y="2476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19200"/>
            <a:ext cx="38100" cy="2514600"/>
          </a:xfrm>
          <a:custGeom>
            <a:avLst/>
            <a:gdLst/>
            <a:ahLst/>
            <a:cxnLst/>
            <a:rect l="l" t="t" r="r" b="b"/>
            <a:pathLst>
              <a:path w="38100" h="2514600">
                <a:moveTo>
                  <a:pt x="38100" y="0"/>
                </a:moveTo>
                <a:lnTo>
                  <a:pt x="38100" y="0"/>
                </a:lnTo>
                <a:lnTo>
                  <a:pt x="38100" y="2514600"/>
                </a:lnTo>
                <a:lnTo>
                  <a:pt x="38100" y="2514600"/>
                </a:lnTo>
                <a:cubicBezTo>
                  <a:pt x="17072" y="2514600"/>
                  <a:pt x="0" y="2497528"/>
                  <a:pt x="0" y="2476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pic>
        <p:nvPicPr>
          <p:cNvPr id="6" name="Image 0" descr="https://kimi-web-img.moonshot.cn/img/upload.wikimedia.org/81233507b6f335f9c8ba3b6811a187f44a6a5f34.jpg">    </p:cNvPr>
          <p:cNvPicPr>
            <a:picLocks noChangeAspect="1"/>
          </p:cNvPicPr>
          <p:nvPr/>
        </p:nvPicPr>
        <p:blipFill>
          <a:blip r:embed="rId1"/>
          <a:srcRect l="0" r="0" t="1192" b="1192"/>
          <a:stretch/>
        </p:blipFill>
        <p:spPr>
          <a:xfrm>
            <a:off x="609600" y="1409700"/>
            <a:ext cx="914400" cy="914400"/>
          </a:xfrm>
          <a:prstGeom prst="roundRect">
            <a:avLst>
              <a:gd name="adj" fmla="val 8333"/>
            </a:avLst>
          </a:prstGeom>
        </p:spPr>
      </p:pic>
      <p:sp>
        <p:nvSpPr>
          <p:cNvPr id="7" name="Text 4"/>
          <p:cNvSpPr/>
          <p:nvPr/>
        </p:nvSpPr>
        <p:spPr>
          <a:xfrm>
            <a:off x="1676400" y="1504950"/>
            <a:ext cx="1466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5D4E37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Ahmet Haşim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76400" y="1809750"/>
            <a:ext cx="1428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1887 - 1933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76400" y="2038350"/>
            <a:ext cx="1419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A44A3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Saf Şiirin Kurucusu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09600" y="2438400"/>
            <a:ext cx="4133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Ahmet Haşim, Türk edebiyatında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saf şiir anlayışının kurucusu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ve öncüsüdür. 1887'de Bağdat'ta doğmuş, İstanbul'da ölmüştür.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09600" y="3048000"/>
            <a:ext cx="4133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Fransız sembolistlerinden etkilenen Haşim,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A44A3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"Şiir Hakkında Bazı Mülahazalar"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makalesiyle ilk defa saf şiir anlayışını ortaya koymuştur.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1000" y="3886200"/>
            <a:ext cx="4476750" cy="2590800"/>
          </a:xfrm>
          <a:custGeom>
            <a:avLst/>
            <a:gdLst/>
            <a:ahLst/>
            <a:cxnLst/>
            <a:rect l="l" t="t" r="r" b="b"/>
            <a:pathLst>
              <a:path w="4476750" h="2590800">
                <a:moveTo>
                  <a:pt x="76195" y="0"/>
                </a:moveTo>
                <a:lnTo>
                  <a:pt x="4400555" y="0"/>
                </a:lnTo>
                <a:cubicBezTo>
                  <a:pt x="4442608" y="0"/>
                  <a:pt x="4476750" y="34142"/>
                  <a:pt x="4476750" y="76195"/>
                </a:cubicBezTo>
                <a:lnTo>
                  <a:pt x="4476750" y="2514605"/>
                </a:lnTo>
                <a:cubicBezTo>
                  <a:pt x="4476750" y="2556686"/>
                  <a:pt x="4442636" y="2590800"/>
                  <a:pt x="4400555" y="2590800"/>
                </a:cubicBezTo>
                <a:lnTo>
                  <a:pt x="76195" y="2590800"/>
                </a:lnTo>
                <a:cubicBezTo>
                  <a:pt x="34142" y="2590800"/>
                  <a:pt x="0" y="2556658"/>
                  <a:pt x="0" y="25146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4076700"/>
            <a:ext cx="419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8F5F2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Edebi Kişiliği ve Özellikleri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76263" y="4495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39303" y="2084"/>
                </a:moveTo>
                <a:cubicBezTo>
                  <a:pt x="141565" y="3899"/>
                  <a:pt x="142875" y="6638"/>
                  <a:pt x="142875" y="9525"/>
                </a:cubicBezTo>
                <a:lnTo>
                  <a:pt x="142875" y="100013"/>
                </a:lnTo>
                <a:cubicBezTo>
                  <a:pt x="142875" y="113169"/>
                  <a:pt x="130076" y="123825"/>
                  <a:pt x="114300" y="123825"/>
                </a:cubicBezTo>
                <a:cubicBezTo>
                  <a:pt x="98524" y="123825"/>
                  <a:pt x="85725" y="113169"/>
                  <a:pt x="85725" y="100013"/>
                </a:cubicBezTo>
                <a:cubicBezTo>
                  <a:pt x="85725" y="86856"/>
                  <a:pt x="98524" y="76200"/>
                  <a:pt x="114300" y="76200"/>
                </a:cubicBezTo>
                <a:cubicBezTo>
                  <a:pt x="117634" y="76200"/>
                  <a:pt x="120848" y="76676"/>
                  <a:pt x="123825" y="77569"/>
                </a:cubicBezTo>
                <a:lnTo>
                  <a:pt x="123825" y="42833"/>
                </a:lnTo>
                <a:lnTo>
                  <a:pt x="57150" y="57656"/>
                </a:lnTo>
                <a:lnTo>
                  <a:pt x="57150" y="119063"/>
                </a:lnTo>
                <a:cubicBezTo>
                  <a:pt x="57150" y="132219"/>
                  <a:pt x="44351" y="142875"/>
                  <a:pt x="28575" y="142875"/>
                </a:cubicBezTo>
                <a:cubicBezTo>
                  <a:pt x="12799" y="142875"/>
                  <a:pt x="0" y="132219"/>
                  <a:pt x="0" y="119063"/>
                </a:cubicBezTo>
                <a:cubicBezTo>
                  <a:pt x="0" y="105906"/>
                  <a:pt x="12799" y="95250"/>
                  <a:pt x="28575" y="95250"/>
                </a:cubicBezTo>
                <a:cubicBezTo>
                  <a:pt x="31909" y="95250"/>
                  <a:pt x="35123" y="95726"/>
                  <a:pt x="38100" y="96619"/>
                </a:cubicBezTo>
                <a:lnTo>
                  <a:pt x="38100" y="28575"/>
                </a:lnTo>
                <a:cubicBezTo>
                  <a:pt x="38100" y="24110"/>
                  <a:pt x="41196" y="20241"/>
                  <a:pt x="45571" y="19288"/>
                </a:cubicBezTo>
                <a:lnTo>
                  <a:pt x="131296" y="238"/>
                </a:lnTo>
                <a:cubicBezTo>
                  <a:pt x="134124" y="-387"/>
                  <a:pt x="137071" y="298"/>
                  <a:pt x="139333" y="2113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15" name="Text 12"/>
          <p:cNvSpPr/>
          <p:nvPr/>
        </p:nvSpPr>
        <p:spPr>
          <a:xfrm>
            <a:off x="806926" y="44577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Musiki Önemi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6926" y="4686300"/>
            <a:ext cx="1819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5F2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Şiirin müzikalitesine büyük önemverir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697480" y="4495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76200"/>
                </a:moveTo>
                <a:cubicBezTo>
                  <a:pt x="152400" y="76468"/>
                  <a:pt x="152400" y="76736"/>
                  <a:pt x="152400" y="77004"/>
                </a:cubicBezTo>
                <a:cubicBezTo>
                  <a:pt x="152281" y="87868"/>
                  <a:pt x="142399" y="95250"/>
                  <a:pt x="131534" y="95250"/>
                </a:cubicBezTo>
                <a:lnTo>
                  <a:pt x="102394" y="95250"/>
                </a:lnTo>
                <a:cubicBezTo>
                  <a:pt x="94506" y="95250"/>
                  <a:pt x="88106" y="101650"/>
                  <a:pt x="88106" y="109537"/>
                </a:cubicBezTo>
                <a:cubicBezTo>
                  <a:pt x="88106" y="110550"/>
                  <a:pt x="88225" y="111532"/>
                  <a:pt x="88404" y="112484"/>
                </a:cubicBezTo>
                <a:cubicBezTo>
                  <a:pt x="89029" y="115520"/>
                  <a:pt x="90339" y="118437"/>
                  <a:pt x="91619" y="121384"/>
                </a:cubicBezTo>
                <a:cubicBezTo>
                  <a:pt x="93434" y="125492"/>
                  <a:pt x="95220" y="129570"/>
                  <a:pt x="95220" y="133886"/>
                </a:cubicBezTo>
                <a:cubicBezTo>
                  <a:pt x="95220" y="143351"/>
                  <a:pt x="88791" y="151954"/>
                  <a:pt x="79325" y="152340"/>
                </a:cubicBezTo>
                <a:cubicBezTo>
                  <a:pt x="78284" y="152370"/>
                  <a:pt x="77242" y="152400"/>
                  <a:pt x="76170" y="152400"/>
                </a:cubicBezTo>
                <a:cubicBezTo>
                  <a:pt x="34082" y="152400"/>
                  <a:pt x="-30" y="118289"/>
                  <a:pt x="-30" y="76200"/>
                </a:cubicBezTo>
                <a:cubicBezTo>
                  <a:pt x="-30" y="34111"/>
                  <a:pt x="34111" y="0"/>
                  <a:pt x="76200" y="0"/>
                </a:cubicBezTo>
                <a:cubicBezTo>
                  <a:pt x="118289" y="0"/>
                  <a:pt x="152400" y="34111"/>
                  <a:pt x="152400" y="76200"/>
                </a:cubicBezTo>
                <a:close/>
                <a:moveTo>
                  <a:pt x="38100" y="85725"/>
                </a:moveTo>
                <a:cubicBezTo>
                  <a:pt x="38100" y="80468"/>
                  <a:pt x="33832" y="76200"/>
                  <a:pt x="28575" y="76200"/>
                </a:cubicBezTo>
                <a:cubicBezTo>
                  <a:pt x="23318" y="76200"/>
                  <a:pt x="19050" y="80468"/>
                  <a:pt x="19050" y="85725"/>
                </a:cubicBezTo>
                <a:cubicBezTo>
                  <a:pt x="19050" y="90982"/>
                  <a:pt x="23318" y="95250"/>
                  <a:pt x="28575" y="95250"/>
                </a:cubicBezTo>
                <a:cubicBezTo>
                  <a:pt x="33832" y="95250"/>
                  <a:pt x="38100" y="90982"/>
                  <a:pt x="38100" y="85725"/>
                </a:cubicBezTo>
                <a:close/>
                <a:moveTo>
                  <a:pt x="38100" y="57150"/>
                </a:moveTo>
                <a:cubicBezTo>
                  <a:pt x="43357" y="57150"/>
                  <a:pt x="47625" y="52882"/>
                  <a:pt x="47625" y="47625"/>
                </a:cubicBezTo>
                <a:cubicBezTo>
                  <a:pt x="47625" y="42368"/>
                  <a:pt x="43357" y="38100"/>
                  <a:pt x="38100" y="38100"/>
                </a:cubicBezTo>
                <a:cubicBezTo>
                  <a:pt x="32843" y="38100"/>
                  <a:pt x="28575" y="42368"/>
                  <a:pt x="28575" y="47625"/>
                </a:cubicBezTo>
                <a:cubicBezTo>
                  <a:pt x="28575" y="52882"/>
                  <a:pt x="32843" y="57150"/>
                  <a:pt x="38100" y="57150"/>
                </a:cubicBezTo>
                <a:close/>
                <a:moveTo>
                  <a:pt x="85725" y="28575"/>
                </a:moveTo>
                <a:cubicBezTo>
                  <a:pt x="85725" y="23318"/>
                  <a:pt x="81457" y="19050"/>
                  <a:pt x="76200" y="19050"/>
                </a:cubicBezTo>
                <a:cubicBezTo>
                  <a:pt x="70943" y="19050"/>
                  <a:pt x="66675" y="23318"/>
                  <a:pt x="66675" y="28575"/>
                </a:cubicBezTo>
                <a:cubicBezTo>
                  <a:pt x="66675" y="33832"/>
                  <a:pt x="70943" y="38100"/>
                  <a:pt x="76200" y="38100"/>
                </a:cubicBezTo>
                <a:cubicBezTo>
                  <a:pt x="81457" y="38100"/>
                  <a:pt x="85725" y="33832"/>
                  <a:pt x="85725" y="28575"/>
                </a:cubicBezTo>
                <a:close/>
                <a:moveTo>
                  <a:pt x="114300" y="57150"/>
                </a:moveTo>
                <a:cubicBezTo>
                  <a:pt x="119557" y="57150"/>
                  <a:pt x="123825" y="52882"/>
                  <a:pt x="123825" y="47625"/>
                </a:cubicBezTo>
                <a:cubicBezTo>
                  <a:pt x="123825" y="42368"/>
                  <a:pt x="119557" y="38100"/>
                  <a:pt x="114300" y="38100"/>
                </a:cubicBezTo>
                <a:cubicBezTo>
                  <a:pt x="109043" y="38100"/>
                  <a:pt x="104775" y="42368"/>
                  <a:pt x="104775" y="47625"/>
                </a:cubicBezTo>
                <a:cubicBezTo>
                  <a:pt x="104775" y="52882"/>
                  <a:pt x="109043" y="57150"/>
                  <a:pt x="114300" y="57150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18" name="Text 15"/>
          <p:cNvSpPr/>
          <p:nvPr/>
        </p:nvSpPr>
        <p:spPr>
          <a:xfrm>
            <a:off x="2945130" y="4457700"/>
            <a:ext cx="1533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Empresyonizm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945130" y="4686300"/>
            <a:ext cx="1524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5F2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Anlık izlenimler ve duyular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90550" y="5219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34111" y="0"/>
                  <a:pt x="0" y="34111"/>
                  <a:pt x="0" y="76200"/>
                </a:cubicBezTo>
                <a:cubicBezTo>
                  <a:pt x="0" y="118289"/>
                  <a:pt x="34111" y="152400"/>
                  <a:pt x="76200" y="152400"/>
                </a:cubicBezTo>
                <a:cubicBezTo>
                  <a:pt x="96679" y="152400"/>
                  <a:pt x="115282" y="144304"/>
                  <a:pt x="128974" y="131147"/>
                </a:cubicBezTo>
                <a:cubicBezTo>
                  <a:pt x="131147" y="129064"/>
                  <a:pt x="131772" y="125819"/>
                  <a:pt x="130552" y="123081"/>
                </a:cubicBezTo>
                <a:cubicBezTo>
                  <a:pt x="129332" y="120342"/>
                  <a:pt x="126474" y="118646"/>
                  <a:pt x="123468" y="118884"/>
                </a:cubicBezTo>
                <a:cubicBezTo>
                  <a:pt x="122009" y="119003"/>
                  <a:pt x="120551" y="119062"/>
                  <a:pt x="119062" y="119062"/>
                </a:cubicBezTo>
                <a:cubicBezTo>
                  <a:pt x="88821" y="119062"/>
                  <a:pt x="64294" y="94536"/>
                  <a:pt x="64294" y="64294"/>
                </a:cubicBezTo>
                <a:cubicBezTo>
                  <a:pt x="64294" y="42833"/>
                  <a:pt x="76646" y="24229"/>
                  <a:pt x="94684" y="15240"/>
                </a:cubicBezTo>
                <a:cubicBezTo>
                  <a:pt x="97393" y="13901"/>
                  <a:pt x="98941" y="10984"/>
                  <a:pt x="98584" y="7977"/>
                </a:cubicBezTo>
                <a:cubicBezTo>
                  <a:pt x="98227" y="4971"/>
                  <a:pt x="96024" y="2530"/>
                  <a:pt x="93077" y="1875"/>
                </a:cubicBezTo>
                <a:cubicBezTo>
                  <a:pt x="87630" y="655"/>
                  <a:pt x="81975" y="0"/>
                  <a:pt x="76200" y="0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21" name="Text 18"/>
          <p:cNvSpPr/>
          <p:nvPr/>
        </p:nvSpPr>
        <p:spPr>
          <a:xfrm>
            <a:off x="838200" y="5181600"/>
            <a:ext cx="1666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Sembolizm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38200" y="5410200"/>
            <a:ext cx="1657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5F2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Semboller ve imgeler kullanır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2697480" y="5219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ubicBezTo>
                  <a:pt x="0" y="34144"/>
                  <a:pt x="34144" y="0"/>
                  <a:pt x="76200" y="0"/>
                </a:cubicBezTo>
                <a:close/>
                <a:moveTo>
                  <a:pt x="69056" y="35719"/>
                </a:moveTo>
                <a:lnTo>
                  <a:pt x="69056" y="76200"/>
                </a:lnTo>
                <a:cubicBezTo>
                  <a:pt x="69056" y="78581"/>
                  <a:pt x="70247" y="80814"/>
                  <a:pt x="72241" y="82153"/>
                </a:cubicBezTo>
                <a:lnTo>
                  <a:pt x="100816" y="101203"/>
                </a:lnTo>
                <a:cubicBezTo>
                  <a:pt x="104090" y="103406"/>
                  <a:pt x="108525" y="102513"/>
                  <a:pt x="110728" y="99209"/>
                </a:cubicBezTo>
                <a:cubicBezTo>
                  <a:pt x="112931" y="95905"/>
                  <a:pt x="112038" y="91500"/>
                  <a:pt x="108734" y="89297"/>
                </a:cubicBezTo>
                <a:lnTo>
                  <a:pt x="83344" y="72390"/>
                </a:lnTo>
                <a:lnTo>
                  <a:pt x="83344" y="35719"/>
                </a:lnTo>
                <a:cubicBezTo>
                  <a:pt x="83344" y="31760"/>
                  <a:pt x="80159" y="28575"/>
                  <a:pt x="76200" y="28575"/>
                </a:cubicBezTo>
                <a:cubicBezTo>
                  <a:pt x="72241" y="28575"/>
                  <a:pt x="69056" y="31760"/>
                  <a:pt x="69056" y="35719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24" name="Text 21"/>
          <p:cNvSpPr/>
          <p:nvPr/>
        </p:nvSpPr>
        <p:spPr>
          <a:xfrm>
            <a:off x="2945130" y="5181600"/>
            <a:ext cx="12477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Akşam Teması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2945130" y="5410200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5F2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"Akşam Şairi" unvanı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090160" y="1219200"/>
            <a:ext cx="6724650" cy="2171700"/>
          </a:xfrm>
          <a:custGeom>
            <a:avLst/>
            <a:gdLst/>
            <a:ahLst/>
            <a:cxnLst/>
            <a:rect l="l" t="t" r="r" b="b"/>
            <a:pathLst>
              <a:path w="6724650" h="2171700">
                <a:moveTo>
                  <a:pt x="76205" y="0"/>
                </a:moveTo>
                <a:lnTo>
                  <a:pt x="6648445" y="0"/>
                </a:lnTo>
                <a:cubicBezTo>
                  <a:pt x="6690532" y="0"/>
                  <a:pt x="6724650" y="34118"/>
                  <a:pt x="6724650" y="76205"/>
                </a:cubicBezTo>
                <a:lnTo>
                  <a:pt x="6724650" y="2095495"/>
                </a:lnTo>
                <a:cubicBezTo>
                  <a:pt x="6724650" y="2137582"/>
                  <a:pt x="6690532" y="2171700"/>
                  <a:pt x="6648445" y="2171700"/>
                </a:cubicBezTo>
                <a:lnTo>
                  <a:pt x="76205" y="2171700"/>
                </a:lnTo>
                <a:cubicBezTo>
                  <a:pt x="34118" y="2171700"/>
                  <a:pt x="0" y="2137582"/>
                  <a:pt x="0" y="20954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5280660" y="1409700"/>
            <a:ext cx="6438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D4E37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Önemli Eserleri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299710" y="1790700"/>
            <a:ext cx="3095625" cy="647700"/>
          </a:xfrm>
          <a:custGeom>
            <a:avLst/>
            <a:gdLst/>
            <a:ahLst/>
            <a:cxnLst/>
            <a:rect l="l" t="t" r="r" b="b"/>
            <a:pathLst>
              <a:path w="3095625" h="647700">
                <a:moveTo>
                  <a:pt x="38098" y="0"/>
                </a:moveTo>
                <a:lnTo>
                  <a:pt x="3057527" y="0"/>
                </a:lnTo>
                <a:cubicBezTo>
                  <a:pt x="3078554" y="0"/>
                  <a:pt x="3095625" y="17071"/>
                  <a:pt x="3095625" y="38098"/>
                </a:cubicBezTo>
                <a:lnTo>
                  <a:pt x="3095625" y="609602"/>
                </a:lnTo>
                <a:cubicBezTo>
                  <a:pt x="3095625" y="630643"/>
                  <a:pt x="3078568" y="647700"/>
                  <a:pt x="305752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29" name="Shape 26"/>
          <p:cNvSpPr/>
          <p:nvPr/>
        </p:nvSpPr>
        <p:spPr>
          <a:xfrm>
            <a:off x="5299710" y="17907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30" name="Text 27"/>
          <p:cNvSpPr/>
          <p:nvPr/>
        </p:nvSpPr>
        <p:spPr>
          <a:xfrm>
            <a:off x="5433060" y="1905000"/>
            <a:ext cx="2924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Piyale (1926)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433060" y="2133600"/>
            <a:ext cx="2914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İlk şiir kitabı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8526780" y="1790700"/>
            <a:ext cx="3095625" cy="647700"/>
          </a:xfrm>
          <a:custGeom>
            <a:avLst/>
            <a:gdLst/>
            <a:ahLst/>
            <a:cxnLst/>
            <a:rect l="l" t="t" r="r" b="b"/>
            <a:pathLst>
              <a:path w="3095625" h="647700">
                <a:moveTo>
                  <a:pt x="38098" y="0"/>
                </a:moveTo>
                <a:lnTo>
                  <a:pt x="3057527" y="0"/>
                </a:lnTo>
                <a:cubicBezTo>
                  <a:pt x="3078554" y="0"/>
                  <a:pt x="3095625" y="17071"/>
                  <a:pt x="3095625" y="38098"/>
                </a:cubicBezTo>
                <a:lnTo>
                  <a:pt x="3095625" y="609602"/>
                </a:lnTo>
                <a:cubicBezTo>
                  <a:pt x="3095625" y="630643"/>
                  <a:pt x="3078568" y="647700"/>
                  <a:pt x="305752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33" name="Shape 30"/>
          <p:cNvSpPr/>
          <p:nvPr/>
        </p:nvSpPr>
        <p:spPr>
          <a:xfrm>
            <a:off x="8526780" y="17907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34" name="Text 31"/>
          <p:cNvSpPr/>
          <p:nvPr/>
        </p:nvSpPr>
        <p:spPr>
          <a:xfrm>
            <a:off x="8660130" y="1905000"/>
            <a:ext cx="2924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Göl Saatleri (1928)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660130" y="2133600"/>
            <a:ext cx="2914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En önemli eseri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5299710" y="2552700"/>
            <a:ext cx="3095625" cy="647700"/>
          </a:xfrm>
          <a:custGeom>
            <a:avLst/>
            <a:gdLst/>
            <a:ahLst/>
            <a:cxnLst/>
            <a:rect l="l" t="t" r="r" b="b"/>
            <a:pathLst>
              <a:path w="3095625" h="647700">
                <a:moveTo>
                  <a:pt x="38098" y="0"/>
                </a:moveTo>
                <a:lnTo>
                  <a:pt x="3057527" y="0"/>
                </a:lnTo>
                <a:cubicBezTo>
                  <a:pt x="3078554" y="0"/>
                  <a:pt x="3095625" y="17071"/>
                  <a:pt x="3095625" y="38098"/>
                </a:cubicBezTo>
                <a:lnTo>
                  <a:pt x="3095625" y="609602"/>
                </a:lnTo>
                <a:cubicBezTo>
                  <a:pt x="3095625" y="630643"/>
                  <a:pt x="3078568" y="647700"/>
                  <a:pt x="305752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37" name="Shape 34"/>
          <p:cNvSpPr/>
          <p:nvPr/>
        </p:nvSpPr>
        <p:spPr>
          <a:xfrm>
            <a:off x="5299710" y="25527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A817C"/>
          </a:solidFill>
          <a:ln/>
        </p:spPr>
      </p:sp>
      <p:sp>
        <p:nvSpPr>
          <p:cNvPr id="38" name="Text 35"/>
          <p:cNvSpPr/>
          <p:nvPr/>
        </p:nvSpPr>
        <p:spPr>
          <a:xfrm>
            <a:off x="5433060" y="2667000"/>
            <a:ext cx="2924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Bize Göre (1928)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433060" y="2895600"/>
            <a:ext cx="2914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Deneme kitabı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8526780" y="2552700"/>
            <a:ext cx="3095625" cy="647700"/>
          </a:xfrm>
          <a:custGeom>
            <a:avLst/>
            <a:gdLst/>
            <a:ahLst/>
            <a:cxnLst/>
            <a:rect l="l" t="t" r="r" b="b"/>
            <a:pathLst>
              <a:path w="3095625" h="647700">
                <a:moveTo>
                  <a:pt x="38098" y="0"/>
                </a:moveTo>
                <a:lnTo>
                  <a:pt x="3057527" y="0"/>
                </a:lnTo>
                <a:cubicBezTo>
                  <a:pt x="3078554" y="0"/>
                  <a:pt x="3095625" y="17071"/>
                  <a:pt x="3095625" y="38098"/>
                </a:cubicBezTo>
                <a:lnTo>
                  <a:pt x="3095625" y="609602"/>
                </a:lnTo>
                <a:cubicBezTo>
                  <a:pt x="3095625" y="630643"/>
                  <a:pt x="3078568" y="647700"/>
                  <a:pt x="305752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41" name="Shape 38"/>
          <p:cNvSpPr/>
          <p:nvPr/>
        </p:nvSpPr>
        <p:spPr>
          <a:xfrm>
            <a:off x="8526780" y="25527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42" name="Text 39"/>
          <p:cNvSpPr/>
          <p:nvPr/>
        </p:nvSpPr>
        <p:spPr>
          <a:xfrm>
            <a:off x="8660130" y="2667000"/>
            <a:ext cx="2924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Şiir Hakkında...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8660130" y="2895600"/>
            <a:ext cx="2914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Teorik makale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5099685" y="3552825"/>
            <a:ext cx="6705600" cy="2914650"/>
          </a:xfrm>
          <a:custGeom>
            <a:avLst/>
            <a:gdLst/>
            <a:ahLst/>
            <a:cxnLst/>
            <a:rect l="l" t="t" r="r" b="b"/>
            <a:pathLst>
              <a:path w="6705600" h="2914650">
                <a:moveTo>
                  <a:pt x="76189" y="0"/>
                </a:moveTo>
                <a:lnTo>
                  <a:pt x="6629411" y="0"/>
                </a:lnTo>
                <a:cubicBezTo>
                  <a:pt x="6671489" y="0"/>
                  <a:pt x="6705600" y="34111"/>
                  <a:pt x="6705600" y="76189"/>
                </a:cubicBezTo>
                <a:lnTo>
                  <a:pt x="6705600" y="2838461"/>
                </a:lnTo>
                <a:cubicBezTo>
                  <a:pt x="6705600" y="2880539"/>
                  <a:pt x="6671489" y="2914650"/>
                  <a:pt x="6629411" y="2914650"/>
                </a:cubicBezTo>
                <a:lnTo>
                  <a:pt x="76189" y="2914650"/>
                </a:lnTo>
                <a:cubicBezTo>
                  <a:pt x="34111" y="2914650"/>
                  <a:pt x="0" y="2880539"/>
                  <a:pt x="0" y="2838461"/>
                </a:cubicBezTo>
                <a:lnTo>
                  <a:pt x="0" y="76189"/>
                </a:lnTo>
                <a:cubicBezTo>
                  <a:pt x="0" y="34111"/>
                  <a:pt x="34111" y="0"/>
                  <a:pt x="76189" y="0"/>
                </a:cubicBezTo>
                <a:close/>
              </a:path>
            </a:pathLst>
          </a:custGeom>
          <a:solidFill>
            <a:srgbClr val="A44A3F">
              <a:alpha val="10196"/>
            </a:srgbClr>
          </a:solidFill>
          <a:ln w="25400">
            <a:solidFill>
              <a:srgbClr val="A44A3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8327946" y="4215924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0" y="120551"/>
                </a:moveTo>
                <a:cubicBezTo>
                  <a:pt x="0" y="83548"/>
                  <a:pt x="29970" y="53578"/>
                  <a:pt x="66973" y="53578"/>
                </a:cubicBezTo>
                <a:lnTo>
                  <a:pt x="71438" y="53578"/>
                </a:lnTo>
                <a:cubicBezTo>
                  <a:pt x="81316" y="53578"/>
                  <a:pt x="89297" y="61559"/>
                  <a:pt x="89297" y="71438"/>
                </a:cubicBezTo>
                <a:cubicBezTo>
                  <a:pt x="89297" y="81316"/>
                  <a:pt x="81316" y="89297"/>
                  <a:pt x="71438" y="89297"/>
                </a:cubicBezTo>
                <a:lnTo>
                  <a:pt x="66973" y="89297"/>
                </a:lnTo>
                <a:cubicBezTo>
                  <a:pt x="49727" y="89297"/>
                  <a:pt x="35719" y="103305"/>
                  <a:pt x="35719" y="120551"/>
                </a:cubicBezTo>
                <a:lnTo>
                  <a:pt x="35719" y="125016"/>
                </a:lnTo>
                <a:lnTo>
                  <a:pt x="71438" y="125016"/>
                </a:lnTo>
                <a:cubicBezTo>
                  <a:pt x="91139" y="125016"/>
                  <a:pt x="107156" y="141033"/>
                  <a:pt x="107156" y="160734"/>
                </a:cubicBezTo>
                <a:lnTo>
                  <a:pt x="107156" y="196453"/>
                </a:lnTo>
                <a:cubicBezTo>
                  <a:pt x="107156" y="216154"/>
                  <a:pt x="91139" y="232172"/>
                  <a:pt x="71438" y="232172"/>
                </a:cubicBezTo>
                <a:lnTo>
                  <a:pt x="35719" y="232172"/>
                </a:lnTo>
                <a:cubicBezTo>
                  <a:pt x="16018" y="232172"/>
                  <a:pt x="0" y="216154"/>
                  <a:pt x="0" y="196453"/>
                </a:cubicBezTo>
                <a:lnTo>
                  <a:pt x="0" y="120551"/>
                </a:lnTo>
                <a:close/>
                <a:moveTo>
                  <a:pt x="142875" y="120551"/>
                </a:moveTo>
                <a:cubicBezTo>
                  <a:pt x="142875" y="83548"/>
                  <a:pt x="172845" y="53578"/>
                  <a:pt x="209848" y="53578"/>
                </a:cubicBezTo>
                <a:lnTo>
                  <a:pt x="214313" y="53578"/>
                </a:lnTo>
                <a:cubicBezTo>
                  <a:pt x="224191" y="53578"/>
                  <a:pt x="232172" y="61559"/>
                  <a:pt x="232172" y="71438"/>
                </a:cubicBezTo>
                <a:cubicBezTo>
                  <a:pt x="232172" y="81316"/>
                  <a:pt x="224191" y="89297"/>
                  <a:pt x="214313" y="89297"/>
                </a:cubicBezTo>
                <a:lnTo>
                  <a:pt x="209848" y="89297"/>
                </a:lnTo>
                <a:cubicBezTo>
                  <a:pt x="192602" y="89297"/>
                  <a:pt x="178594" y="103305"/>
                  <a:pt x="178594" y="120551"/>
                </a:cubicBezTo>
                <a:lnTo>
                  <a:pt x="178594" y="125016"/>
                </a:lnTo>
                <a:lnTo>
                  <a:pt x="214313" y="125016"/>
                </a:lnTo>
                <a:cubicBezTo>
                  <a:pt x="234014" y="125016"/>
                  <a:pt x="250031" y="141033"/>
                  <a:pt x="250031" y="160734"/>
                </a:cubicBezTo>
                <a:lnTo>
                  <a:pt x="250031" y="196453"/>
                </a:lnTo>
                <a:cubicBezTo>
                  <a:pt x="250031" y="216154"/>
                  <a:pt x="234014" y="232172"/>
                  <a:pt x="214313" y="232172"/>
                </a:cubicBezTo>
                <a:lnTo>
                  <a:pt x="178594" y="232172"/>
                </a:lnTo>
                <a:cubicBezTo>
                  <a:pt x="158893" y="232172"/>
                  <a:pt x="142875" y="216154"/>
                  <a:pt x="142875" y="196453"/>
                </a:cubicBezTo>
                <a:lnTo>
                  <a:pt x="142875" y="120551"/>
                </a:ln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46" name="Text 43"/>
          <p:cNvSpPr/>
          <p:nvPr/>
        </p:nvSpPr>
        <p:spPr>
          <a:xfrm>
            <a:off x="5256848" y="4639787"/>
            <a:ext cx="63912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50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"Şiir bir hikaye değil, sessiz bir şarkıdır. Şiir duyulmak ve hissedilmek içindir."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5299710" y="5189855"/>
            <a:ext cx="6305550" cy="9525"/>
          </a:xfrm>
          <a:custGeom>
            <a:avLst/>
            <a:gdLst/>
            <a:ahLst/>
            <a:cxnLst/>
            <a:rect l="l" t="t" r="r" b="b"/>
            <a:pathLst>
              <a:path w="6305550" h="9525">
                <a:moveTo>
                  <a:pt x="0" y="0"/>
                </a:moveTo>
                <a:lnTo>
                  <a:pt x="6305550" y="0"/>
                </a:lnTo>
                <a:lnTo>
                  <a:pt x="63055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A44A3F">
              <a:alpha val="30196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5261610" y="5308918"/>
            <a:ext cx="6381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Ahmet Haşim'e göre şiir, anlatılmak için değil; </a:t>
            </a:r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duyulmak ve hissedilmek</a:t>
            </a:r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içindir. Şiirde anlamdan çok ses, ritim ve musiki önemlidir.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851" y="365851"/>
            <a:ext cx="11533467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spc="115" kern="0" dirty="0">
                <a:solidFill>
                  <a:srgbClr val="A44A3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BÖLÜM 05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851" y="658533"/>
            <a:ext cx="11624930" cy="365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93" dirty="0">
                <a:solidFill>
                  <a:srgbClr val="5D4E37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Yahya Kemal Beyatlı - Son Divan Şairi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144" y="1170725"/>
            <a:ext cx="6731667" cy="2414620"/>
          </a:xfrm>
          <a:custGeom>
            <a:avLst/>
            <a:gdLst/>
            <a:ahLst/>
            <a:cxnLst/>
            <a:rect l="l" t="t" r="r" b="b"/>
            <a:pathLst>
              <a:path w="6731667" h="2414620">
                <a:moveTo>
                  <a:pt x="36585" y="0"/>
                </a:moveTo>
                <a:lnTo>
                  <a:pt x="6658504" y="0"/>
                </a:lnTo>
                <a:cubicBezTo>
                  <a:pt x="6698911" y="0"/>
                  <a:pt x="6731667" y="32756"/>
                  <a:pt x="6731667" y="73163"/>
                </a:cubicBezTo>
                <a:lnTo>
                  <a:pt x="6731667" y="2341457"/>
                </a:lnTo>
                <a:cubicBezTo>
                  <a:pt x="6731667" y="2381863"/>
                  <a:pt x="6698911" y="2414620"/>
                  <a:pt x="6658504" y="2414620"/>
                </a:cubicBezTo>
                <a:lnTo>
                  <a:pt x="36585" y="2414620"/>
                </a:lnTo>
                <a:cubicBezTo>
                  <a:pt x="16380" y="2414620"/>
                  <a:pt x="0" y="2398240"/>
                  <a:pt x="0" y="2378035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84144" y="1170725"/>
            <a:ext cx="36585" cy="2414620"/>
          </a:xfrm>
          <a:custGeom>
            <a:avLst/>
            <a:gdLst/>
            <a:ahLst/>
            <a:cxnLst/>
            <a:rect l="l" t="t" r="r" b="b"/>
            <a:pathLst>
              <a:path w="36585" h="2414620">
                <a:moveTo>
                  <a:pt x="36585" y="0"/>
                </a:moveTo>
                <a:lnTo>
                  <a:pt x="36585" y="0"/>
                </a:lnTo>
                <a:lnTo>
                  <a:pt x="36585" y="2414620"/>
                </a:lnTo>
                <a:lnTo>
                  <a:pt x="36585" y="2414620"/>
                </a:lnTo>
                <a:cubicBezTo>
                  <a:pt x="16380" y="2414620"/>
                  <a:pt x="0" y="2398240"/>
                  <a:pt x="0" y="2378035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5D4E37"/>
          </a:solidFill>
          <a:ln/>
        </p:spPr>
      </p:sp>
      <p:pic>
        <p:nvPicPr>
          <p:cNvPr id="6" name="Image 0" descr="https://kimi-web-img.moonshot.cn/img/upload.wikimedia.org/c8d344fc9968464d2206a915b3ed3eb320c8ab1e.jpg">    </p:cNvPr>
          <p:cNvPicPr>
            <a:picLocks noChangeAspect="1"/>
          </p:cNvPicPr>
          <p:nvPr/>
        </p:nvPicPr>
        <p:blipFill>
          <a:blip r:embed="rId1"/>
          <a:srcRect l="0" r="0" t="0" b="24242"/>
          <a:stretch/>
        </p:blipFill>
        <p:spPr>
          <a:xfrm>
            <a:off x="585362" y="1298773"/>
            <a:ext cx="878044" cy="878044"/>
          </a:xfrm>
          <a:prstGeom prst="roundRect">
            <a:avLst>
              <a:gd name="adj" fmla="val 8333"/>
            </a:avLst>
          </a:prstGeom>
        </p:spPr>
      </p:pic>
      <p:sp>
        <p:nvSpPr>
          <p:cNvPr id="7" name="Text 4"/>
          <p:cNvSpPr/>
          <p:nvPr/>
        </p:nvSpPr>
        <p:spPr>
          <a:xfrm>
            <a:off x="1609746" y="1445113"/>
            <a:ext cx="2103646" cy="292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8" dirty="0">
                <a:solidFill>
                  <a:srgbClr val="5D4E37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Yahya Kemal Beyatlı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9746" y="1737794"/>
            <a:ext cx="2067061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1884 - 1958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09746" y="1957305"/>
            <a:ext cx="2057914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b="1" dirty="0">
                <a:solidFill>
                  <a:srgbClr val="A44A3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Son Divan Şairi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85362" y="2341449"/>
            <a:ext cx="6420693" cy="47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Yahya Kemal Beyatlı, </a:t>
            </a:r>
            <a:pPr>
              <a:lnSpc>
                <a:spcPct val="140000"/>
              </a:lnSpc>
            </a:pPr>
            <a:r>
              <a:rPr lang="en-US" sz="1152" b="1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Divan şiiri geleneğiyle modern şiiri</a:t>
            </a:r>
            <a:pPr>
              <a:lnSpc>
                <a:spcPct val="140000"/>
              </a:lnSpc>
            </a:pPr>
            <a:r>
              <a:rPr lang="en-US" sz="1152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başarıyla sentezleyen büyük şairdir. "Son Divan Şairi" olarak anılır.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5362" y="2926812"/>
            <a:ext cx="6420693" cy="47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Paris'te siyasal bilimler eğitimi görmüş, Fransız edebiyatıyla tanışmıştır. </a:t>
            </a:r>
            <a:pPr>
              <a:lnSpc>
                <a:spcPct val="140000"/>
              </a:lnSpc>
            </a:pPr>
            <a:r>
              <a:rPr lang="en-US" sz="1152" dirty="0">
                <a:solidFill>
                  <a:srgbClr val="A44A3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Aruz vezni</a:t>
            </a:r>
            <a:pPr>
              <a:lnSpc>
                <a:spcPct val="140000"/>
              </a:lnSpc>
            </a:pPr>
            <a:r>
              <a:rPr lang="en-US" sz="1152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ile modern şiir yazan ender şairlerdendir.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65851" y="3731685"/>
            <a:ext cx="6749959" cy="3128030"/>
          </a:xfrm>
          <a:custGeom>
            <a:avLst/>
            <a:gdLst/>
            <a:ahLst/>
            <a:cxnLst/>
            <a:rect l="l" t="t" r="r" b="b"/>
            <a:pathLst>
              <a:path w="6749959" h="3128030">
                <a:moveTo>
                  <a:pt x="73165" y="0"/>
                </a:moveTo>
                <a:lnTo>
                  <a:pt x="6676795" y="0"/>
                </a:lnTo>
                <a:cubicBezTo>
                  <a:pt x="6717203" y="0"/>
                  <a:pt x="6749959" y="32757"/>
                  <a:pt x="6749959" y="73165"/>
                </a:cubicBezTo>
                <a:lnTo>
                  <a:pt x="6749959" y="3054865"/>
                </a:lnTo>
                <a:cubicBezTo>
                  <a:pt x="6749959" y="3095273"/>
                  <a:pt x="6717203" y="3128030"/>
                  <a:pt x="6676795" y="3128030"/>
                </a:cubicBezTo>
                <a:lnTo>
                  <a:pt x="73165" y="3128030"/>
                </a:lnTo>
                <a:cubicBezTo>
                  <a:pt x="32757" y="3128030"/>
                  <a:pt x="0" y="3095273"/>
                  <a:pt x="0" y="3054865"/>
                </a:cubicBezTo>
                <a:lnTo>
                  <a:pt x="0" y="73165"/>
                </a:lnTo>
                <a:cubicBezTo>
                  <a:pt x="0" y="32784"/>
                  <a:pt x="32784" y="0"/>
                  <a:pt x="73165" y="0"/>
                </a:cubicBez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13" name="Text 10"/>
          <p:cNvSpPr/>
          <p:nvPr/>
        </p:nvSpPr>
        <p:spPr>
          <a:xfrm>
            <a:off x="548777" y="3914611"/>
            <a:ext cx="6475571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dirty="0">
                <a:solidFill>
                  <a:srgbClr val="F8F5F2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Edebi Kişiliği ve Özellikleri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67070" y="4317047"/>
            <a:ext cx="146341" cy="146341"/>
          </a:xfrm>
          <a:custGeom>
            <a:avLst/>
            <a:gdLst/>
            <a:ahLst/>
            <a:cxnLst/>
            <a:rect l="l" t="t" r="r" b="b"/>
            <a:pathLst>
              <a:path w="146341" h="146341">
                <a:moveTo>
                  <a:pt x="68226" y="1458"/>
                </a:moveTo>
                <a:cubicBezTo>
                  <a:pt x="71227" y="-486"/>
                  <a:pt x="75114" y="-486"/>
                  <a:pt x="78115" y="1458"/>
                </a:cubicBezTo>
                <a:lnTo>
                  <a:pt x="142139" y="42616"/>
                </a:lnTo>
                <a:cubicBezTo>
                  <a:pt x="145540" y="44817"/>
                  <a:pt x="147112" y="48990"/>
                  <a:pt x="145969" y="52877"/>
                </a:cubicBezTo>
                <a:cubicBezTo>
                  <a:pt x="144826" y="56764"/>
                  <a:pt x="141253" y="59451"/>
                  <a:pt x="137194" y="59451"/>
                </a:cubicBezTo>
                <a:lnTo>
                  <a:pt x="128048" y="59451"/>
                </a:lnTo>
                <a:lnTo>
                  <a:pt x="128048" y="118902"/>
                </a:lnTo>
                <a:lnTo>
                  <a:pt x="142682" y="129877"/>
                </a:lnTo>
                <a:cubicBezTo>
                  <a:pt x="144997" y="131592"/>
                  <a:pt x="146341" y="134308"/>
                  <a:pt x="146341" y="137194"/>
                </a:cubicBezTo>
                <a:cubicBezTo>
                  <a:pt x="146341" y="142253"/>
                  <a:pt x="142253" y="146341"/>
                  <a:pt x="137194" y="146341"/>
                </a:cubicBezTo>
                <a:lnTo>
                  <a:pt x="9146" y="146341"/>
                </a:lnTo>
                <a:cubicBezTo>
                  <a:pt x="4087" y="146341"/>
                  <a:pt x="0" y="142253"/>
                  <a:pt x="0" y="137194"/>
                </a:cubicBezTo>
                <a:cubicBezTo>
                  <a:pt x="0" y="134308"/>
                  <a:pt x="1343" y="131592"/>
                  <a:pt x="3659" y="129877"/>
                </a:cubicBezTo>
                <a:lnTo>
                  <a:pt x="18293" y="118902"/>
                </a:lnTo>
                <a:lnTo>
                  <a:pt x="18293" y="118902"/>
                </a:lnTo>
                <a:lnTo>
                  <a:pt x="18293" y="59451"/>
                </a:lnTo>
                <a:lnTo>
                  <a:pt x="9146" y="59451"/>
                </a:lnTo>
                <a:cubicBezTo>
                  <a:pt x="5088" y="59451"/>
                  <a:pt x="1515" y="56764"/>
                  <a:pt x="372" y="52877"/>
                </a:cubicBezTo>
                <a:cubicBezTo>
                  <a:pt x="-772" y="48990"/>
                  <a:pt x="800" y="44788"/>
                  <a:pt x="4202" y="42616"/>
                </a:cubicBezTo>
                <a:lnTo>
                  <a:pt x="68226" y="1458"/>
                </a:lnTo>
                <a:close/>
                <a:moveTo>
                  <a:pt x="96036" y="59451"/>
                </a:moveTo>
                <a:lnTo>
                  <a:pt x="96036" y="118902"/>
                </a:lnTo>
                <a:lnTo>
                  <a:pt x="114329" y="118902"/>
                </a:lnTo>
                <a:lnTo>
                  <a:pt x="114329" y="59451"/>
                </a:lnTo>
                <a:lnTo>
                  <a:pt x="96036" y="59451"/>
                </a:lnTo>
                <a:close/>
                <a:moveTo>
                  <a:pt x="64024" y="118902"/>
                </a:moveTo>
                <a:lnTo>
                  <a:pt x="82317" y="118902"/>
                </a:lnTo>
                <a:lnTo>
                  <a:pt x="82317" y="59451"/>
                </a:lnTo>
                <a:lnTo>
                  <a:pt x="64024" y="59451"/>
                </a:lnTo>
                <a:lnTo>
                  <a:pt x="64024" y="118902"/>
                </a:lnTo>
                <a:close/>
                <a:moveTo>
                  <a:pt x="32012" y="59451"/>
                </a:moveTo>
                <a:lnTo>
                  <a:pt x="32012" y="118902"/>
                </a:lnTo>
                <a:lnTo>
                  <a:pt x="50305" y="118902"/>
                </a:lnTo>
                <a:lnTo>
                  <a:pt x="50305" y="59451"/>
                </a:lnTo>
                <a:lnTo>
                  <a:pt x="32012" y="59451"/>
                </a:ln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15" name="Text 12"/>
          <p:cNvSpPr/>
          <p:nvPr/>
        </p:nvSpPr>
        <p:spPr>
          <a:xfrm>
            <a:off x="804873" y="4280462"/>
            <a:ext cx="1408528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Divan Geleneği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4873" y="4499973"/>
            <a:ext cx="1399382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F8F5F2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Geleneksel biçim ve vezin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03026" y="4317047"/>
            <a:ext cx="164633" cy="146341"/>
          </a:xfrm>
          <a:custGeom>
            <a:avLst/>
            <a:gdLst/>
            <a:ahLst/>
            <a:cxnLst/>
            <a:rect l="l" t="t" r="r" b="b"/>
            <a:pathLst>
              <a:path w="164633" h="146341">
                <a:moveTo>
                  <a:pt x="49962" y="64024"/>
                </a:moveTo>
                <a:lnTo>
                  <a:pt x="114672" y="64024"/>
                </a:lnTo>
                <a:cubicBezTo>
                  <a:pt x="127105" y="64024"/>
                  <a:pt x="137194" y="53935"/>
                  <a:pt x="137194" y="41501"/>
                </a:cubicBezTo>
                <a:cubicBezTo>
                  <a:pt x="137194" y="34213"/>
                  <a:pt x="133679" y="27382"/>
                  <a:pt x="127734" y="23152"/>
                </a:cubicBezTo>
                <a:lnTo>
                  <a:pt x="84975" y="-7260"/>
                </a:lnTo>
                <a:cubicBezTo>
                  <a:pt x="83374" y="-8375"/>
                  <a:pt x="81259" y="-8375"/>
                  <a:pt x="79687" y="-7260"/>
                </a:cubicBezTo>
                <a:lnTo>
                  <a:pt x="36900" y="23152"/>
                </a:lnTo>
                <a:cubicBezTo>
                  <a:pt x="30954" y="27382"/>
                  <a:pt x="27439" y="34213"/>
                  <a:pt x="27439" y="41501"/>
                </a:cubicBezTo>
                <a:cubicBezTo>
                  <a:pt x="27439" y="53935"/>
                  <a:pt x="37528" y="64024"/>
                  <a:pt x="49962" y="64024"/>
                </a:cubicBezTo>
                <a:close/>
                <a:moveTo>
                  <a:pt x="146341" y="146341"/>
                </a:moveTo>
                <a:cubicBezTo>
                  <a:pt x="156430" y="146341"/>
                  <a:pt x="164633" y="138138"/>
                  <a:pt x="164633" y="128048"/>
                </a:cubicBezTo>
                <a:lnTo>
                  <a:pt x="164633" y="64024"/>
                </a:lnTo>
                <a:cubicBezTo>
                  <a:pt x="164633" y="58965"/>
                  <a:pt x="160546" y="54878"/>
                  <a:pt x="155487" y="54878"/>
                </a:cubicBezTo>
                <a:cubicBezTo>
                  <a:pt x="150428" y="54878"/>
                  <a:pt x="146341" y="58965"/>
                  <a:pt x="146341" y="64024"/>
                </a:cubicBezTo>
                <a:lnTo>
                  <a:pt x="146341" y="77743"/>
                </a:lnTo>
                <a:lnTo>
                  <a:pt x="18293" y="77743"/>
                </a:lnTo>
                <a:lnTo>
                  <a:pt x="18293" y="64024"/>
                </a:lnTo>
                <a:cubicBezTo>
                  <a:pt x="18293" y="58965"/>
                  <a:pt x="14205" y="54878"/>
                  <a:pt x="9146" y="54878"/>
                </a:cubicBezTo>
                <a:cubicBezTo>
                  <a:pt x="4087" y="54878"/>
                  <a:pt x="0" y="58965"/>
                  <a:pt x="0" y="64024"/>
                </a:cubicBezTo>
                <a:lnTo>
                  <a:pt x="0" y="128048"/>
                </a:lnTo>
                <a:cubicBezTo>
                  <a:pt x="0" y="138138"/>
                  <a:pt x="8203" y="146341"/>
                  <a:pt x="18293" y="146341"/>
                </a:cubicBezTo>
                <a:lnTo>
                  <a:pt x="146341" y="146341"/>
                </a:lnTo>
                <a:close/>
                <a:moveTo>
                  <a:pt x="68597" y="109755"/>
                </a:moveTo>
                <a:cubicBezTo>
                  <a:pt x="68597" y="102181"/>
                  <a:pt x="74742" y="96036"/>
                  <a:pt x="82317" y="96036"/>
                </a:cubicBezTo>
                <a:cubicBezTo>
                  <a:pt x="89891" y="96036"/>
                  <a:pt x="96036" y="102181"/>
                  <a:pt x="96036" y="109755"/>
                </a:cubicBezTo>
                <a:lnTo>
                  <a:pt x="96036" y="132621"/>
                </a:lnTo>
                <a:lnTo>
                  <a:pt x="68597" y="132621"/>
                </a:lnTo>
                <a:lnTo>
                  <a:pt x="68597" y="109755"/>
                </a:ln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18" name="Text 15"/>
          <p:cNvSpPr/>
          <p:nvPr/>
        </p:nvSpPr>
        <p:spPr>
          <a:xfrm>
            <a:off x="4049976" y="4280462"/>
            <a:ext cx="1399382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İstanbul Teması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049976" y="4499973"/>
            <a:ext cx="1390236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F8F5F2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Boğaz ve İstanbul sevdası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67070" y="4829239"/>
            <a:ext cx="146341" cy="146341"/>
          </a:xfrm>
          <a:custGeom>
            <a:avLst/>
            <a:gdLst/>
            <a:ahLst/>
            <a:cxnLst/>
            <a:rect l="l" t="t" r="r" b="b"/>
            <a:pathLst>
              <a:path w="146341" h="146341">
                <a:moveTo>
                  <a:pt x="117358" y="35470"/>
                </a:moveTo>
                <a:cubicBezTo>
                  <a:pt x="123275" y="39929"/>
                  <a:pt x="130506" y="44245"/>
                  <a:pt x="138566" y="45331"/>
                </a:cubicBezTo>
                <a:cubicBezTo>
                  <a:pt x="142311" y="45846"/>
                  <a:pt x="145769" y="43188"/>
                  <a:pt x="146283" y="39443"/>
                </a:cubicBezTo>
                <a:cubicBezTo>
                  <a:pt x="146798" y="35699"/>
                  <a:pt x="144140" y="32241"/>
                  <a:pt x="140395" y="31726"/>
                </a:cubicBezTo>
                <a:cubicBezTo>
                  <a:pt x="135851" y="31126"/>
                  <a:pt x="130906" y="28496"/>
                  <a:pt x="125619" y="24523"/>
                </a:cubicBezTo>
                <a:cubicBezTo>
                  <a:pt x="114643" y="16235"/>
                  <a:pt x="99752" y="16235"/>
                  <a:pt x="88748" y="24523"/>
                </a:cubicBezTo>
                <a:cubicBezTo>
                  <a:pt x="81888" y="29697"/>
                  <a:pt x="77115" y="32041"/>
                  <a:pt x="73170" y="32041"/>
                </a:cubicBezTo>
                <a:cubicBezTo>
                  <a:pt x="69226" y="32041"/>
                  <a:pt x="64453" y="29697"/>
                  <a:pt x="57593" y="24523"/>
                </a:cubicBezTo>
                <a:cubicBezTo>
                  <a:pt x="46617" y="16235"/>
                  <a:pt x="31726" y="16235"/>
                  <a:pt x="20722" y="24523"/>
                </a:cubicBezTo>
                <a:cubicBezTo>
                  <a:pt x="15434" y="28496"/>
                  <a:pt x="10490" y="31126"/>
                  <a:pt x="5945" y="31726"/>
                </a:cubicBezTo>
                <a:cubicBezTo>
                  <a:pt x="2201" y="32241"/>
                  <a:pt x="-457" y="35671"/>
                  <a:pt x="57" y="39443"/>
                </a:cubicBezTo>
                <a:cubicBezTo>
                  <a:pt x="572" y="43216"/>
                  <a:pt x="4002" y="45846"/>
                  <a:pt x="7774" y="45331"/>
                </a:cubicBezTo>
                <a:cubicBezTo>
                  <a:pt x="15835" y="44245"/>
                  <a:pt x="23094" y="39929"/>
                  <a:pt x="28982" y="35470"/>
                </a:cubicBezTo>
                <a:cubicBezTo>
                  <a:pt x="35070" y="30869"/>
                  <a:pt x="43245" y="30869"/>
                  <a:pt x="49333" y="35470"/>
                </a:cubicBezTo>
                <a:cubicBezTo>
                  <a:pt x="56250" y="40701"/>
                  <a:pt x="64281" y="45731"/>
                  <a:pt x="73170" y="45731"/>
                </a:cubicBezTo>
                <a:cubicBezTo>
                  <a:pt x="82059" y="45731"/>
                  <a:pt x="90062" y="40672"/>
                  <a:pt x="97008" y="35470"/>
                </a:cubicBezTo>
                <a:cubicBezTo>
                  <a:pt x="103096" y="30869"/>
                  <a:pt x="111270" y="30869"/>
                  <a:pt x="117358" y="35470"/>
                </a:cubicBezTo>
                <a:close/>
                <a:moveTo>
                  <a:pt x="117358" y="76629"/>
                </a:moveTo>
                <a:cubicBezTo>
                  <a:pt x="123275" y="81088"/>
                  <a:pt x="130506" y="85403"/>
                  <a:pt x="138566" y="86490"/>
                </a:cubicBezTo>
                <a:cubicBezTo>
                  <a:pt x="142311" y="87004"/>
                  <a:pt x="145769" y="84346"/>
                  <a:pt x="146283" y="80602"/>
                </a:cubicBezTo>
                <a:cubicBezTo>
                  <a:pt x="146798" y="76857"/>
                  <a:pt x="144140" y="73399"/>
                  <a:pt x="140395" y="72884"/>
                </a:cubicBezTo>
                <a:cubicBezTo>
                  <a:pt x="135851" y="72284"/>
                  <a:pt x="130906" y="69655"/>
                  <a:pt x="125619" y="65682"/>
                </a:cubicBezTo>
                <a:cubicBezTo>
                  <a:pt x="114643" y="57393"/>
                  <a:pt x="99752" y="57393"/>
                  <a:pt x="88748" y="65682"/>
                </a:cubicBezTo>
                <a:cubicBezTo>
                  <a:pt x="81888" y="70855"/>
                  <a:pt x="77115" y="73199"/>
                  <a:pt x="73170" y="73199"/>
                </a:cubicBezTo>
                <a:cubicBezTo>
                  <a:pt x="69226" y="73199"/>
                  <a:pt x="64453" y="70855"/>
                  <a:pt x="57593" y="65682"/>
                </a:cubicBezTo>
                <a:cubicBezTo>
                  <a:pt x="46617" y="57393"/>
                  <a:pt x="31726" y="57393"/>
                  <a:pt x="20722" y="65682"/>
                </a:cubicBezTo>
                <a:cubicBezTo>
                  <a:pt x="15434" y="69655"/>
                  <a:pt x="10490" y="72284"/>
                  <a:pt x="5945" y="72884"/>
                </a:cubicBezTo>
                <a:cubicBezTo>
                  <a:pt x="2201" y="73370"/>
                  <a:pt x="-457" y="76829"/>
                  <a:pt x="57" y="80602"/>
                </a:cubicBezTo>
                <a:cubicBezTo>
                  <a:pt x="572" y="84374"/>
                  <a:pt x="4002" y="87004"/>
                  <a:pt x="7774" y="86490"/>
                </a:cubicBezTo>
                <a:cubicBezTo>
                  <a:pt x="15835" y="85403"/>
                  <a:pt x="23094" y="81088"/>
                  <a:pt x="28982" y="76629"/>
                </a:cubicBezTo>
                <a:cubicBezTo>
                  <a:pt x="35070" y="72027"/>
                  <a:pt x="43245" y="72027"/>
                  <a:pt x="49333" y="76629"/>
                </a:cubicBezTo>
                <a:cubicBezTo>
                  <a:pt x="56250" y="81859"/>
                  <a:pt x="64281" y="86890"/>
                  <a:pt x="73170" y="86890"/>
                </a:cubicBezTo>
                <a:cubicBezTo>
                  <a:pt x="82059" y="86890"/>
                  <a:pt x="90062" y="81831"/>
                  <a:pt x="97008" y="76629"/>
                </a:cubicBezTo>
                <a:cubicBezTo>
                  <a:pt x="103096" y="72027"/>
                  <a:pt x="111270" y="72027"/>
                  <a:pt x="117358" y="76629"/>
                </a:cubicBezTo>
                <a:close/>
                <a:moveTo>
                  <a:pt x="97008" y="117787"/>
                </a:moveTo>
                <a:cubicBezTo>
                  <a:pt x="103096" y="113185"/>
                  <a:pt x="111270" y="113185"/>
                  <a:pt x="117358" y="117787"/>
                </a:cubicBezTo>
                <a:cubicBezTo>
                  <a:pt x="123275" y="122246"/>
                  <a:pt x="130506" y="126562"/>
                  <a:pt x="138566" y="127648"/>
                </a:cubicBezTo>
                <a:cubicBezTo>
                  <a:pt x="142311" y="128162"/>
                  <a:pt x="145769" y="125504"/>
                  <a:pt x="146283" y="121760"/>
                </a:cubicBezTo>
                <a:cubicBezTo>
                  <a:pt x="146798" y="118016"/>
                  <a:pt x="144140" y="114557"/>
                  <a:pt x="140395" y="114043"/>
                </a:cubicBezTo>
                <a:cubicBezTo>
                  <a:pt x="135851" y="113443"/>
                  <a:pt x="130906" y="110813"/>
                  <a:pt x="125619" y="106840"/>
                </a:cubicBezTo>
                <a:cubicBezTo>
                  <a:pt x="114643" y="98551"/>
                  <a:pt x="99752" y="98551"/>
                  <a:pt x="88748" y="106840"/>
                </a:cubicBezTo>
                <a:cubicBezTo>
                  <a:pt x="81888" y="112013"/>
                  <a:pt x="77115" y="114357"/>
                  <a:pt x="73170" y="114357"/>
                </a:cubicBezTo>
                <a:cubicBezTo>
                  <a:pt x="69226" y="114357"/>
                  <a:pt x="64453" y="112013"/>
                  <a:pt x="57593" y="106840"/>
                </a:cubicBezTo>
                <a:cubicBezTo>
                  <a:pt x="46617" y="98551"/>
                  <a:pt x="31726" y="98551"/>
                  <a:pt x="20722" y="106840"/>
                </a:cubicBezTo>
                <a:cubicBezTo>
                  <a:pt x="15434" y="110813"/>
                  <a:pt x="10490" y="113443"/>
                  <a:pt x="5945" y="114043"/>
                </a:cubicBezTo>
                <a:cubicBezTo>
                  <a:pt x="2201" y="114557"/>
                  <a:pt x="-457" y="117987"/>
                  <a:pt x="57" y="121760"/>
                </a:cubicBezTo>
                <a:cubicBezTo>
                  <a:pt x="572" y="125533"/>
                  <a:pt x="4002" y="128162"/>
                  <a:pt x="7774" y="127648"/>
                </a:cubicBezTo>
                <a:cubicBezTo>
                  <a:pt x="15835" y="126562"/>
                  <a:pt x="23094" y="122246"/>
                  <a:pt x="28982" y="117787"/>
                </a:cubicBezTo>
                <a:cubicBezTo>
                  <a:pt x="35070" y="113185"/>
                  <a:pt x="43245" y="113185"/>
                  <a:pt x="49333" y="117787"/>
                </a:cubicBezTo>
                <a:cubicBezTo>
                  <a:pt x="56250" y="123018"/>
                  <a:pt x="64281" y="128048"/>
                  <a:pt x="73170" y="128048"/>
                </a:cubicBezTo>
                <a:cubicBezTo>
                  <a:pt x="82059" y="128048"/>
                  <a:pt x="90062" y="122989"/>
                  <a:pt x="97008" y="117787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21" name="Text 18"/>
          <p:cNvSpPr/>
          <p:nvPr/>
        </p:nvSpPr>
        <p:spPr>
          <a:xfrm>
            <a:off x="804873" y="4792654"/>
            <a:ext cx="1271334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Boğaz Teması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04873" y="5012165"/>
            <a:ext cx="1262188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F8F5F2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Deniz ve gemi imgeleri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803026" y="4829239"/>
            <a:ext cx="164633" cy="146341"/>
          </a:xfrm>
          <a:custGeom>
            <a:avLst/>
            <a:gdLst/>
            <a:ahLst/>
            <a:cxnLst/>
            <a:rect l="l" t="t" r="r" b="b"/>
            <a:pathLst>
              <a:path w="164633" h="146341">
                <a:moveTo>
                  <a:pt x="82317" y="18293"/>
                </a:moveTo>
                <a:cubicBezTo>
                  <a:pt x="112614" y="18293"/>
                  <a:pt x="137194" y="42873"/>
                  <a:pt x="137194" y="73170"/>
                </a:cubicBezTo>
                <a:cubicBezTo>
                  <a:pt x="137194" y="103467"/>
                  <a:pt x="112614" y="128048"/>
                  <a:pt x="82317" y="128048"/>
                </a:cubicBezTo>
                <a:cubicBezTo>
                  <a:pt x="63681" y="128048"/>
                  <a:pt x="47189" y="118759"/>
                  <a:pt x="37271" y="104525"/>
                </a:cubicBezTo>
                <a:cubicBezTo>
                  <a:pt x="34384" y="100380"/>
                  <a:pt x="28668" y="99380"/>
                  <a:pt x="24523" y="102267"/>
                </a:cubicBezTo>
                <a:cubicBezTo>
                  <a:pt x="20379" y="105154"/>
                  <a:pt x="19379" y="110870"/>
                  <a:pt x="22265" y="115015"/>
                </a:cubicBezTo>
                <a:cubicBezTo>
                  <a:pt x="35470" y="133936"/>
                  <a:pt x="57450" y="146341"/>
                  <a:pt x="82317" y="146341"/>
                </a:cubicBezTo>
                <a:cubicBezTo>
                  <a:pt x="122732" y="146341"/>
                  <a:pt x="155487" y="113585"/>
                  <a:pt x="155487" y="73170"/>
                </a:cubicBezTo>
                <a:cubicBezTo>
                  <a:pt x="155487" y="32755"/>
                  <a:pt x="122732" y="0"/>
                  <a:pt x="82317" y="0"/>
                </a:cubicBezTo>
                <a:cubicBezTo>
                  <a:pt x="57822" y="0"/>
                  <a:pt x="36156" y="12033"/>
                  <a:pt x="22866" y="30497"/>
                </a:cubicBezTo>
                <a:lnTo>
                  <a:pt x="22866" y="22866"/>
                </a:lnTo>
                <a:cubicBezTo>
                  <a:pt x="22866" y="17807"/>
                  <a:pt x="18778" y="13719"/>
                  <a:pt x="13719" y="13719"/>
                </a:cubicBezTo>
                <a:cubicBezTo>
                  <a:pt x="8660" y="13719"/>
                  <a:pt x="4573" y="17807"/>
                  <a:pt x="4573" y="22866"/>
                </a:cubicBezTo>
                <a:lnTo>
                  <a:pt x="4573" y="54878"/>
                </a:lnTo>
                <a:cubicBezTo>
                  <a:pt x="4573" y="59937"/>
                  <a:pt x="8660" y="64024"/>
                  <a:pt x="13719" y="64024"/>
                </a:cubicBezTo>
                <a:lnTo>
                  <a:pt x="20751" y="64024"/>
                </a:lnTo>
                <a:cubicBezTo>
                  <a:pt x="20894" y="64024"/>
                  <a:pt x="21036" y="64024"/>
                  <a:pt x="21179" y="64024"/>
                </a:cubicBezTo>
                <a:lnTo>
                  <a:pt x="45760" y="64024"/>
                </a:lnTo>
                <a:cubicBezTo>
                  <a:pt x="50819" y="64024"/>
                  <a:pt x="54906" y="59937"/>
                  <a:pt x="54906" y="54878"/>
                </a:cubicBezTo>
                <a:cubicBezTo>
                  <a:pt x="54906" y="49819"/>
                  <a:pt x="50819" y="45731"/>
                  <a:pt x="45760" y="45731"/>
                </a:cubicBezTo>
                <a:lnTo>
                  <a:pt x="34813" y="45731"/>
                </a:lnTo>
                <a:cubicBezTo>
                  <a:pt x="44274" y="29325"/>
                  <a:pt x="62023" y="18293"/>
                  <a:pt x="82317" y="18293"/>
                </a:cubicBezTo>
                <a:close/>
                <a:moveTo>
                  <a:pt x="89176" y="43445"/>
                </a:moveTo>
                <a:cubicBezTo>
                  <a:pt x="89176" y="39643"/>
                  <a:pt x="86118" y="36585"/>
                  <a:pt x="82317" y="36585"/>
                </a:cubicBezTo>
                <a:cubicBezTo>
                  <a:pt x="78515" y="36585"/>
                  <a:pt x="75457" y="39643"/>
                  <a:pt x="75457" y="43445"/>
                </a:cubicBezTo>
                <a:lnTo>
                  <a:pt x="75457" y="73170"/>
                </a:lnTo>
                <a:cubicBezTo>
                  <a:pt x="75457" y="75000"/>
                  <a:pt x="76171" y="76743"/>
                  <a:pt x="77458" y="78029"/>
                </a:cubicBezTo>
                <a:lnTo>
                  <a:pt x="98037" y="98608"/>
                </a:lnTo>
                <a:cubicBezTo>
                  <a:pt x="100723" y="101295"/>
                  <a:pt x="105068" y="101295"/>
                  <a:pt x="107726" y="98608"/>
                </a:cubicBezTo>
                <a:cubicBezTo>
                  <a:pt x="110384" y="95922"/>
                  <a:pt x="110413" y="91577"/>
                  <a:pt x="107726" y="88919"/>
                </a:cubicBezTo>
                <a:lnTo>
                  <a:pt x="89148" y="70341"/>
                </a:lnTo>
                <a:lnTo>
                  <a:pt x="89148" y="43445"/>
                </a:ln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24" name="Text 21"/>
          <p:cNvSpPr/>
          <p:nvPr/>
        </p:nvSpPr>
        <p:spPr>
          <a:xfrm>
            <a:off x="4049976" y="4792654"/>
            <a:ext cx="1710356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Tarih Şuuru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049976" y="5012165"/>
            <a:ext cx="1701209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F8F5F2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Geçmişe özlem ve vatan sevgisi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331663" y="1170725"/>
            <a:ext cx="4499973" cy="3548759"/>
          </a:xfrm>
          <a:custGeom>
            <a:avLst/>
            <a:gdLst/>
            <a:ahLst/>
            <a:cxnLst/>
            <a:rect l="l" t="t" r="r" b="b"/>
            <a:pathLst>
              <a:path w="4499973" h="3548759">
                <a:moveTo>
                  <a:pt x="73175" y="0"/>
                </a:moveTo>
                <a:lnTo>
                  <a:pt x="4426798" y="0"/>
                </a:lnTo>
                <a:cubicBezTo>
                  <a:pt x="4467211" y="0"/>
                  <a:pt x="4499973" y="32762"/>
                  <a:pt x="4499973" y="73175"/>
                </a:cubicBezTo>
                <a:lnTo>
                  <a:pt x="4499973" y="3475584"/>
                </a:lnTo>
                <a:cubicBezTo>
                  <a:pt x="4499973" y="3515997"/>
                  <a:pt x="4467211" y="3548759"/>
                  <a:pt x="4426798" y="3548759"/>
                </a:cubicBezTo>
                <a:lnTo>
                  <a:pt x="73175" y="3548759"/>
                </a:lnTo>
                <a:cubicBezTo>
                  <a:pt x="32762" y="3548759"/>
                  <a:pt x="0" y="3515997"/>
                  <a:pt x="0" y="3475584"/>
                </a:cubicBezTo>
                <a:lnTo>
                  <a:pt x="0" y="73175"/>
                </a:lnTo>
                <a:cubicBezTo>
                  <a:pt x="0" y="32762"/>
                  <a:pt x="32762" y="0"/>
                  <a:pt x="7317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7514589" y="1353650"/>
            <a:ext cx="4225584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dirty="0">
                <a:solidFill>
                  <a:srgbClr val="5D4E37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Önemli Eserleri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532881" y="1719502"/>
            <a:ext cx="4115829" cy="621947"/>
          </a:xfrm>
          <a:custGeom>
            <a:avLst/>
            <a:gdLst/>
            <a:ahLst/>
            <a:cxnLst/>
            <a:rect l="l" t="t" r="r" b="b"/>
            <a:pathLst>
              <a:path w="4115829" h="621947">
                <a:moveTo>
                  <a:pt x="36583" y="0"/>
                </a:moveTo>
                <a:lnTo>
                  <a:pt x="4079246" y="0"/>
                </a:lnTo>
                <a:cubicBezTo>
                  <a:pt x="4099450" y="0"/>
                  <a:pt x="4115829" y="16379"/>
                  <a:pt x="4115829" y="36583"/>
                </a:cubicBezTo>
                <a:lnTo>
                  <a:pt x="4115829" y="585365"/>
                </a:lnTo>
                <a:cubicBezTo>
                  <a:pt x="4115829" y="605569"/>
                  <a:pt x="4099450" y="621947"/>
                  <a:pt x="4079246" y="621947"/>
                </a:cubicBezTo>
                <a:lnTo>
                  <a:pt x="36583" y="621947"/>
                </a:lnTo>
                <a:cubicBezTo>
                  <a:pt x="16379" y="621947"/>
                  <a:pt x="0" y="605569"/>
                  <a:pt x="0" y="585365"/>
                </a:cubicBezTo>
                <a:lnTo>
                  <a:pt x="0" y="36583"/>
                </a:lnTo>
                <a:cubicBezTo>
                  <a:pt x="0" y="16392"/>
                  <a:pt x="16392" y="0"/>
                  <a:pt x="36583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29" name="Shape 26"/>
          <p:cNvSpPr/>
          <p:nvPr/>
        </p:nvSpPr>
        <p:spPr>
          <a:xfrm>
            <a:off x="7532881" y="1719502"/>
            <a:ext cx="36585" cy="621947"/>
          </a:xfrm>
          <a:custGeom>
            <a:avLst/>
            <a:gdLst/>
            <a:ahLst/>
            <a:cxnLst/>
            <a:rect l="l" t="t" r="r" b="b"/>
            <a:pathLst>
              <a:path w="36585" h="621947">
                <a:moveTo>
                  <a:pt x="36585" y="0"/>
                </a:moveTo>
                <a:lnTo>
                  <a:pt x="36585" y="0"/>
                </a:lnTo>
                <a:lnTo>
                  <a:pt x="36585" y="621947"/>
                </a:lnTo>
                <a:lnTo>
                  <a:pt x="36585" y="621947"/>
                </a:lnTo>
                <a:cubicBezTo>
                  <a:pt x="16393" y="621947"/>
                  <a:pt x="0" y="605554"/>
                  <a:pt x="0" y="585362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30" name="Text 27"/>
          <p:cNvSpPr/>
          <p:nvPr/>
        </p:nvSpPr>
        <p:spPr>
          <a:xfrm>
            <a:off x="7660929" y="1829257"/>
            <a:ext cx="3951196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Kendi Gök Kubbemiz (1961)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660929" y="2048768"/>
            <a:ext cx="3942050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En önemli şiir kitabı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532881" y="2451205"/>
            <a:ext cx="4115829" cy="621947"/>
          </a:xfrm>
          <a:custGeom>
            <a:avLst/>
            <a:gdLst/>
            <a:ahLst/>
            <a:cxnLst/>
            <a:rect l="l" t="t" r="r" b="b"/>
            <a:pathLst>
              <a:path w="4115829" h="621947">
                <a:moveTo>
                  <a:pt x="36583" y="0"/>
                </a:moveTo>
                <a:lnTo>
                  <a:pt x="4079246" y="0"/>
                </a:lnTo>
                <a:cubicBezTo>
                  <a:pt x="4099450" y="0"/>
                  <a:pt x="4115829" y="16379"/>
                  <a:pt x="4115829" y="36583"/>
                </a:cubicBezTo>
                <a:lnTo>
                  <a:pt x="4115829" y="585365"/>
                </a:lnTo>
                <a:cubicBezTo>
                  <a:pt x="4115829" y="605569"/>
                  <a:pt x="4099450" y="621947"/>
                  <a:pt x="4079246" y="621947"/>
                </a:cubicBezTo>
                <a:lnTo>
                  <a:pt x="36583" y="621947"/>
                </a:lnTo>
                <a:cubicBezTo>
                  <a:pt x="16379" y="621947"/>
                  <a:pt x="0" y="605569"/>
                  <a:pt x="0" y="585365"/>
                </a:cubicBezTo>
                <a:lnTo>
                  <a:pt x="0" y="36583"/>
                </a:lnTo>
                <a:cubicBezTo>
                  <a:pt x="0" y="16392"/>
                  <a:pt x="16392" y="0"/>
                  <a:pt x="36583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33" name="Shape 30"/>
          <p:cNvSpPr/>
          <p:nvPr/>
        </p:nvSpPr>
        <p:spPr>
          <a:xfrm>
            <a:off x="7532881" y="2451205"/>
            <a:ext cx="36585" cy="621947"/>
          </a:xfrm>
          <a:custGeom>
            <a:avLst/>
            <a:gdLst/>
            <a:ahLst/>
            <a:cxnLst/>
            <a:rect l="l" t="t" r="r" b="b"/>
            <a:pathLst>
              <a:path w="36585" h="621947">
                <a:moveTo>
                  <a:pt x="36585" y="0"/>
                </a:moveTo>
                <a:lnTo>
                  <a:pt x="36585" y="0"/>
                </a:lnTo>
                <a:lnTo>
                  <a:pt x="36585" y="621947"/>
                </a:lnTo>
                <a:lnTo>
                  <a:pt x="36585" y="621947"/>
                </a:lnTo>
                <a:cubicBezTo>
                  <a:pt x="16393" y="621947"/>
                  <a:pt x="0" y="605554"/>
                  <a:pt x="0" y="585362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34" name="Text 31"/>
          <p:cNvSpPr/>
          <p:nvPr/>
        </p:nvSpPr>
        <p:spPr>
          <a:xfrm>
            <a:off x="7660929" y="2560960"/>
            <a:ext cx="3951196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Edebiyata Dair (1938)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660929" y="2780471"/>
            <a:ext cx="3942050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Deneme kitabı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7532881" y="3182908"/>
            <a:ext cx="4115829" cy="621947"/>
          </a:xfrm>
          <a:custGeom>
            <a:avLst/>
            <a:gdLst/>
            <a:ahLst/>
            <a:cxnLst/>
            <a:rect l="l" t="t" r="r" b="b"/>
            <a:pathLst>
              <a:path w="4115829" h="621947">
                <a:moveTo>
                  <a:pt x="36583" y="0"/>
                </a:moveTo>
                <a:lnTo>
                  <a:pt x="4079246" y="0"/>
                </a:lnTo>
                <a:cubicBezTo>
                  <a:pt x="4099450" y="0"/>
                  <a:pt x="4115829" y="16379"/>
                  <a:pt x="4115829" y="36583"/>
                </a:cubicBezTo>
                <a:lnTo>
                  <a:pt x="4115829" y="585365"/>
                </a:lnTo>
                <a:cubicBezTo>
                  <a:pt x="4115829" y="605569"/>
                  <a:pt x="4099450" y="621947"/>
                  <a:pt x="4079246" y="621947"/>
                </a:cubicBezTo>
                <a:lnTo>
                  <a:pt x="36583" y="621947"/>
                </a:lnTo>
                <a:cubicBezTo>
                  <a:pt x="16379" y="621947"/>
                  <a:pt x="0" y="605569"/>
                  <a:pt x="0" y="585365"/>
                </a:cubicBezTo>
                <a:lnTo>
                  <a:pt x="0" y="36583"/>
                </a:lnTo>
                <a:cubicBezTo>
                  <a:pt x="0" y="16392"/>
                  <a:pt x="16392" y="0"/>
                  <a:pt x="36583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37" name="Shape 34"/>
          <p:cNvSpPr/>
          <p:nvPr/>
        </p:nvSpPr>
        <p:spPr>
          <a:xfrm>
            <a:off x="7532881" y="3182908"/>
            <a:ext cx="36585" cy="621947"/>
          </a:xfrm>
          <a:custGeom>
            <a:avLst/>
            <a:gdLst/>
            <a:ahLst/>
            <a:cxnLst/>
            <a:rect l="l" t="t" r="r" b="b"/>
            <a:pathLst>
              <a:path w="36585" h="621947">
                <a:moveTo>
                  <a:pt x="36585" y="0"/>
                </a:moveTo>
                <a:lnTo>
                  <a:pt x="36585" y="0"/>
                </a:lnTo>
                <a:lnTo>
                  <a:pt x="36585" y="621947"/>
                </a:lnTo>
                <a:lnTo>
                  <a:pt x="36585" y="621947"/>
                </a:lnTo>
                <a:cubicBezTo>
                  <a:pt x="16393" y="621947"/>
                  <a:pt x="0" y="605554"/>
                  <a:pt x="0" y="585362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8A817C"/>
          </a:solidFill>
          <a:ln/>
        </p:spPr>
      </p:sp>
      <p:sp>
        <p:nvSpPr>
          <p:cNvPr id="38" name="Text 35"/>
          <p:cNvSpPr/>
          <p:nvPr/>
        </p:nvSpPr>
        <p:spPr>
          <a:xfrm>
            <a:off x="7660929" y="3292663"/>
            <a:ext cx="3951196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Siyasi ve Edebi Portreler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660929" y="3512174"/>
            <a:ext cx="3942050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Portre denemeleri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532881" y="3914611"/>
            <a:ext cx="4115829" cy="621947"/>
          </a:xfrm>
          <a:custGeom>
            <a:avLst/>
            <a:gdLst/>
            <a:ahLst/>
            <a:cxnLst/>
            <a:rect l="l" t="t" r="r" b="b"/>
            <a:pathLst>
              <a:path w="4115829" h="621947">
                <a:moveTo>
                  <a:pt x="36583" y="0"/>
                </a:moveTo>
                <a:lnTo>
                  <a:pt x="4079246" y="0"/>
                </a:lnTo>
                <a:cubicBezTo>
                  <a:pt x="4099450" y="0"/>
                  <a:pt x="4115829" y="16379"/>
                  <a:pt x="4115829" y="36583"/>
                </a:cubicBezTo>
                <a:lnTo>
                  <a:pt x="4115829" y="585365"/>
                </a:lnTo>
                <a:cubicBezTo>
                  <a:pt x="4115829" y="605569"/>
                  <a:pt x="4099450" y="621947"/>
                  <a:pt x="4079246" y="621947"/>
                </a:cubicBezTo>
                <a:lnTo>
                  <a:pt x="36583" y="621947"/>
                </a:lnTo>
                <a:cubicBezTo>
                  <a:pt x="16379" y="621947"/>
                  <a:pt x="0" y="605569"/>
                  <a:pt x="0" y="585365"/>
                </a:cubicBezTo>
                <a:lnTo>
                  <a:pt x="0" y="36583"/>
                </a:lnTo>
                <a:cubicBezTo>
                  <a:pt x="0" y="16392"/>
                  <a:pt x="16392" y="0"/>
                  <a:pt x="36583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41" name="Shape 38"/>
          <p:cNvSpPr/>
          <p:nvPr/>
        </p:nvSpPr>
        <p:spPr>
          <a:xfrm>
            <a:off x="7532881" y="3914611"/>
            <a:ext cx="36585" cy="621947"/>
          </a:xfrm>
          <a:custGeom>
            <a:avLst/>
            <a:gdLst/>
            <a:ahLst/>
            <a:cxnLst/>
            <a:rect l="l" t="t" r="r" b="b"/>
            <a:pathLst>
              <a:path w="36585" h="621947">
                <a:moveTo>
                  <a:pt x="36585" y="0"/>
                </a:moveTo>
                <a:lnTo>
                  <a:pt x="36585" y="0"/>
                </a:lnTo>
                <a:lnTo>
                  <a:pt x="36585" y="621947"/>
                </a:lnTo>
                <a:lnTo>
                  <a:pt x="36585" y="621947"/>
                </a:lnTo>
                <a:cubicBezTo>
                  <a:pt x="16393" y="621947"/>
                  <a:pt x="0" y="605554"/>
                  <a:pt x="0" y="585362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42" name="Text 39"/>
          <p:cNvSpPr/>
          <p:nvPr/>
        </p:nvSpPr>
        <p:spPr>
          <a:xfrm>
            <a:off x="7660929" y="4024366"/>
            <a:ext cx="3951196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Aziz İstanbul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660929" y="4243877"/>
            <a:ext cx="3942050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En ünlü şiiri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7331663" y="4792654"/>
            <a:ext cx="4481680" cy="1975598"/>
          </a:xfrm>
          <a:custGeom>
            <a:avLst/>
            <a:gdLst/>
            <a:ahLst/>
            <a:cxnLst/>
            <a:rect l="l" t="t" r="r" b="b"/>
            <a:pathLst>
              <a:path w="4481680" h="1975598">
                <a:moveTo>
                  <a:pt x="73176" y="0"/>
                </a:moveTo>
                <a:lnTo>
                  <a:pt x="4408504" y="0"/>
                </a:lnTo>
                <a:cubicBezTo>
                  <a:pt x="4448918" y="0"/>
                  <a:pt x="4481680" y="32762"/>
                  <a:pt x="4481680" y="73176"/>
                </a:cubicBezTo>
                <a:lnTo>
                  <a:pt x="4481680" y="1902422"/>
                </a:lnTo>
                <a:cubicBezTo>
                  <a:pt x="4481680" y="1942836"/>
                  <a:pt x="4448918" y="1975598"/>
                  <a:pt x="4408504" y="1975598"/>
                </a:cubicBezTo>
                <a:lnTo>
                  <a:pt x="73176" y="1975598"/>
                </a:lnTo>
                <a:cubicBezTo>
                  <a:pt x="32762" y="1975598"/>
                  <a:pt x="0" y="1942836"/>
                  <a:pt x="0" y="1902422"/>
                </a:cubicBezTo>
                <a:lnTo>
                  <a:pt x="0" y="73176"/>
                </a:lnTo>
                <a:cubicBezTo>
                  <a:pt x="0" y="32789"/>
                  <a:pt x="32789" y="0"/>
                  <a:pt x="73176" y="0"/>
                </a:cubicBezTo>
                <a:close/>
              </a:path>
            </a:pathLst>
          </a:custGeom>
          <a:solidFill>
            <a:srgbClr val="A44A3F">
              <a:alpha val="10196"/>
            </a:srgbClr>
          </a:solidFill>
          <a:ln w="25400">
            <a:solidFill>
              <a:srgbClr val="A44A3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462672" y="5067043"/>
            <a:ext cx="240090" cy="274389"/>
          </a:xfrm>
          <a:custGeom>
            <a:avLst/>
            <a:gdLst/>
            <a:ahLst/>
            <a:cxnLst/>
            <a:rect l="l" t="t" r="r" b="b"/>
            <a:pathLst>
              <a:path w="240090" h="274389">
                <a:moveTo>
                  <a:pt x="0" y="115758"/>
                </a:moveTo>
                <a:cubicBezTo>
                  <a:pt x="0" y="80227"/>
                  <a:pt x="28779" y="51448"/>
                  <a:pt x="64310" y="51448"/>
                </a:cubicBezTo>
                <a:lnTo>
                  <a:pt x="68597" y="51448"/>
                </a:lnTo>
                <a:cubicBezTo>
                  <a:pt x="78083" y="51448"/>
                  <a:pt x="85746" y="59111"/>
                  <a:pt x="85746" y="68597"/>
                </a:cubicBezTo>
                <a:cubicBezTo>
                  <a:pt x="85746" y="78083"/>
                  <a:pt x="78083" y="85746"/>
                  <a:pt x="68597" y="85746"/>
                </a:cubicBezTo>
                <a:lnTo>
                  <a:pt x="64310" y="85746"/>
                </a:lnTo>
                <a:cubicBezTo>
                  <a:pt x="47750" y="85746"/>
                  <a:pt x="34299" y="99198"/>
                  <a:pt x="34299" y="115758"/>
                </a:cubicBezTo>
                <a:lnTo>
                  <a:pt x="34299" y="120045"/>
                </a:lnTo>
                <a:lnTo>
                  <a:pt x="68597" y="120045"/>
                </a:lnTo>
                <a:cubicBezTo>
                  <a:pt x="87515" y="120045"/>
                  <a:pt x="102896" y="135426"/>
                  <a:pt x="102896" y="154344"/>
                </a:cubicBezTo>
                <a:lnTo>
                  <a:pt x="102896" y="188642"/>
                </a:lnTo>
                <a:cubicBezTo>
                  <a:pt x="102896" y="207560"/>
                  <a:pt x="87515" y="222941"/>
                  <a:pt x="68597" y="222941"/>
                </a:cubicBezTo>
                <a:lnTo>
                  <a:pt x="34299" y="222941"/>
                </a:lnTo>
                <a:cubicBezTo>
                  <a:pt x="15381" y="222941"/>
                  <a:pt x="0" y="207560"/>
                  <a:pt x="0" y="188642"/>
                </a:cubicBezTo>
                <a:lnTo>
                  <a:pt x="0" y="115758"/>
                </a:lnTo>
                <a:close/>
                <a:moveTo>
                  <a:pt x="137194" y="115758"/>
                </a:moveTo>
                <a:cubicBezTo>
                  <a:pt x="137194" y="80227"/>
                  <a:pt x="165973" y="51448"/>
                  <a:pt x="201504" y="51448"/>
                </a:cubicBezTo>
                <a:lnTo>
                  <a:pt x="205791" y="51448"/>
                </a:lnTo>
                <a:cubicBezTo>
                  <a:pt x="215277" y="51448"/>
                  <a:pt x="222941" y="59111"/>
                  <a:pt x="222941" y="68597"/>
                </a:cubicBezTo>
                <a:cubicBezTo>
                  <a:pt x="222941" y="78083"/>
                  <a:pt x="215277" y="85746"/>
                  <a:pt x="205791" y="85746"/>
                </a:cubicBezTo>
                <a:lnTo>
                  <a:pt x="201504" y="85746"/>
                </a:lnTo>
                <a:cubicBezTo>
                  <a:pt x="184944" y="85746"/>
                  <a:pt x="171493" y="99198"/>
                  <a:pt x="171493" y="115758"/>
                </a:cubicBezTo>
                <a:lnTo>
                  <a:pt x="171493" y="120045"/>
                </a:lnTo>
                <a:lnTo>
                  <a:pt x="205791" y="120045"/>
                </a:lnTo>
                <a:cubicBezTo>
                  <a:pt x="224709" y="120045"/>
                  <a:pt x="240090" y="135426"/>
                  <a:pt x="240090" y="154344"/>
                </a:cubicBezTo>
                <a:lnTo>
                  <a:pt x="240090" y="188642"/>
                </a:lnTo>
                <a:cubicBezTo>
                  <a:pt x="240090" y="207560"/>
                  <a:pt x="224709" y="222941"/>
                  <a:pt x="205791" y="222941"/>
                </a:cubicBezTo>
                <a:lnTo>
                  <a:pt x="171493" y="222941"/>
                </a:lnTo>
                <a:cubicBezTo>
                  <a:pt x="152575" y="222941"/>
                  <a:pt x="137194" y="207560"/>
                  <a:pt x="137194" y="188642"/>
                </a:cubicBezTo>
                <a:lnTo>
                  <a:pt x="137194" y="115758"/>
                </a:ln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46" name="Text 43"/>
          <p:cNvSpPr/>
          <p:nvPr/>
        </p:nvSpPr>
        <p:spPr>
          <a:xfrm>
            <a:off x="7496296" y="5474053"/>
            <a:ext cx="4170707" cy="47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52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"Bir İstanbul akşamıdır, yine..."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52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"Yahya Kemal, bu şehri şiirleştiren şairdir."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7532881" y="6063988"/>
            <a:ext cx="4097536" cy="9146"/>
          </a:xfrm>
          <a:custGeom>
            <a:avLst/>
            <a:gdLst/>
            <a:ahLst/>
            <a:cxnLst/>
            <a:rect l="l" t="t" r="r" b="b"/>
            <a:pathLst>
              <a:path w="4097536" h="9146">
                <a:moveTo>
                  <a:pt x="0" y="0"/>
                </a:moveTo>
                <a:lnTo>
                  <a:pt x="4097536" y="0"/>
                </a:lnTo>
                <a:lnTo>
                  <a:pt x="4097536" y="9146"/>
                </a:lnTo>
                <a:lnTo>
                  <a:pt x="0" y="9146"/>
                </a:lnTo>
                <a:lnTo>
                  <a:pt x="0" y="0"/>
                </a:lnTo>
                <a:close/>
              </a:path>
            </a:pathLst>
          </a:custGeom>
          <a:solidFill>
            <a:srgbClr val="A44A3F">
              <a:alpha val="30196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7496296" y="6178317"/>
            <a:ext cx="4170707" cy="47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52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Yahya Kemal, </a:t>
            </a:r>
            <a:pPr algn="ctr">
              <a:lnSpc>
                <a:spcPct val="140000"/>
              </a:lnSpc>
            </a:pPr>
            <a:r>
              <a:rPr lang="en-US" sz="1152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İstanbul ve Boğaz</a:t>
            </a:r>
            <a:pPr algn="ctr">
              <a:lnSpc>
                <a:spcPct val="140000"/>
              </a:lnSpc>
            </a:pPr>
            <a:r>
              <a:rPr lang="en-US" sz="1152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temalarını işleyerek Türk şiirine yeni bir boyut kazandırmıştır.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A44A3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BÖLÜM 06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5D4E37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Necip Fazıl Kısakürek - Çile Şairi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4457700" cy="2514600"/>
          </a:xfrm>
          <a:custGeom>
            <a:avLst/>
            <a:gdLst/>
            <a:ahLst/>
            <a:cxnLst/>
            <a:rect l="l" t="t" r="r" b="b"/>
            <a:pathLst>
              <a:path w="4457700" h="2514600">
                <a:moveTo>
                  <a:pt x="38100" y="0"/>
                </a:moveTo>
                <a:lnTo>
                  <a:pt x="4381508" y="0"/>
                </a:lnTo>
                <a:cubicBezTo>
                  <a:pt x="4423588" y="0"/>
                  <a:pt x="4457700" y="34112"/>
                  <a:pt x="4457700" y="76192"/>
                </a:cubicBezTo>
                <a:lnTo>
                  <a:pt x="4457700" y="2438408"/>
                </a:lnTo>
                <a:cubicBezTo>
                  <a:pt x="4457700" y="2480488"/>
                  <a:pt x="4423588" y="2514600"/>
                  <a:pt x="4381508" y="2514600"/>
                </a:cubicBezTo>
                <a:lnTo>
                  <a:pt x="38100" y="2514600"/>
                </a:lnTo>
                <a:cubicBezTo>
                  <a:pt x="17072" y="2514600"/>
                  <a:pt x="0" y="2497528"/>
                  <a:pt x="0" y="2476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19200"/>
            <a:ext cx="38100" cy="2514600"/>
          </a:xfrm>
          <a:custGeom>
            <a:avLst/>
            <a:gdLst/>
            <a:ahLst/>
            <a:cxnLst/>
            <a:rect l="l" t="t" r="r" b="b"/>
            <a:pathLst>
              <a:path w="38100" h="2514600">
                <a:moveTo>
                  <a:pt x="38100" y="0"/>
                </a:moveTo>
                <a:lnTo>
                  <a:pt x="38100" y="0"/>
                </a:lnTo>
                <a:lnTo>
                  <a:pt x="38100" y="2514600"/>
                </a:lnTo>
                <a:lnTo>
                  <a:pt x="38100" y="2514600"/>
                </a:lnTo>
                <a:cubicBezTo>
                  <a:pt x="17072" y="2514600"/>
                  <a:pt x="0" y="2497528"/>
                  <a:pt x="0" y="2476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pic>
        <p:nvPicPr>
          <p:cNvPr id="6" name="Image 0" descr="https://kimi-web-img.moonshot.cn/img/kahramanmaras.ktb.gov.tr/d1255bd88f2e8e135de21a23cbbd0a5e6b57ddd3.png">    </p:cNvPr>
          <p:cNvPicPr>
            <a:picLocks noChangeAspect="1"/>
          </p:cNvPicPr>
          <p:nvPr/>
        </p:nvPicPr>
        <p:blipFill>
          <a:blip r:embed="rId1"/>
          <a:srcRect l="0" r="0" t="12688" b="12688"/>
          <a:stretch/>
        </p:blipFill>
        <p:spPr>
          <a:xfrm>
            <a:off x="609600" y="1409700"/>
            <a:ext cx="914400" cy="914400"/>
          </a:xfrm>
          <a:prstGeom prst="roundRect">
            <a:avLst>
              <a:gd name="adj" fmla="val 8333"/>
            </a:avLst>
          </a:prstGeom>
        </p:spPr>
      </p:pic>
      <p:sp>
        <p:nvSpPr>
          <p:cNvPr id="7" name="Text 4"/>
          <p:cNvSpPr/>
          <p:nvPr/>
        </p:nvSpPr>
        <p:spPr>
          <a:xfrm>
            <a:off x="1676400" y="1504950"/>
            <a:ext cx="2200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5D4E37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Necip Fazıl Kısakürek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76400" y="1809750"/>
            <a:ext cx="2162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1904 - 1983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76400" y="2038350"/>
            <a:ext cx="2152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A44A3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Çile Şairi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09600" y="2438400"/>
            <a:ext cx="4133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Necip Fazıl Kısakürek, Türk edebiyatının en çok tartışılan ve en etkili şairlerinden biridir.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"Kaldırımlar Şairi"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olarak da anılır.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09600" y="3048000"/>
            <a:ext cx="4133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Şiir, tiyatro, roman, deneme ve hatırat türlerinde eserler vermiştir. 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A44A3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Tasavvufi ve metafizik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yönü güçlüdür.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81000" y="3886200"/>
            <a:ext cx="4476750" cy="2590800"/>
          </a:xfrm>
          <a:custGeom>
            <a:avLst/>
            <a:gdLst/>
            <a:ahLst/>
            <a:cxnLst/>
            <a:rect l="l" t="t" r="r" b="b"/>
            <a:pathLst>
              <a:path w="4476750" h="2590800">
                <a:moveTo>
                  <a:pt x="76195" y="0"/>
                </a:moveTo>
                <a:lnTo>
                  <a:pt x="4400555" y="0"/>
                </a:lnTo>
                <a:cubicBezTo>
                  <a:pt x="4442608" y="0"/>
                  <a:pt x="4476750" y="34142"/>
                  <a:pt x="4476750" y="76195"/>
                </a:cubicBezTo>
                <a:lnTo>
                  <a:pt x="4476750" y="2514605"/>
                </a:lnTo>
                <a:cubicBezTo>
                  <a:pt x="4476750" y="2556686"/>
                  <a:pt x="4442636" y="2590800"/>
                  <a:pt x="4400555" y="2590800"/>
                </a:cubicBezTo>
                <a:lnTo>
                  <a:pt x="76195" y="2590800"/>
                </a:lnTo>
                <a:cubicBezTo>
                  <a:pt x="34142" y="2590800"/>
                  <a:pt x="0" y="2556658"/>
                  <a:pt x="0" y="2514605"/>
                </a:cubicBezTo>
                <a:lnTo>
                  <a:pt x="0" y="76195"/>
                </a:lnTo>
                <a:cubicBezTo>
                  <a:pt x="0" y="34142"/>
                  <a:pt x="34142" y="0"/>
                  <a:pt x="76195" y="0"/>
                </a:cubicBez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13" name="Text 10"/>
          <p:cNvSpPr/>
          <p:nvPr/>
        </p:nvSpPr>
        <p:spPr>
          <a:xfrm>
            <a:off x="571500" y="4076700"/>
            <a:ext cx="419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8F5F2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Edebi Kişiliği ve Özellikleri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71500" y="4495800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66675" y="88106"/>
                </a:moveTo>
                <a:cubicBezTo>
                  <a:pt x="66675" y="92065"/>
                  <a:pt x="63490" y="95250"/>
                  <a:pt x="59531" y="95250"/>
                </a:cubicBezTo>
                <a:cubicBezTo>
                  <a:pt x="55572" y="95250"/>
                  <a:pt x="52388" y="92065"/>
                  <a:pt x="52388" y="88106"/>
                </a:cubicBezTo>
                <a:lnTo>
                  <a:pt x="52388" y="54590"/>
                </a:lnTo>
                <a:lnTo>
                  <a:pt x="78641" y="18961"/>
                </a:lnTo>
                <a:cubicBezTo>
                  <a:pt x="82540" y="13662"/>
                  <a:pt x="81409" y="6221"/>
                  <a:pt x="76111" y="2322"/>
                </a:cubicBezTo>
                <a:cubicBezTo>
                  <a:pt x="70812" y="-1578"/>
                  <a:pt x="63371" y="-446"/>
                  <a:pt x="59472" y="4852"/>
                </a:cubicBezTo>
                <a:lnTo>
                  <a:pt x="31700" y="42535"/>
                </a:lnTo>
                <a:cubicBezTo>
                  <a:pt x="26581" y="49470"/>
                  <a:pt x="23813" y="57894"/>
                  <a:pt x="23813" y="66556"/>
                </a:cubicBezTo>
                <a:lnTo>
                  <a:pt x="23813" y="99506"/>
                </a:lnTo>
                <a:lnTo>
                  <a:pt x="6519" y="105281"/>
                </a:lnTo>
                <a:cubicBezTo>
                  <a:pt x="2619" y="106561"/>
                  <a:pt x="0" y="110192"/>
                  <a:pt x="0" y="114300"/>
                </a:cubicBezTo>
                <a:lnTo>
                  <a:pt x="0" y="142875"/>
                </a:lnTo>
                <a:cubicBezTo>
                  <a:pt x="0" y="145852"/>
                  <a:pt x="1399" y="148679"/>
                  <a:pt x="3780" y="150465"/>
                </a:cubicBezTo>
                <a:cubicBezTo>
                  <a:pt x="6161" y="152251"/>
                  <a:pt x="9257" y="152846"/>
                  <a:pt x="12144" y="152013"/>
                </a:cubicBezTo>
                <a:lnTo>
                  <a:pt x="58103" y="138886"/>
                </a:lnTo>
                <a:cubicBezTo>
                  <a:pt x="74474" y="134213"/>
                  <a:pt x="85725" y="119271"/>
                  <a:pt x="85725" y="102245"/>
                </a:cubicBezTo>
                <a:lnTo>
                  <a:pt x="85725" y="66675"/>
                </a:lnTo>
                <a:cubicBezTo>
                  <a:pt x="85725" y="61406"/>
                  <a:pt x="81469" y="57150"/>
                  <a:pt x="76200" y="57150"/>
                </a:cubicBezTo>
                <a:cubicBezTo>
                  <a:pt x="70931" y="57150"/>
                  <a:pt x="66675" y="61406"/>
                  <a:pt x="66675" y="66675"/>
                </a:cubicBezTo>
                <a:lnTo>
                  <a:pt x="66675" y="88106"/>
                </a:lnTo>
                <a:close/>
                <a:moveTo>
                  <a:pt x="123825" y="88106"/>
                </a:moveTo>
                <a:lnTo>
                  <a:pt x="123825" y="66675"/>
                </a:lnTo>
                <a:cubicBezTo>
                  <a:pt x="123825" y="61406"/>
                  <a:pt x="119569" y="57150"/>
                  <a:pt x="114300" y="57150"/>
                </a:cubicBezTo>
                <a:cubicBezTo>
                  <a:pt x="109031" y="57150"/>
                  <a:pt x="104775" y="61406"/>
                  <a:pt x="104775" y="66675"/>
                </a:cubicBezTo>
                <a:lnTo>
                  <a:pt x="104775" y="102275"/>
                </a:lnTo>
                <a:cubicBezTo>
                  <a:pt x="104775" y="119301"/>
                  <a:pt x="116056" y="134243"/>
                  <a:pt x="132398" y="138916"/>
                </a:cubicBezTo>
                <a:lnTo>
                  <a:pt x="178356" y="152043"/>
                </a:lnTo>
                <a:cubicBezTo>
                  <a:pt x="181243" y="152876"/>
                  <a:pt x="184309" y="152281"/>
                  <a:pt x="186720" y="150495"/>
                </a:cubicBezTo>
                <a:cubicBezTo>
                  <a:pt x="189131" y="148709"/>
                  <a:pt x="190500" y="145852"/>
                  <a:pt x="190500" y="142875"/>
                </a:cubicBezTo>
                <a:lnTo>
                  <a:pt x="190500" y="114300"/>
                </a:lnTo>
                <a:cubicBezTo>
                  <a:pt x="190500" y="110192"/>
                  <a:pt x="187881" y="106561"/>
                  <a:pt x="183981" y="105251"/>
                </a:cubicBezTo>
                <a:lnTo>
                  <a:pt x="166688" y="99477"/>
                </a:lnTo>
                <a:lnTo>
                  <a:pt x="166688" y="66526"/>
                </a:lnTo>
                <a:cubicBezTo>
                  <a:pt x="166688" y="57894"/>
                  <a:pt x="163919" y="49470"/>
                  <a:pt x="158800" y="42505"/>
                </a:cubicBezTo>
                <a:lnTo>
                  <a:pt x="131028" y="4852"/>
                </a:lnTo>
                <a:cubicBezTo>
                  <a:pt x="127129" y="-446"/>
                  <a:pt x="119688" y="-1578"/>
                  <a:pt x="114389" y="2322"/>
                </a:cubicBezTo>
                <a:cubicBezTo>
                  <a:pt x="109091" y="6221"/>
                  <a:pt x="107960" y="13662"/>
                  <a:pt x="111859" y="18961"/>
                </a:cubicBezTo>
                <a:lnTo>
                  <a:pt x="138113" y="54590"/>
                </a:lnTo>
                <a:lnTo>
                  <a:pt x="138113" y="88106"/>
                </a:lnTo>
                <a:cubicBezTo>
                  <a:pt x="138113" y="92065"/>
                  <a:pt x="134928" y="95250"/>
                  <a:pt x="130969" y="95250"/>
                </a:cubicBezTo>
                <a:cubicBezTo>
                  <a:pt x="127010" y="95250"/>
                  <a:pt x="123825" y="92065"/>
                  <a:pt x="123825" y="88106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15" name="Text 12"/>
          <p:cNvSpPr/>
          <p:nvPr/>
        </p:nvSpPr>
        <p:spPr>
          <a:xfrm>
            <a:off x="838200" y="445770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Tasavvufi Yön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8200" y="4686300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5F2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Mistik ve dini temalar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697480" y="44958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645" y="9525"/>
                </a:moveTo>
                <a:lnTo>
                  <a:pt x="43964" y="9525"/>
                </a:lnTo>
                <a:cubicBezTo>
                  <a:pt x="35213" y="9525"/>
                  <a:pt x="27563" y="15508"/>
                  <a:pt x="25479" y="23991"/>
                </a:cubicBezTo>
                <a:lnTo>
                  <a:pt x="417" y="125164"/>
                </a:lnTo>
                <a:cubicBezTo>
                  <a:pt x="-1816" y="134154"/>
                  <a:pt x="5001" y="142875"/>
                  <a:pt x="14288" y="142875"/>
                </a:cubicBezTo>
                <a:lnTo>
                  <a:pt x="66645" y="142875"/>
                </a:lnTo>
                <a:lnTo>
                  <a:pt x="66645" y="123825"/>
                </a:lnTo>
                <a:cubicBezTo>
                  <a:pt x="66645" y="118556"/>
                  <a:pt x="70902" y="114300"/>
                  <a:pt x="76170" y="114300"/>
                </a:cubicBezTo>
                <a:cubicBezTo>
                  <a:pt x="81439" y="114300"/>
                  <a:pt x="85695" y="118556"/>
                  <a:pt x="85695" y="123825"/>
                </a:cubicBezTo>
                <a:lnTo>
                  <a:pt x="85695" y="142875"/>
                </a:lnTo>
                <a:lnTo>
                  <a:pt x="138113" y="142875"/>
                </a:lnTo>
                <a:cubicBezTo>
                  <a:pt x="147399" y="142875"/>
                  <a:pt x="154216" y="134154"/>
                  <a:pt x="151983" y="125164"/>
                </a:cubicBezTo>
                <a:lnTo>
                  <a:pt x="126950" y="23991"/>
                </a:lnTo>
                <a:cubicBezTo>
                  <a:pt x="124837" y="15508"/>
                  <a:pt x="117217" y="9525"/>
                  <a:pt x="108436" y="9525"/>
                </a:cubicBezTo>
                <a:lnTo>
                  <a:pt x="85695" y="9525"/>
                </a:lnTo>
                <a:lnTo>
                  <a:pt x="85695" y="28575"/>
                </a:lnTo>
                <a:cubicBezTo>
                  <a:pt x="85695" y="33844"/>
                  <a:pt x="81439" y="38100"/>
                  <a:pt x="76170" y="38100"/>
                </a:cubicBezTo>
                <a:cubicBezTo>
                  <a:pt x="70902" y="38100"/>
                  <a:pt x="66645" y="33844"/>
                  <a:pt x="66645" y="28575"/>
                </a:cubicBezTo>
                <a:lnTo>
                  <a:pt x="66645" y="9525"/>
                </a:lnTo>
                <a:close/>
                <a:moveTo>
                  <a:pt x="85695" y="66675"/>
                </a:moveTo>
                <a:lnTo>
                  <a:pt x="85695" y="85725"/>
                </a:lnTo>
                <a:cubicBezTo>
                  <a:pt x="85695" y="90994"/>
                  <a:pt x="81439" y="95250"/>
                  <a:pt x="76170" y="95250"/>
                </a:cubicBezTo>
                <a:cubicBezTo>
                  <a:pt x="70902" y="95250"/>
                  <a:pt x="66645" y="90994"/>
                  <a:pt x="66645" y="85725"/>
                </a:cubicBezTo>
                <a:lnTo>
                  <a:pt x="66645" y="66675"/>
                </a:lnTo>
                <a:cubicBezTo>
                  <a:pt x="66645" y="61406"/>
                  <a:pt x="70902" y="57150"/>
                  <a:pt x="76170" y="57150"/>
                </a:cubicBezTo>
                <a:cubicBezTo>
                  <a:pt x="81439" y="57150"/>
                  <a:pt x="85695" y="61406"/>
                  <a:pt x="85695" y="66675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18" name="Text 15"/>
          <p:cNvSpPr/>
          <p:nvPr/>
        </p:nvSpPr>
        <p:spPr>
          <a:xfrm>
            <a:off x="2945130" y="4457700"/>
            <a:ext cx="133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Kaldırımlar Şairi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945130" y="4686300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5F2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Şehir ve sokak temaları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81025" y="50292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-1488" y="35123"/>
                </a:moveTo>
                <a:lnTo>
                  <a:pt x="6995" y="83254"/>
                </a:lnTo>
                <a:cubicBezTo>
                  <a:pt x="11162" y="106918"/>
                  <a:pt x="29706" y="125462"/>
                  <a:pt x="53370" y="129629"/>
                </a:cubicBezTo>
                <a:lnTo>
                  <a:pt x="57150" y="130284"/>
                </a:lnTo>
                <a:cubicBezTo>
                  <a:pt x="52239" y="121771"/>
                  <a:pt x="49084" y="112216"/>
                  <a:pt x="48042" y="102156"/>
                </a:cubicBezTo>
                <a:lnTo>
                  <a:pt x="40868" y="103436"/>
                </a:lnTo>
                <a:cubicBezTo>
                  <a:pt x="37981" y="103942"/>
                  <a:pt x="35272" y="101709"/>
                  <a:pt x="35838" y="98822"/>
                </a:cubicBezTo>
                <a:cubicBezTo>
                  <a:pt x="37267" y="91470"/>
                  <a:pt x="41523" y="84951"/>
                  <a:pt x="47655" y="80695"/>
                </a:cubicBezTo>
                <a:lnTo>
                  <a:pt x="47655" y="58489"/>
                </a:lnTo>
                <a:cubicBezTo>
                  <a:pt x="47238" y="58728"/>
                  <a:pt x="46762" y="58876"/>
                  <a:pt x="46256" y="58966"/>
                </a:cubicBezTo>
                <a:lnTo>
                  <a:pt x="27503" y="62270"/>
                </a:lnTo>
                <a:cubicBezTo>
                  <a:pt x="24914" y="62716"/>
                  <a:pt x="22354" y="60960"/>
                  <a:pt x="22771" y="58370"/>
                </a:cubicBezTo>
                <a:cubicBezTo>
                  <a:pt x="23693" y="52536"/>
                  <a:pt x="28248" y="47655"/>
                  <a:pt x="34409" y="46553"/>
                </a:cubicBezTo>
                <a:cubicBezTo>
                  <a:pt x="39529" y="45660"/>
                  <a:pt x="44500" y="47595"/>
                  <a:pt x="47685" y="51256"/>
                </a:cubicBezTo>
                <a:lnTo>
                  <a:pt x="47685" y="44500"/>
                </a:lnTo>
                <a:cubicBezTo>
                  <a:pt x="47685" y="37802"/>
                  <a:pt x="49738" y="28902"/>
                  <a:pt x="57299" y="22652"/>
                </a:cubicBezTo>
                <a:cubicBezTo>
                  <a:pt x="65038" y="16252"/>
                  <a:pt x="77450" y="9585"/>
                  <a:pt x="94476" y="6519"/>
                </a:cubicBezTo>
                <a:cubicBezTo>
                  <a:pt x="85398" y="1667"/>
                  <a:pt x="68788" y="-3006"/>
                  <a:pt x="45720" y="1042"/>
                </a:cubicBezTo>
                <a:cubicBezTo>
                  <a:pt x="21818" y="5269"/>
                  <a:pt x="7620" y="15954"/>
                  <a:pt x="1042" y="23693"/>
                </a:cubicBezTo>
                <a:cubicBezTo>
                  <a:pt x="-1637" y="26819"/>
                  <a:pt x="-2173" y="31105"/>
                  <a:pt x="-1459" y="35153"/>
                </a:cubicBezTo>
                <a:close/>
                <a:moveTo>
                  <a:pt x="61912" y="41285"/>
                </a:moveTo>
                <a:lnTo>
                  <a:pt x="61912" y="93315"/>
                </a:lnTo>
                <a:cubicBezTo>
                  <a:pt x="61912" y="117336"/>
                  <a:pt x="76944" y="138827"/>
                  <a:pt x="99536" y="147012"/>
                </a:cubicBezTo>
                <a:lnTo>
                  <a:pt x="107781" y="150019"/>
                </a:lnTo>
                <a:cubicBezTo>
                  <a:pt x="111978" y="151537"/>
                  <a:pt x="116592" y="151537"/>
                  <a:pt x="120789" y="150019"/>
                </a:cubicBezTo>
                <a:lnTo>
                  <a:pt x="129064" y="147042"/>
                </a:lnTo>
                <a:cubicBezTo>
                  <a:pt x="151656" y="138827"/>
                  <a:pt x="166688" y="117366"/>
                  <a:pt x="166688" y="93315"/>
                </a:cubicBezTo>
                <a:lnTo>
                  <a:pt x="166688" y="41285"/>
                </a:lnTo>
                <a:cubicBezTo>
                  <a:pt x="166688" y="39231"/>
                  <a:pt x="166062" y="37177"/>
                  <a:pt x="164604" y="35749"/>
                </a:cubicBezTo>
                <a:cubicBezTo>
                  <a:pt x="157877" y="29051"/>
                  <a:pt x="141327" y="19080"/>
                  <a:pt x="114300" y="19080"/>
                </a:cubicBezTo>
                <a:cubicBezTo>
                  <a:pt x="87273" y="19080"/>
                  <a:pt x="70723" y="29081"/>
                  <a:pt x="63996" y="35749"/>
                </a:cubicBezTo>
                <a:cubicBezTo>
                  <a:pt x="62538" y="37207"/>
                  <a:pt x="61912" y="39231"/>
                  <a:pt x="61912" y="41285"/>
                </a:cubicBezTo>
                <a:close/>
                <a:moveTo>
                  <a:pt x="81588" y="96976"/>
                </a:moveTo>
                <a:cubicBezTo>
                  <a:pt x="81171" y="94893"/>
                  <a:pt x="83671" y="93702"/>
                  <a:pt x="85368" y="95012"/>
                </a:cubicBezTo>
                <a:cubicBezTo>
                  <a:pt x="93375" y="101144"/>
                  <a:pt x="103406" y="104805"/>
                  <a:pt x="114300" y="104805"/>
                </a:cubicBezTo>
                <a:cubicBezTo>
                  <a:pt x="125194" y="104805"/>
                  <a:pt x="135195" y="101144"/>
                  <a:pt x="143232" y="95012"/>
                </a:cubicBezTo>
                <a:cubicBezTo>
                  <a:pt x="144929" y="93702"/>
                  <a:pt x="147429" y="94893"/>
                  <a:pt x="147012" y="96976"/>
                </a:cubicBezTo>
                <a:cubicBezTo>
                  <a:pt x="144006" y="112276"/>
                  <a:pt x="130493" y="123855"/>
                  <a:pt x="114300" y="123855"/>
                </a:cubicBezTo>
                <a:cubicBezTo>
                  <a:pt x="98108" y="123855"/>
                  <a:pt x="84594" y="112306"/>
                  <a:pt x="81588" y="96976"/>
                </a:cubicBezTo>
                <a:close/>
                <a:moveTo>
                  <a:pt x="81736" y="66764"/>
                </a:moveTo>
                <a:cubicBezTo>
                  <a:pt x="83701" y="61168"/>
                  <a:pt x="88999" y="57150"/>
                  <a:pt x="95250" y="57150"/>
                </a:cubicBezTo>
                <a:cubicBezTo>
                  <a:pt x="101501" y="57150"/>
                  <a:pt x="106829" y="61168"/>
                  <a:pt x="108764" y="66764"/>
                </a:cubicBezTo>
                <a:cubicBezTo>
                  <a:pt x="109627" y="69265"/>
                  <a:pt x="107424" y="71438"/>
                  <a:pt x="104775" y="71438"/>
                </a:cubicBezTo>
                <a:lnTo>
                  <a:pt x="85725" y="71438"/>
                </a:lnTo>
                <a:cubicBezTo>
                  <a:pt x="83106" y="71438"/>
                  <a:pt x="80873" y="69235"/>
                  <a:pt x="81736" y="66764"/>
                </a:cubicBezTo>
                <a:close/>
                <a:moveTo>
                  <a:pt x="142875" y="71438"/>
                </a:moveTo>
                <a:lnTo>
                  <a:pt x="123825" y="71438"/>
                </a:lnTo>
                <a:cubicBezTo>
                  <a:pt x="121206" y="71438"/>
                  <a:pt x="118973" y="69235"/>
                  <a:pt x="119836" y="66764"/>
                </a:cubicBezTo>
                <a:cubicBezTo>
                  <a:pt x="121771" y="61168"/>
                  <a:pt x="127099" y="57150"/>
                  <a:pt x="133350" y="57150"/>
                </a:cubicBezTo>
                <a:cubicBezTo>
                  <a:pt x="139601" y="57150"/>
                  <a:pt x="144929" y="61168"/>
                  <a:pt x="146864" y="66764"/>
                </a:cubicBezTo>
                <a:cubicBezTo>
                  <a:pt x="147727" y="69265"/>
                  <a:pt x="145524" y="71438"/>
                  <a:pt x="142875" y="71438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21" name="Text 18"/>
          <p:cNvSpPr/>
          <p:nvPr/>
        </p:nvSpPr>
        <p:spPr>
          <a:xfrm>
            <a:off x="838200" y="4991100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Tiyatro Eserleri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38200" y="5219700"/>
            <a:ext cx="177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5F2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Türkiye'nin ilk absürt tiyatrosu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2707005" y="50292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47774" y="-7858"/>
                </a:moveTo>
                <a:cubicBezTo>
                  <a:pt x="50542" y="-10180"/>
                  <a:pt x="54620" y="-10091"/>
                  <a:pt x="57269" y="-7590"/>
                </a:cubicBezTo>
                <a:cubicBezTo>
                  <a:pt x="60930" y="-4137"/>
                  <a:pt x="64204" y="-327"/>
                  <a:pt x="67360" y="3542"/>
                </a:cubicBezTo>
                <a:cubicBezTo>
                  <a:pt x="71378" y="8453"/>
                  <a:pt x="76200" y="14942"/>
                  <a:pt x="80843" y="22652"/>
                </a:cubicBezTo>
                <a:cubicBezTo>
                  <a:pt x="82391" y="20628"/>
                  <a:pt x="83820" y="18842"/>
                  <a:pt x="85070" y="17324"/>
                </a:cubicBezTo>
                <a:cubicBezTo>
                  <a:pt x="85398" y="16937"/>
                  <a:pt x="85725" y="16520"/>
                  <a:pt x="86052" y="16103"/>
                </a:cubicBezTo>
                <a:cubicBezTo>
                  <a:pt x="88404" y="13186"/>
                  <a:pt x="91321" y="9525"/>
                  <a:pt x="95220" y="9525"/>
                </a:cubicBezTo>
                <a:cubicBezTo>
                  <a:pt x="99209" y="9525"/>
                  <a:pt x="102007" y="13067"/>
                  <a:pt x="104388" y="16103"/>
                </a:cubicBezTo>
                <a:cubicBezTo>
                  <a:pt x="104775" y="16609"/>
                  <a:pt x="105162" y="17085"/>
                  <a:pt x="105549" y="17532"/>
                </a:cubicBezTo>
                <a:cubicBezTo>
                  <a:pt x="108615" y="21223"/>
                  <a:pt x="112693" y="26551"/>
                  <a:pt x="116771" y="33129"/>
                </a:cubicBezTo>
                <a:cubicBezTo>
                  <a:pt x="124867" y="46196"/>
                  <a:pt x="133320" y="64800"/>
                  <a:pt x="133320" y="85695"/>
                </a:cubicBezTo>
                <a:cubicBezTo>
                  <a:pt x="133320" y="122515"/>
                  <a:pt x="103465" y="152370"/>
                  <a:pt x="66645" y="152370"/>
                </a:cubicBezTo>
                <a:cubicBezTo>
                  <a:pt x="29825" y="152370"/>
                  <a:pt x="0" y="122545"/>
                  <a:pt x="0" y="85725"/>
                </a:cubicBezTo>
                <a:cubicBezTo>
                  <a:pt x="0" y="58609"/>
                  <a:pt x="12234" y="35123"/>
                  <a:pt x="23961" y="18752"/>
                </a:cubicBezTo>
                <a:cubicBezTo>
                  <a:pt x="29885" y="10507"/>
                  <a:pt x="35778" y="3899"/>
                  <a:pt x="40213" y="-625"/>
                </a:cubicBezTo>
                <a:cubicBezTo>
                  <a:pt x="42654" y="-3125"/>
                  <a:pt x="45125" y="-5596"/>
                  <a:pt x="47804" y="-7828"/>
                </a:cubicBezTo>
                <a:close/>
                <a:moveTo>
                  <a:pt x="67181" y="123825"/>
                </a:moveTo>
                <a:cubicBezTo>
                  <a:pt x="74712" y="123825"/>
                  <a:pt x="81379" y="121741"/>
                  <a:pt x="87660" y="117574"/>
                </a:cubicBezTo>
                <a:cubicBezTo>
                  <a:pt x="100191" y="108823"/>
                  <a:pt x="103555" y="91321"/>
                  <a:pt x="96024" y="77569"/>
                </a:cubicBezTo>
                <a:cubicBezTo>
                  <a:pt x="94684" y="74890"/>
                  <a:pt x="91261" y="74712"/>
                  <a:pt x="89327" y="76974"/>
                </a:cubicBezTo>
                <a:lnTo>
                  <a:pt x="81826" y="85695"/>
                </a:lnTo>
                <a:cubicBezTo>
                  <a:pt x="79861" y="87957"/>
                  <a:pt x="76319" y="87898"/>
                  <a:pt x="74474" y="85546"/>
                </a:cubicBezTo>
                <a:cubicBezTo>
                  <a:pt x="69324" y="78968"/>
                  <a:pt x="59859" y="66973"/>
                  <a:pt x="55037" y="60841"/>
                </a:cubicBezTo>
                <a:cubicBezTo>
                  <a:pt x="53429" y="58787"/>
                  <a:pt x="50512" y="58460"/>
                  <a:pt x="48637" y="60275"/>
                </a:cubicBezTo>
                <a:cubicBezTo>
                  <a:pt x="43190" y="65574"/>
                  <a:pt x="33308" y="77182"/>
                  <a:pt x="33308" y="91321"/>
                </a:cubicBezTo>
                <a:cubicBezTo>
                  <a:pt x="33308" y="111740"/>
                  <a:pt x="48369" y="123825"/>
                  <a:pt x="67151" y="123825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24" name="Text 21"/>
          <p:cNvSpPr/>
          <p:nvPr/>
        </p:nvSpPr>
        <p:spPr>
          <a:xfrm>
            <a:off x="2945130" y="4991100"/>
            <a:ext cx="733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Çile Şiiri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2945130" y="5219700"/>
            <a:ext cx="723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5F2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En ünlü şiiri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090160" y="1219200"/>
            <a:ext cx="6724650" cy="2933700"/>
          </a:xfrm>
          <a:custGeom>
            <a:avLst/>
            <a:gdLst/>
            <a:ahLst/>
            <a:cxnLst/>
            <a:rect l="l" t="t" r="r" b="b"/>
            <a:pathLst>
              <a:path w="6724650" h="2933700">
                <a:moveTo>
                  <a:pt x="76188" y="0"/>
                </a:moveTo>
                <a:lnTo>
                  <a:pt x="6648462" y="0"/>
                </a:lnTo>
                <a:cubicBezTo>
                  <a:pt x="6690539" y="0"/>
                  <a:pt x="6724650" y="34111"/>
                  <a:pt x="6724650" y="76188"/>
                </a:cubicBezTo>
                <a:lnTo>
                  <a:pt x="6724650" y="2857512"/>
                </a:lnTo>
                <a:cubicBezTo>
                  <a:pt x="6724650" y="2899589"/>
                  <a:pt x="6690539" y="2933700"/>
                  <a:pt x="6648462" y="2933700"/>
                </a:cubicBezTo>
                <a:lnTo>
                  <a:pt x="76188" y="2933700"/>
                </a:lnTo>
                <a:cubicBezTo>
                  <a:pt x="34111" y="2933700"/>
                  <a:pt x="0" y="2899589"/>
                  <a:pt x="0" y="2857512"/>
                </a:cubicBezTo>
                <a:lnTo>
                  <a:pt x="0" y="76188"/>
                </a:lnTo>
                <a:cubicBezTo>
                  <a:pt x="0" y="34139"/>
                  <a:pt x="34139" y="0"/>
                  <a:pt x="76188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5280660" y="1409700"/>
            <a:ext cx="6438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D4E37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Önemli Eserleri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5299710" y="1790700"/>
            <a:ext cx="3095625" cy="647700"/>
          </a:xfrm>
          <a:custGeom>
            <a:avLst/>
            <a:gdLst/>
            <a:ahLst/>
            <a:cxnLst/>
            <a:rect l="l" t="t" r="r" b="b"/>
            <a:pathLst>
              <a:path w="3095625" h="647700">
                <a:moveTo>
                  <a:pt x="38098" y="0"/>
                </a:moveTo>
                <a:lnTo>
                  <a:pt x="3057527" y="0"/>
                </a:lnTo>
                <a:cubicBezTo>
                  <a:pt x="3078554" y="0"/>
                  <a:pt x="3095625" y="17071"/>
                  <a:pt x="3095625" y="38098"/>
                </a:cubicBezTo>
                <a:lnTo>
                  <a:pt x="3095625" y="609602"/>
                </a:lnTo>
                <a:cubicBezTo>
                  <a:pt x="3095625" y="630643"/>
                  <a:pt x="3078568" y="647700"/>
                  <a:pt x="305752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29" name="Shape 26"/>
          <p:cNvSpPr/>
          <p:nvPr/>
        </p:nvSpPr>
        <p:spPr>
          <a:xfrm>
            <a:off x="5299710" y="17907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30" name="Text 27"/>
          <p:cNvSpPr/>
          <p:nvPr/>
        </p:nvSpPr>
        <p:spPr>
          <a:xfrm>
            <a:off x="5433060" y="1905000"/>
            <a:ext cx="2924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Örümcek Ağı (1925)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433060" y="2133600"/>
            <a:ext cx="2914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İlk şiir kitabı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8526780" y="1790700"/>
            <a:ext cx="3095625" cy="647700"/>
          </a:xfrm>
          <a:custGeom>
            <a:avLst/>
            <a:gdLst/>
            <a:ahLst/>
            <a:cxnLst/>
            <a:rect l="l" t="t" r="r" b="b"/>
            <a:pathLst>
              <a:path w="3095625" h="647700">
                <a:moveTo>
                  <a:pt x="38098" y="0"/>
                </a:moveTo>
                <a:lnTo>
                  <a:pt x="3057527" y="0"/>
                </a:lnTo>
                <a:cubicBezTo>
                  <a:pt x="3078554" y="0"/>
                  <a:pt x="3095625" y="17071"/>
                  <a:pt x="3095625" y="38098"/>
                </a:cubicBezTo>
                <a:lnTo>
                  <a:pt x="3095625" y="609602"/>
                </a:lnTo>
                <a:cubicBezTo>
                  <a:pt x="3095625" y="630643"/>
                  <a:pt x="3078568" y="647700"/>
                  <a:pt x="305752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33" name="Shape 30"/>
          <p:cNvSpPr/>
          <p:nvPr/>
        </p:nvSpPr>
        <p:spPr>
          <a:xfrm>
            <a:off x="8526780" y="17907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34" name="Text 31"/>
          <p:cNvSpPr/>
          <p:nvPr/>
        </p:nvSpPr>
        <p:spPr>
          <a:xfrm>
            <a:off x="8660130" y="1905000"/>
            <a:ext cx="2924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Kaldırımlar (1928)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8660130" y="2133600"/>
            <a:ext cx="2914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İkinci şiir kitabı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5299710" y="2552700"/>
            <a:ext cx="3095625" cy="647700"/>
          </a:xfrm>
          <a:custGeom>
            <a:avLst/>
            <a:gdLst/>
            <a:ahLst/>
            <a:cxnLst/>
            <a:rect l="l" t="t" r="r" b="b"/>
            <a:pathLst>
              <a:path w="3095625" h="647700">
                <a:moveTo>
                  <a:pt x="38098" y="0"/>
                </a:moveTo>
                <a:lnTo>
                  <a:pt x="3057527" y="0"/>
                </a:lnTo>
                <a:cubicBezTo>
                  <a:pt x="3078554" y="0"/>
                  <a:pt x="3095625" y="17071"/>
                  <a:pt x="3095625" y="38098"/>
                </a:cubicBezTo>
                <a:lnTo>
                  <a:pt x="3095625" y="609602"/>
                </a:lnTo>
                <a:cubicBezTo>
                  <a:pt x="3095625" y="630643"/>
                  <a:pt x="3078568" y="647700"/>
                  <a:pt x="305752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37" name="Shape 34"/>
          <p:cNvSpPr/>
          <p:nvPr/>
        </p:nvSpPr>
        <p:spPr>
          <a:xfrm>
            <a:off x="5299710" y="25527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A817C"/>
          </a:solidFill>
          <a:ln/>
        </p:spPr>
      </p:sp>
      <p:sp>
        <p:nvSpPr>
          <p:cNvPr id="38" name="Text 35"/>
          <p:cNvSpPr/>
          <p:nvPr/>
        </p:nvSpPr>
        <p:spPr>
          <a:xfrm>
            <a:off x="5433060" y="2667000"/>
            <a:ext cx="2924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Ben ve Ötesi (1932)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5433060" y="2895600"/>
            <a:ext cx="2914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Üçüncü şiir kitabı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8526780" y="2552700"/>
            <a:ext cx="3095625" cy="647700"/>
          </a:xfrm>
          <a:custGeom>
            <a:avLst/>
            <a:gdLst/>
            <a:ahLst/>
            <a:cxnLst/>
            <a:rect l="l" t="t" r="r" b="b"/>
            <a:pathLst>
              <a:path w="3095625" h="647700">
                <a:moveTo>
                  <a:pt x="38098" y="0"/>
                </a:moveTo>
                <a:lnTo>
                  <a:pt x="3057527" y="0"/>
                </a:lnTo>
                <a:cubicBezTo>
                  <a:pt x="3078554" y="0"/>
                  <a:pt x="3095625" y="17071"/>
                  <a:pt x="3095625" y="38098"/>
                </a:cubicBezTo>
                <a:lnTo>
                  <a:pt x="3095625" y="609602"/>
                </a:lnTo>
                <a:cubicBezTo>
                  <a:pt x="3095625" y="630643"/>
                  <a:pt x="3078568" y="647700"/>
                  <a:pt x="305752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41" name="Shape 38"/>
          <p:cNvSpPr/>
          <p:nvPr/>
        </p:nvSpPr>
        <p:spPr>
          <a:xfrm>
            <a:off x="8526780" y="25527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42" name="Text 39"/>
          <p:cNvSpPr/>
          <p:nvPr/>
        </p:nvSpPr>
        <p:spPr>
          <a:xfrm>
            <a:off x="8660130" y="2667000"/>
            <a:ext cx="2924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Sonsuzluk Kervanı (1955)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8660130" y="2895600"/>
            <a:ext cx="2914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Dördüncü şiir kitabı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5299710" y="3314700"/>
            <a:ext cx="3095625" cy="647700"/>
          </a:xfrm>
          <a:custGeom>
            <a:avLst/>
            <a:gdLst/>
            <a:ahLst/>
            <a:cxnLst/>
            <a:rect l="l" t="t" r="r" b="b"/>
            <a:pathLst>
              <a:path w="3095625" h="647700">
                <a:moveTo>
                  <a:pt x="38098" y="0"/>
                </a:moveTo>
                <a:lnTo>
                  <a:pt x="3057527" y="0"/>
                </a:lnTo>
                <a:cubicBezTo>
                  <a:pt x="3078554" y="0"/>
                  <a:pt x="3095625" y="17071"/>
                  <a:pt x="3095625" y="38098"/>
                </a:cubicBezTo>
                <a:lnTo>
                  <a:pt x="3095625" y="609602"/>
                </a:lnTo>
                <a:cubicBezTo>
                  <a:pt x="3095625" y="630643"/>
                  <a:pt x="3078568" y="647700"/>
                  <a:pt x="305752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45" name="Shape 42"/>
          <p:cNvSpPr/>
          <p:nvPr/>
        </p:nvSpPr>
        <p:spPr>
          <a:xfrm>
            <a:off x="5299710" y="33147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46" name="Text 43"/>
          <p:cNvSpPr/>
          <p:nvPr/>
        </p:nvSpPr>
        <p:spPr>
          <a:xfrm>
            <a:off x="5433060" y="3429000"/>
            <a:ext cx="2924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Çile (1962)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5433060" y="3657600"/>
            <a:ext cx="2914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En ünlü şiiri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8526780" y="3314700"/>
            <a:ext cx="3095625" cy="647700"/>
          </a:xfrm>
          <a:custGeom>
            <a:avLst/>
            <a:gdLst/>
            <a:ahLst/>
            <a:cxnLst/>
            <a:rect l="l" t="t" r="r" b="b"/>
            <a:pathLst>
              <a:path w="3095625" h="647700">
                <a:moveTo>
                  <a:pt x="38098" y="0"/>
                </a:moveTo>
                <a:lnTo>
                  <a:pt x="3057527" y="0"/>
                </a:lnTo>
                <a:cubicBezTo>
                  <a:pt x="3078554" y="0"/>
                  <a:pt x="3095625" y="17071"/>
                  <a:pt x="3095625" y="38098"/>
                </a:cubicBezTo>
                <a:lnTo>
                  <a:pt x="3095625" y="609602"/>
                </a:lnTo>
                <a:cubicBezTo>
                  <a:pt x="3095625" y="630643"/>
                  <a:pt x="3078568" y="647700"/>
                  <a:pt x="3057527" y="647700"/>
                </a:cubicBezTo>
                <a:lnTo>
                  <a:pt x="38098" y="647700"/>
                </a:lnTo>
                <a:cubicBezTo>
                  <a:pt x="17071" y="647700"/>
                  <a:pt x="0" y="630629"/>
                  <a:pt x="0" y="6096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49" name="Shape 46"/>
          <p:cNvSpPr/>
          <p:nvPr/>
        </p:nvSpPr>
        <p:spPr>
          <a:xfrm>
            <a:off x="8526780" y="3314700"/>
            <a:ext cx="38100" cy="647700"/>
          </a:xfrm>
          <a:custGeom>
            <a:avLst/>
            <a:gdLst/>
            <a:ahLst/>
            <a:cxnLst/>
            <a:rect l="l" t="t" r="r" b="b"/>
            <a:pathLst>
              <a:path w="38100" h="647700">
                <a:moveTo>
                  <a:pt x="38100" y="0"/>
                </a:moveTo>
                <a:lnTo>
                  <a:pt x="38100" y="0"/>
                </a:lnTo>
                <a:lnTo>
                  <a:pt x="38100" y="647700"/>
                </a:lnTo>
                <a:lnTo>
                  <a:pt x="38100" y="647700"/>
                </a:lnTo>
                <a:cubicBezTo>
                  <a:pt x="17072" y="647700"/>
                  <a:pt x="0" y="630628"/>
                  <a:pt x="0" y="609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A817C"/>
          </a:solidFill>
          <a:ln/>
        </p:spPr>
      </p:sp>
      <p:sp>
        <p:nvSpPr>
          <p:cNvPr id="50" name="Text 47"/>
          <p:cNvSpPr/>
          <p:nvPr/>
        </p:nvSpPr>
        <p:spPr>
          <a:xfrm>
            <a:off x="8660130" y="3429000"/>
            <a:ext cx="2924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Tiyatro Eserleri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8660130" y="3657600"/>
            <a:ext cx="2914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Bir Adam Yaratmak, Reis Bey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5099685" y="4314825"/>
            <a:ext cx="6705600" cy="2152650"/>
          </a:xfrm>
          <a:custGeom>
            <a:avLst/>
            <a:gdLst/>
            <a:ahLst/>
            <a:cxnLst/>
            <a:rect l="l" t="t" r="r" b="b"/>
            <a:pathLst>
              <a:path w="6705600" h="2152650">
                <a:moveTo>
                  <a:pt x="76204" y="0"/>
                </a:moveTo>
                <a:lnTo>
                  <a:pt x="6629396" y="0"/>
                </a:lnTo>
                <a:cubicBezTo>
                  <a:pt x="6671482" y="0"/>
                  <a:pt x="6705600" y="34118"/>
                  <a:pt x="6705600" y="76204"/>
                </a:cubicBezTo>
                <a:lnTo>
                  <a:pt x="6705600" y="2076446"/>
                </a:lnTo>
                <a:cubicBezTo>
                  <a:pt x="6705600" y="2118532"/>
                  <a:pt x="6671482" y="2152650"/>
                  <a:pt x="6629396" y="2152650"/>
                </a:cubicBezTo>
                <a:lnTo>
                  <a:pt x="76204" y="2152650"/>
                </a:lnTo>
                <a:cubicBezTo>
                  <a:pt x="34118" y="2152650"/>
                  <a:pt x="0" y="2118532"/>
                  <a:pt x="0" y="207644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A44A3F">
              <a:alpha val="10196"/>
            </a:srgbClr>
          </a:solidFill>
          <a:ln w="25400">
            <a:solidFill>
              <a:srgbClr val="A44A3F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8327946" y="4688681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0" y="120551"/>
                </a:moveTo>
                <a:cubicBezTo>
                  <a:pt x="0" y="83548"/>
                  <a:pt x="29970" y="53578"/>
                  <a:pt x="66973" y="53578"/>
                </a:cubicBezTo>
                <a:lnTo>
                  <a:pt x="71438" y="53578"/>
                </a:lnTo>
                <a:cubicBezTo>
                  <a:pt x="81316" y="53578"/>
                  <a:pt x="89297" y="61559"/>
                  <a:pt x="89297" y="71438"/>
                </a:cubicBezTo>
                <a:cubicBezTo>
                  <a:pt x="89297" y="81316"/>
                  <a:pt x="81316" y="89297"/>
                  <a:pt x="71438" y="89297"/>
                </a:cubicBezTo>
                <a:lnTo>
                  <a:pt x="66973" y="89297"/>
                </a:lnTo>
                <a:cubicBezTo>
                  <a:pt x="49727" y="89297"/>
                  <a:pt x="35719" y="103305"/>
                  <a:pt x="35719" y="120551"/>
                </a:cubicBezTo>
                <a:lnTo>
                  <a:pt x="35719" y="125016"/>
                </a:lnTo>
                <a:lnTo>
                  <a:pt x="71438" y="125016"/>
                </a:lnTo>
                <a:cubicBezTo>
                  <a:pt x="91139" y="125016"/>
                  <a:pt x="107156" y="141033"/>
                  <a:pt x="107156" y="160734"/>
                </a:cubicBezTo>
                <a:lnTo>
                  <a:pt x="107156" y="196453"/>
                </a:lnTo>
                <a:cubicBezTo>
                  <a:pt x="107156" y="216154"/>
                  <a:pt x="91139" y="232172"/>
                  <a:pt x="71438" y="232172"/>
                </a:cubicBezTo>
                <a:lnTo>
                  <a:pt x="35719" y="232172"/>
                </a:lnTo>
                <a:cubicBezTo>
                  <a:pt x="16018" y="232172"/>
                  <a:pt x="0" y="216154"/>
                  <a:pt x="0" y="196453"/>
                </a:cubicBezTo>
                <a:lnTo>
                  <a:pt x="0" y="120551"/>
                </a:lnTo>
                <a:close/>
                <a:moveTo>
                  <a:pt x="142875" y="120551"/>
                </a:moveTo>
                <a:cubicBezTo>
                  <a:pt x="142875" y="83548"/>
                  <a:pt x="172845" y="53578"/>
                  <a:pt x="209848" y="53578"/>
                </a:cubicBezTo>
                <a:lnTo>
                  <a:pt x="214313" y="53578"/>
                </a:lnTo>
                <a:cubicBezTo>
                  <a:pt x="224191" y="53578"/>
                  <a:pt x="232172" y="61559"/>
                  <a:pt x="232172" y="71438"/>
                </a:cubicBezTo>
                <a:cubicBezTo>
                  <a:pt x="232172" y="81316"/>
                  <a:pt x="224191" y="89297"/>
                  <a:pt x="214313" y="89297"/>
                </a:cubicBezTo>
                <a:lnTo>
                  <a:pt x="209848" y="89297"/>
                </a:lnTo>
                <a:cubicBezTo>
                  <a:pt x="192602" y="89297"/>
                  <a:pt x="178594" y="103305"/>
                  <a:pt x="178594" y="120551"/>
                </a:cubicBezTo>
                <a:lnTo>
                  <a:pt x="178594" y="125016"/>
                </a:lnTo>
                <a:lnTo>
                  <a:pt x="214313" y="125016"/>
                </a:lnTo>
                <a:cubicBezTo>
                  <a:pt x="234014" y="125016"/>
                  <a:pt x="250031" y="141033"/>
                  <a:pt x="250031" y="160734"/>
                </a:cubicBezTo>
                <a:lnTo>
                  <a:pt x="250031" y="196453"/>
                </a:lnTo>
                <a:cubicBezTo>
                  <a:pt x="250031" y="216154"/>
                  <a:pt x="234014" y="232172"/>
                  <a:pt x="214313" y="232172"/>
                </a:cubicBezTo>
                <a:lnTo>
                  <a:pt x="178594" y="232172"/>
                </a:lnTo>
                <a:cubicBezTo>
                  <a:pt x="158893" y="232172"/>
                  <a:pt x="142875" y="216154"/>
                  <a:pt x="142875" y="196453"/>
                </a:cubicBezTo>
                <a:lnTo>
                  <a:pt x="142875" y="120551"/>
                </a:ln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54" name="Text 51"/>
          <p:cNvSpPr/>
          <p:nvPr/>
        </p:nvSpPr>
        <p:spPr>
          <a:xfrm>
            <a:off x="5261610" y="5112544"/>
            <a:ext cx="63817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"Beni benden alıp bana döndüren..."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"Ey gökten inme örtüm, çilem, kaderim!"</a:t>
            </a:r>
            <a:endParaRPr lang="en-US" sz="1600" dirty="0"/>
          </a:p>
        </p:txBody>
      </p:sp>
      <p:sp>
        <p:nvSpPr>
          <p:cNvPr id="55" name="Shape 52"/>
          <p:cNvSpPr/>
          <p:nvPr/>
        </p:nvSpPr>
        <p:spPr>
          <a:xfrm>
            <a:off x="5299710" y="5726906"/>
            <a:ext cx="6305550" cy="9525"/>
          </a:xfrm>
          <a:custGeom>
            <a:avLst/>
            <a:gdLst/>
            <a:ahLst/>
            <a:cxnLst/>
            <a:rect l="l" t="t" r="r" b="b"/>
            <a:pathLst>
              <a:path w="6305550" h="9525">
                <a:moveTo>
                  <a:pt x="0" y="0"/>
                </a:moveTo>
                <a:lnTo>
                  <a:pt x="6305550" y="0"/>
                </a:lnTo>
                <a:lnTo>
                  <a:pt x="63055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A44A3F">
              <a:alpha val="30196"/>
            </a:srgbClr>
          </a:solidFill>
          <a:ln/>
        </p:spPr>
      </p:sp>
      <p:sp>
        <p:nvSpPr>
          <p:cNvPr id="56" name="Text 53"/>
          <p:cNvSpPr/>
          <p:nvPr/>
        </p:nvSpPr>
        <p:spPr>
          <a:xfrm>
            <a:off x="5261610" y="5845969"/>
            <a:ext cx="63817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Çile</a:t>
            </a:r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şiiri, Necip Fazıl'ın en ünlü ve en çok bilinen şiiridir. </a:t>
            </a:r>
            <a:pPr algn="ctr">
              <a:lnSpc>
                <a:spcPct val="140000"/>
              </a:lnSpc>
            </a:pPr>
            <a:r>
              <a:rPr lang="en-US" sz="1200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Tasavvufi ve metafizik</a:t>
            </a:r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temalar işler.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851" y="365851"/>
            <a:ext cx="11533467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spc="115" kern="0" dirty="0">
                <a:solidFill>
                  <a:srgbClr val="A44A3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BÖLÜM 07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5851" y="658533"/>
            <a:ext cx="11624930" cy="365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93" dirty="0">
                <a:solidFill>
                  <a:srgbClr val="5D4E37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Ahmet Hamdi Tanpınar - Zaman Şairi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4144" y="1170725"/>
            <a:ext cx="6731667" cy="2414620"/>
          </a:xfrm>
          <a:custGeom>
            <a:avLst/>
            <a:gdLst/>
            <a:ahLst/>
            <a:cxnLst/>
            <a:rect l="l" t="t" r="r" b="b"/>
            <a:pathLst>
              <a:path w="6731667" h="2414620">
                <a:moveTo>
                  <a:pt x="36585" y="0"/>
                </a:moveTo>
                <a:lnTo>
                  <a:pt x="6658504" y="0"/>
                </a:lnTo>
                <a:cubicBezTo>
                  <a:pt x="6698911" y="0"/>
                  <a:pt x="6731667" y="32756"/>
                  <a:pt x="6731667" y="73163"/>
                </a:cubicBezTo>
                <a:lnTo>
                  <a:pt x="6731667" y="2341457"/>
                </a:lnTo>
                <a:cubicBezTo>
                  <a:pt x="6731667" y="2381863"/>
                  <a:pt x="6698911" y="2414620"/>
                  <a:pt x="6658504" y="2414620"/>
                </a:cubicBezTo>
                <a:lnTo>
                  <a:pt x="36585" y="2414620"/>
                </a:lnTo>
                <a:cubicBezTo>
                  <a:pt x="16380" y="2414620"/>
                  <a:pt x="0" y="2398240"/>
                  <a:pt x="0" y="2378035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84144" y="1170725"/>
            <a:ext cx="36585" cy="2414620"/>
          </a:xfrm>
          <a:custGeom>
            <a:avLst/>
            <a:gdLst/>
            <a:ahLst/>
            <a:cxnLst/>
            <a:rect l="l" t="t" r="r" b="b"/>
            <a:pathLst>
              <a:path w="36585" h="2414620">
                <a:moveTo>
                  <a:pt x="36585" y="0"/>
                </a:moveTo>
                <a:lnTo>
                  <a:pt x="36585" y="0"/>
                </a:lnTo>
                <a:lnTo>
                  <a:pt x="36585" y="2414620"/>
                </a:lnTo>
                <a:lnTo>
                  <a:pt x="36585" y="2414620"/>
                </a:lnTo>
                <a:cubicBezTo>
                  <a:pt x="16380" y="2414620"/>
                  <a:pt x="0" y="2398240"/>
                  <a:pt x="0" y="2378035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5D4E37"/>
          </a:solidFill>
          <a:ln/>
        </p:spPr>
      </p:sp>
      <p:pic>
        <p:nvPicPr>
          <p:cNvPr id="6" name="Image 0" descr="https://kimi-web-img.moonshot.cn/img/upload.wikimedia.org/83008f9a5e4595461518a15d1b1ebaf6c199948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362" y="1353650"/>
            <a:ext cx="878044" cy="878044"/>
          </a:xfrm>
          <a:prstGeom prst="roundRect">
            <a:avLst>
              <a:gd name="adj" fmla="val 8333"/>
            </a:avLst>
          </a:prstGeom>
        </p:spPr>
      </p:pic>
      <p:sp>
        <p:nvSpPr>
          <p:cNvPr id="7" name="Text 4"/>
          <p:cNvSpPr/>
          <p:nvPr/>
        </p:nvSpPr>
        <p:spPr>
          <a:xfrm>
            <a:off x="1609746" y="1445113"/>
            <a:ext cx="2387181" cy="292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8" dirty="0">
                <a:solidFill>
                  <a:srgbClr val="5D4E37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Ahmet Hamdi Tanpınar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9746" y="1737794"/>
            <a:ext cx="2350596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1901 - 1962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09746" y="1957305"/>
            <a:ext cx="2341449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b="1" dirty="0">
                <a:solidFill>
                  <a:srgbClr val="A44A3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Zaman Şairi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85362" y="2341449"/>
            <a:ext cx="6420693" cy="47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Ahmet Hamdi Tanpınar, </a:t>
            </a:r>
            <a:pPr>
              <a:lnSpc>
                <a:spcPct val="140000"/>
              </a:lnSpc>
            </a:pPr>
            <a:r>
              <a:rPr lang="en-US" sz="1152" b="1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şair, romancı, denemeci ve akademisyen</a:t>
            </a:r>
            <a:pPr>
              <a:lnSpc>
                <a:spcPct val="140000"/>
              </a:lnSpc>
            </a:pPr>
            <a:r>
              <a:rPr lang="en-US" sz="1152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olarak çok yönlü bir edebiyatçıdır. "Zaman Şairi" olarak anılır.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5362" y="2926812"/>
            <a:ext cx="6420693" cy="47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2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Yahya Kemal Beyatlı ve Ahmet Haşim'den etkilenmiştir. </a:t>
            </a:r>
            <a:pPr>
              <a:lnSpc>
                <a:spcPct val="140000"/>
              </a:lnSpc>
            </a:pPr>
            <a:r>
              <a:rPr lang="en-US" sz="1152" dirty="0">
                <a:solidFill>
                  <a:srgbClr val="A44A3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Hece ölçüsü</a:t>
            </a:r>
            <a:pPr>
              <a:lnSpc>
                <a:spcPct val="140000"/>
              </a:lnSpc>
            </a:pPr>
            <a:r>
              <a:rPr lang="en-US" sz="1152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kullanarak modern şiir yazan önemli şairlerdendir.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65851" y="3731685"/>
            <a:ext cx="6749959" cy="3128030"/>
          </a:xfrm>
          <a:custGeom>
            <a:avLst/>
            <a:gdLst/>
            <a:ahLst/>
            <a:cxnLst/>
            <a:rect l="l" t="t" r="r" b="b"/>
            <a:pathLst>
              <a:path w="6749959" h="3128030">
                <a:moveTo>
                  <a:pt x="73165" y="0"/>
                </a:moveTo>
                <a:lnTo>
                  <a:pt x="6676795" y="0"/>
                </a:lnTo>
                <a:cubicBezTo>
                  <a:pt x="6717203" y="0"/>
                  <a:pt x="6749959" y="32757"/>
                  <a:pt x="6749959" y="73165"/>
                </a:cubicBezTo>
                <a:lnTo>
                  <a:pt x="6749959" y="3054865"/>
                </a:lnTo>
                <a:cubicBezTo>
                  <a:pt x="6749959" y="3095273"/>
                  <a:pt x="6717203" y="3128030"/>
                  <a:pt x="6676795" y="3128030"/>
                </a:cubicBezTo>
                <a:lnTo>
                  <a:pt x="73165" y="3128030"/>
                </a:lnTo>
                <a:cubicBezTo>
                  <a:pt x="32757" y="3128030"/>
                  <a:pt x="0" y="3095273"/>
                  <a:pt x="0" y="3054865"/>
                </a:cubicBezTo>
                <a:lnTo>
                  <a:pt x="0" y="73165"/>
                </a:lnTo>
                <a:cubicBezTo>
                  <a:pt x="0" y="32784"/>
                  <a:pt x="32784" y="0"/>
                  <a:pt x="73165" y="0"/>
                </a:cubicBez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13" name="Text 10"/>
          <p:cNvSpPr/>
          <p:nvPr/>
        </p:nvSpPr>
        <p:spPr>
          <a:xfrm>
            <a:off x="548777" y="3914611"/>
            <a:ext cx="6475571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dirty="0">
                <a:solidFill>
                  <a:srgbClr val="F8F5F2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Edebi Kişiliği ve Özellikleri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67070" y="4317047"/>
            <a:ext cx="146341" cy="146341"/>
          </a:xfrm>
          <a:custGeom>
            <a:avLst/>
            <a:gdLst/>
            <a:ahLst/>
            <a:cxnLst/>
            <a:rect l="l" t="t" r="r" b="b"/>
            <a:pathLst>
              <a:path w="146341" h="146341">
                <a:moveTo>
                  <a:pt x="73170" y="0"/>
                </a:moveTo>
                <a:cubicBezTo>
                  <a:pt x="113554" y="0"/>
                  <a:pt x="146341" y="32787"/>
                  <a:pt x="146341" y="73170"/>
                </a:cubicBezTo>
                <a:cubicBezTo>
                  <a:pt x="146341" y="113554"/>
                  <a:pt x="113554" y="146341"/>
                  <a:pt x="73170" y="146341"/>
                </a:cubicBezTo>
                <a:cubicBezTo>
                  <a:pt x="32787" y="146341"/>
                  <a:pt x="0" y="113554"/>
                  <a:pt x="0" y="73170"/>
                </a:cubicBezTo>
                <a:cubicBezTo>
                  <a:pt x="0" y="32787"/>
                  <a:pt x="32787" y="0"/>
                  <a:pt x="73170" y="0"/>
                </a:cubicBezTo>
                <a:close/>
                <a:moveTo>
                  <a:pt x="66311" y="34299"/>
                </a:moveTo>
                <a:lnTo>
                  <a:pt x="66311" y="73170"/>
                </a:lnTo>
                <a:cubicBezTo>
                  <a:pt x="66311" y="75457"/>
                  <a:pt x="67454" y="77601"/>
                  <a:pt x="69369" y="78887"/>
                </a:cubicBezTo>
                <a:lnTo>
                  <a:pt x="96808" y="97179"/>
                </a:lnTo>
                <a:cubicBezTo>
                  <a:pt x="99952" y="99294"/>
                  <a:pt x="104211" y="98437"/>
                  <a:pt x="106326" y="95264"/>
                </a:cubicBezTo>
                <a:cubicBezTo>
                  <a:pt x="108441" y="92092"/>
                  <a:pt x="107583" y="87862"/>
                  <a:pt x="104411" y="85746"/>
                </a:cubicBezTo>
                <a:lnTo>
                  <a:pt x="80030" y="69512"/>
                </a:lnTo>
                <a:lnTo>
                  <a:pt x="80030" y="34299"/>
                </a:lnTo>
                <a:cubicBezTo>
                  <a:pt x="80030" y="30497"/>
                  <a:pt x="76972" y="27439"/>
                  <a:pt x="73170" y="27439"/>
                </a:cubicBezTo>
                <a:cubicBezTo>
                  <a:pt x="69369" y="27439"/>
                  <a:pt x="66311" y="30497"/>
                  <a:pt x="66311" y="34299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15" name="Text 12"/>
          <p:cNvSpPr/>
          <p:nvPr/>
        </p:nvSpPr>
        <p:spPr>
          <a:xfrm>
            <a:off x="804873" y="4280462"/>
            <a:ext cx="1015238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Zaman Teması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4873" y="4499973"/>
            <a:ext cx="1006092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F8F5F2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Zaman ve hafıza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21318" y="4317047"/>
            <a:ext cx="128048" cy="146341"/>
          </a:xfrm>
          <a:custGeom>
            <a:avLst/>
            <a:gdLst/>
            <a:ahLst/>
            <a:cxnLst/>
            <a:rect l="l" t="t" r="r" b="b"/>
            <a:pathLst>
              <a:path w="128048" h="146341">
                <a:moveTo>
                  <a:pt x="109755" y="146341"/>
                </a:moveTo>
                <a:lnTo>
                  <a:pt x="27439" y="146341"/>
                </a:lnTo>
                <a:cubicBezTo>
                  <a:pt x="12290" y="146341"/>
                  <a:pt x="0" y="134050"/>
                  <a:pt x="0" y="118902"/>
                </a:cubicBezTo>
                <a:lnTo>
                  <a:pt x="0" y="27439"/>
                </a:lnTo>
                <a:cubicBezTo>
                  <a:pt x="0" y="12290"/>
                  <a:pt x="12290" y="0"/>
                  <a:pt x="27439" y="0"/>
                </a:cubicBezTo>
                <a:lnTo>
                  <a:pt x="114329" y="0"/>
                </a:lnTo>
                <a:cubicBezTo>
                  <a:pt x="121903" y="0"/>
                  <a:pt x="128048" y="6145"/>
                  <a:pt x="128048" y="13719"/>
                </a:cubicBezTo>
                <a:lnTo>
                  <a:pt x="128048" y="96036"/>
                </a:lnTo>
                <a:cubicBezTo>
                  <a:pt x="128048" y="102010"/>
                  <a:pt x="124218" y="107097"/>
                  <a:pt x="118902" y="108984"/>
                </a:cubicBezTo>
                <a:lnTo>
                  <a:pt x="118902" y="128048"/>
                </a:lnTo>
                <a:cubicBezTo>
                  <a:pt x="123961" y="128048"/>
                  <a:pt x="128048" y="132135"/>
                  <a:pt x="128048" y="137194"/>
                </a:cubicBezTo>
                <a:cubicBezTo>
                  <a:pt x="128048" y="142253"/>
                  <a:pt x="123961" y="146341"/>
                  <a:pt x="118902" y="146341"/>
                </a:cubicBezTo>
                <a:lnTo>
                  <a:pt x="109755" y="146341"/>
                </a:lnTo>
                <a:close/>
                <a:moveTo>
                  <a:pt x="27439" y="109755"/>
                </a:moveTo>
                <a:cubicBezTo>
                  <a:pt x="22380" y="109755"/>
                  <a:pt x="18293" y="113843"/>
                  <a:pt x="18293" y="118902"/>
                </a:cubicBezTo>
                <a:cubicBezTo>
                  <a:pt x="18293" y="123961"/>
                  <a:pt x="22380" y="128048"/>
                  <a:pt x="27439" y="128048"/>
                </a:cubicBezTo>
                <a:lnTo>
                  <a:pt x="100609" y="128048"/>
                </a:lnTo>
                <a:lnTo>
                  <a:pt x="100609" y="109755"/>
                </a:lnTo>
                <a:lnTo>
                  <a:pt x="27439" y="109755"/>
                </a:lnTo>
                <a:close/>
                <a:moveTo>
                  <a:pt x="36585" y="43445"/>
                </a:moveTo>
                <a:cubicBezTo>
                  <a:pt x="36585" y="47246"/>
                  <a:pt x="39643" y="50305"/>
                  <a:pt x="43445" y="50305"/>
                </a:cubicBezTo>
                <a:lnTo>
                  <a:pt x="93749" y="50305"/>
                </a:lnTo>
                <a:cubicBezTo>
                  <a:pt x="97551" y="50305"/>
                  <a:pt x="100609" y="47246"/>
                  <a:pt x="100609" y="43445"/>
                </a:cubicBezTo>
                <a:cubicBezTo>
                  <a:pt x="100609" y="39643"/>
                  <a:pt x="97551" y="36585"/>
                  <a:pt x="93749" y="36585"/>
                </a:cubicBezTo>
                <a:lnTo>
                  <a:pt x="43445" y="36585"/>
                </a:lnTo>
                <a:cubicBezTo>
                  <a:pt x="39643" y="36585"/>
                  <a:pt x="36585" y="39643"/>
                  <a:pt x="36585" y="43445"/>
                </a:cubicBezTo>
                <a:close/>
                <a:moveTo>
                  <a:pt x="43445" y="64024"/>
                </a:moveTo>
                <a:cubicBezTo>
                  <a:pt x="39643" y="64024"/>
                  <a:pt x="36585" y="67082"/>
                  <a:pt x="36585" y="70884"/>
                </a:cubicBezTo>
                <a:cubicBezTo>
                  <a:pt x="36585" y="74685"/>
                  <a:pt x="39643" y="77743"/>
                  <a:pt x="43445" y="77743"/>
                </a:cubicBezTo>
                <a:lnTo>
                  <a:pt x="93749" y="77743"/>
                </a:lnTo>
                <a:cubicBezTo>
                  <a:pt x="97551" y="77743"/>
                  <a:pt x="100609" y="74685"/>
                  <a:pt x="100609" y="70884"/>
                </a:cubicBezTo>
                <a:cubicBezTo>
                  <a:pt x="100609" y="67082"/>
                  <a:pt x="97551" y="64024"/>
                  <a:pt x="93749" y="64024"/>
                </a:cubicBezTo>
                <a:lnTo>
                  <a:pt x="43445" y="64024"/>
                </a:ln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18" name="Text 15"/>
          <p:cNvSpPr/>
          <p:nvPr/>
        </p:nvSpPr>
        <p:spPr>
          <a:xfrm>
            <a:off x="4049976" y="4280462"/>
            <a:ext cx="1408528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Romanları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049976" y="4499973"/>
            <a:ext cx="1399382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F8F5F2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Huzur, Saatleri Ayarlama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67070" y="4829239"/>
            <a:ext cx="146341" cy="146341"/>
          </a:xfrm>
          <a:custGeom>
            <a:avLst/>
            <a:gdLst/>
            <a:ahLst/>
            <a:cxnLst/>
            <a:rect l="l" t="t" r="r" b="b"/>
            <a:pathLst>
              <a:path w="146341" h="146341">
                <a:moveTo>
                  <a:pt x="133764" y="2001"/>
                </a:moveTo>
                <a:cubicBezTo>
                  <a:pt x="135937" y="3744"/>
                  <a:pt x="137194" y="6374"/>
                  <a:pt x="137194" y="9146"/>
                </a:cubicBezTo>
                <a:lnTo>
                  <a:pt x="137194" y="96036"/>
                </a:lnTo>
                <a:cubicBezTo>
                  <a:pt x="137194" y="108669"/>
                  <a:pt x="124904" y="118902"/>
                  <a:pt x="109755" y="118902"/>
                </a:cubicBezTo>
                <a:cubicBezTo>
                  <a:pt x="94607" y="118902"/>
                  <a:pt x="82317" y="108669"/>
                  <a:pt x="82317" y="96036"/>
                </a:cubicBezTo>
                <a:cubicBezTo>
                  <a:pt x="82317" y="83403"/>
                  <a:pt x="94607" y="73170"/>
                  <a:pt x="109755" y="73170"/>
                </a:cubicBezTo>
                <a:cubicBezTo>
                  <a:pt x="112957" y="73170"/>
                  <a:pt x="116044" y="73628"/>
                  <a:pt x="118902" y="74485"/>
                </a:cubicBezTo>
                <a:lnTo>
                  <a:pt x="118902" y="41130"/>
                </a:lnTo>
                <a:lnTo>
                  <a:pt x="54878" y="55364"/>
                </a:lnTo>
                <a:lnTo>
                  <a:pt x="54878" y="114329"/>
                </a:lnTo>
                <a:cubicBezTo>
                  <a:pt x="54878" y="126962"/>
                  <a:pt x="42587" y="137194"/>
                  <a:pt x="27439" y="137194"/>
                </a:cubicBezTo>
                <a:cubicBezTo>
                  <a:pt x="12290" y="137194"/>
                  <a:pt x="0" y="126962"/>
                  <a:pt x="0" y="114329"/>
                </a:cubicBezTo>
                <a:cubicBezTo>
                  <a:pt x="0" y="101695"/>
                  <a:pt x="12290" y="91463"/>
                  <a:pt x="27439" y="91463"/>
                </a:cubicBezTo>
                <a:cubicBezTo>
                  <a:pt x="30640" y="91463"/>
                  <a:pt x="33727" y="91920"/>
                  <a:pt x="36585" y="92778"/>
                </a:cubicBezTo>
                <a:lnTo>
                  <a:pt x="36585" y="27439"/>
                </a:lnTo>
                <a:cubicBezTo>
                  <a:pt x="36585" y="23152"/>
                  <a:pt x="39558" y="19436"/>
                  <a:pt x="43759" y="18521"/>
                </a:cubicBezTo>
                <a:lnTo>
                  <a:pt x="126076" y="229"/>
                </a:lnTo>
                <a:cubicBezTo>
                  <a:pt x="128791" y="-372"/>
                  <a:pt x="131621" y="286"/>
                  <a:pt x="133793" y="2029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21" name="Text 18"/>
          <p:cNvSpPr/>
          <p:nvPr/>
        </p:nvSpPr>
        <p:spPr>
          <a:xfrm>
            <a:off x="804873" y="4792654"/>
            <a:ext cx="1134140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Hece Ölçüsü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04873" y="5012165"/>
            <a:ext cx="1124993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F8F5F2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Hece ile modern şiir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812172" y="4829239"/>
            <a:ext cx="146341" cy="146341"/>
          </a:xfrm>
          <a:custGeom>
            <a:avLst/>
            <a:gdLst/>
            <a:ahLst/>
            <a:cxnLst/>
            <a:rect l="l" t="t" r="r" b="b"/>
            <a:pathLst>
              <a:path w="146341" h="146341">
                <a:moveTo>
                  <a:pt x="68226" y="1458"/>
                </a:moveTo>
                <a:cubicBezTo>
                  <a:pt x="71227" y="-486"/>
                  <a:pt x="75114" y="-486"/>
                  <a:pt x="78115" y="1458"/>
                </a:cubicBezTo>
                <a:lnTo>
                  <a:pt x="142139" y="42616"/>
                </a:lnTo>
                <a:cubicBezTo>
                  <a:pt x="145540" y="44817"/>
                  <a:pt x="147112" y="48990"/>
                  <a:pt x="145969" y="52877"/>
                </a:cubicBezTo>
                <a:cubicBezTo>
                  <a:pt x="144826" y="56764"/>
                  <a:pt x="141253" y="59451"/>
                  <a:pt x="137194" y="59451"/>
                </a:cubicBezTo>
                <a:lnTo>
                  <a:pt x="128048" y="59451"/>
                </a:lnTo>
                <a:lnTo>
                  <a:pt x="128048" y="118902"/>
                </a:lnTo>
                <a:lnTo>
                  <a:pt x="142682" y="129877"/>
                </a:lnTo>
                <a:cubicBezTo>
                  <a:pt x="144997" y="131592"/>
                  <a:pt x="146341" y="134308"/>
                  <a:pt x="146341" y="137194"/>
                </a:cubicBezTo>
                <a:cubicBezTo>
                  <a:pt x="146341" y="142253"/>
                  <a:pt x="142253" y="146341"/>
                  <a:pt x="137194" y="146341"/>
                </a:cubicBezTo>
                <a:lnTo>
                  <a:pt x="9146" y="146341"/>
                </a:lnTo>
                <a:cubicBezTo>
                  <a:pt x="4087" y="146341"/>
                  <a:pt x="0" y="142253"/>
                  <a:pt x="0" y="137194"/>
                </a:cubicBezTo>
                <a:cubicBezTo>
                  <a:pt x="0" y="134308"/>
                  <a:pt x="1343" y="131592"/>
                  <a:pt x="3659" y="129877"/>
                </a:cubicBezTo>
                <a:lnTo>
                  <a:pt x="18293" y="118902"/>
                </a:lnTo>
                <a:lnTo>
                  <a:pt x="18293" y="118902"/>
                </a:lnTo>
                <a:lnTo>
                  <a:pt x="18293" y="59451"/>
                </a:lnTo>
                <a:lnTo>
                  <a:pt x="9146" y="59451"/>
                </a:lnTo>
                <a:cubicBezTo>
                  <a:pt x="5088" y="59451"/>
                  <a:pt x="1515" y="56764"/>
                  <a:pt x="372" y="52877"/>
                </a:cubicBezTo>
                <a:cubicBezTo>
                  <a:pt x="-772" y="48990"/>
                  <a:pt x="800" y="44788"/>
                  <a:pt x="4202" y="42616"/>
                </a:cubicBezTo>
                <a:lnTo>
                  <a:pt x="68226" y="1458"/>
                </a:lnTo>
                <a:close/>
                <a:moveTo>
                  <a:pt x="96036" y="59451"/>
                </a:moveTo>
                <a:lnTo>
                  <a:pt x="96036" y="118902"/>
                </a:lnTo>
                <a:lnTo>
                  <a:pt x="114329" y="118902"/>
                </a:lnTo>
                <a:lnTo>
                  <a:pt x="114329" y="59451"/>
                </a:lnTo>
                <a:lnTo>
                  <a:pt x="96036" y="59451"/>
                </a:lnTo>
                <a:close/>
                <a:moveTo>
                  <a:pt x="64024" y="118902"/>
                </a:moveTo>
                <a:lnTo>
                  <a:pt x="82317" y="118902"/>
                </a:lnTo>
                <a:lnTo>
                  <a:pt x="82317" y="59451"/>
                </a:lnTo>
                <a:lnTo>
                  <a:pt x="64024" y="59451"/>
                </a:lnTo>
                <a:lnTo>
                  <a:pt x="64024" y="118902"/>
                </a:lnTo>
                <a:close/>
                <a:moveTo>
                  <a:pt x="32012" y="59451"/>
                </a:moveTo>
                <a:lnTo>
                  <a:pt x="32012" y="118902"/>
                </a:lnTo>
                <a:lnTo>
                  <a:pt x="50305" y="118902"/>
                </a:lnTo>
                <a:lnTo>
                  <a:pt x="50305" y="59451"/>
                </a:lnTo>
                <a:lnTo>
                  <a:pt x="32012" y="59451"/>
                </a:ln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24" name="Text 21"/>
          <p:cNvSpPr/>
          <p:nvPr/>
        </p:nvSpPr>
        <p:spPr>
          <a:xfrm>
            <a:off x="4049976" y="4792654"/>
            <a:ext cx="1179871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Bursa ve İstanbul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049976" y="5012165"/>
            <a:ext cx="1170725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F8F5F2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Şehir temaları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331663" y="1170725"/>
            <a:ext cx="4499973" cy="3548759"/>
          </a:xfrm>
          <a:custGeom>
            <a:avLst/>
            <a:gdLst/>
            <a:ahLst/>
            <a:cxnLst/>
            <a:rect l="l" t="t" r="r" b="b"/>
            <a:pathLst>
              <a:path w="4499973" h="3548759">
                <a:moveTo>
                  <a:pt x="73175" y="0"/>
                </a:moveTo>
                <a:lnTo>
                  <a:pt x="4426798" y="0"/>
                </a:lnTo>
                <a:cubicBezTo>
                  <a:pt x="4467211" y="0"/>
                  <a:pt x="4499973" y="32762"/>
                  <a:pt x="4499973" y="73175"/>
                </a:cubicBezTo>
                <a:lnTo>
                  <a:pt x="4499973" y="3475584"/>
                </a:lnTo>
                <a:cubicBezTo>
                  <a:pt x="4499973" y="3515997"/>
                  <a:pt x="4467211" y="3548759"/>
                  <a:pt x="4426798" y="3548759"/>
                </a:cubicBezTo>
                <a:lnTo>
                  <a:pt x="73175" y="3548759"/>
                </a:lnTo>
                <a:cubicBezTo>
                  <a:pt x="32762" y="3548759"/>
                  <a:pt x="0" y="3515997"/>
                  <a:pt x="0" y="3475584"/>
                </a:cubicBezTo>
                <a:lnTo>
                  <a:pt x="0" y="73175"/>
                </a:lnTo>
                <a:cubicBezTo>
                  <a:pt x="0" y="32762"/>
                  <a:pt x="32762" y="0"/>
                  <a:pt x="73175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4"/>
          <p:cNvSpPr/>
          <p:nvPr/>
        </p:nvSpPr>
        <p:spPr>
          <a:xfrm>
            <a:off x="7514589" y="1353650"/>
            <a:ext cx="4225584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40" dirty="0">
                <a:solidFill>
                  <a:srgbClr val="5D4E37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Önemli Eserleri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532881" y="1719502"/>
            <a:ext cx="4115829" cy="621947"/>
          </a:xfrm>
          <a:custGeom>
            <a:avLst/>
            <a:gdLst/>
            <a:ahLst/>
            <a:cxnLst/>
            <a:rect l="l" t="t" r="r" b="b"/>
            <a:pathLst>
              <a:path w="4115829" h="621947">
                <a:moveTo>
                  <a:pt x="36583" y="0"/>
                </a:moveTo>
                <a:lnTo>
                  <a:pt x="4079246" y="0"/>
                </a:lnTo>
                <a:cubicBezTo>
                  <a:pt x="4099450" y="0"/>
                  <a:pt x="4115829" y="16379"/>
                  <a:pt x="4115829" y="36583"/>
                </a:cubicBezTo>
                <a:lnTo>
                  <a:pt x="4115829" y="585365"/>
                </a:lnTo>
                <a:cubicBezTo>
                  <a:pt x="4115829" y="605569"/>
                  <a:pt x="4099450" y="621947"/>
                  <a:pt x="4079246" y="621947"/>
                </a:cubicBezTo>
                <a:lnTo>
                  <a:pt x="36583" y="621947"/>
                </a:lnTo>
                <a:cubicBezTo>
                  <a:pt x="16379" y="621947"/>
                  <a:pt x="0" y="605569"/>
                  <a:pt x="0" y="585365"/>
                </a:cubicBezTo>
                <a:lnTo>
                  <a:pt x="0" y="36583"/>
                </a:lnTo>
                <a:cubicBezTo>
                  <a:pt x="0" y="16392"/>
                  <a:pt x="16392" y="0"/>
                  <a:pt x="36583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29" name="Shape 26"/>
          <p:cNvSpPr/>
          <p:nvPr/>
        </p:nvSpPr>
        <p:spPr>
          <a:xfrm>
            <a:off x="7532881" y="1719502"/>
            <a:ext cx="36585" cy="621947"/>
          </a:xfrm>
          <a:custGeom>
            <a:avLst/>
            <a:gdLst/>
            <a:ahLst/>
            <a:cxnLst/>
            <a:rect l="l" t="t" r="r" b="b"/>
            <a:pathLst>
              <a:path w="36585" h="621947">
                <a:moveTo>
                  <a:pt x="36585" y="0"/>
                </a:moveTo>
                <a:lnTo>
                  <a:pt x="36585" y="0"/>
                </a:lnTo>
                <a:lnTo>
                  <a:pt x="36585" y="621947"/>
                </a:lnTo>
                <a:lnTo>
                  <a:pt x="36585" y="621947"/>
                </a:lnTo>
                <a:cubicBezTo>
                  <a:pt x="16393" y="621947"/>
                  <a:pt x="0" y="605554"/>
                  <a:pt x="0" y="585362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30" name="Text 27"/>
          <p:cNvSpPr/>
          <p:nvPr/>
        </p:nvSpPr>
        <p:spPr>
          <a:xfrm>
            <a:off x="7660929" y="1829257"/>
            <a:ext cx="3951196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Şiir Kitapları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660929" y="2048768"/>
            <a:ext cx="3942050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Şiirler (1961), Bursa'da Zaman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7532881" y="2451205"/>
            <a:ext cx="4115829" cy="621947"/>
          </a:xfrm>
          <a:custGeom>
            <a:avLst/>
            <a:gdLst/>
            <a:ahLst/>
            <a:cxnLst/>
            <a:rect l="l" t="t" r="r" b="b"/>
            <a:pathLst>
              <a:path w="4115829" h="621947">
                <a:moveTo>
                  <a:pt x="36583" y="0"/>
                </a:moveTo>
                <a:lnTo>
                  <a:pt x="4079246" y="0"/>
                </a:lnTo>
                <a:cubicBezTo>
                  <a:pt x="4099450" y="0"/>
                  <a:pt x="4115829" y="16379"/>
                  <a:pt x="4115829" y="36583"/>
                </a:cubicBezTo>
                <a:lnTo>
                  <a:pt x="4115829" y="585365"/>
                </a:lnTo>
                <a:cubicBezTo>
                  <a:pt x="4115829" y="605569"/>
                  <a:pt x="4099450" y="621947"/>
                  <a:pt x="4079246" y="621947"/>
                </a:cubicBezTo>
                <a:lnTo>
                  <a:pt x="36583" y="621947"/>
                </a:lnTo>
                <a:cubicBezTo>
                  <a:pt x="16379" y="621947"/>
                  <a:pt x="0" y="605569"/>
                  <a:pt x="0" y="585365"/>
                </a:cubicBezTo>
                <a:lnTo>
                  <a:pt x="0" y="36583"/>
                </a:lnTo>
                <a:cubicBezTo>
                  <a:pt x="0" y="16392"/>
                  <a:pt x="16392" y="0"/>
                  <a:pt x="36583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33" name="Shape 30"/>
          <p:cNvSpPr/>
          <p:nvPr/>
        </p:nvSpPr>
        <p:spPr>
          <a:xfrm>
            <a:off x="7532881" y="2451205"/>
            <a:ext cx="36585" cy="621947"/>
          </a:xfrm>
          <a:custGeom>
            <a:avLst/>
            <a:gdLst/>
            <a:ahLst/>
            <a:cxnLst/>
            <a:rect l="l" t="t" r="r" b="b"/>
            <a:pathLst>
              <a:path w="36585" h="621947">
                <a:moveTo>
                  <a:pt x="36585" y="0"/>
                </a:moveTo>
                <a:lnTo>
                  <a:pt x="36585" y="0"/>
                </a:lnTo>
                <a:lnTo>
                  <a:pt x="36585" y="621947"/>
                </a:lnTo>
                <a:lnTo>
                  <a:pt x="36585" y="621947"/>
                </a:lnTo>
                <a:cubicBezTo>
                  <a:pt x="16393" y="621947"/>
                  <a:pt x="0" y="605554"/>
                  <a:pt x="0" y="585362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34" name="Text 31"/>
          <p:cNvSpPr/>
          <p:nvPr/>
        </p:nvSpPr>
        <p:spPr>
          <a:xfrm>
            <a:off x="7660929" y="2560960"/>
            <a:ext cx="3951196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Romanlar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7660929" y="2780471"/>
            <a:ext cx="3942050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Huzur (1949), Saatleri Ayarlama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7532881" y="3182908"/>
            <a:ext cx="4115829" cy="621947"/>
          </a:xfrm>
          <a:custGeom>
            <a:avLst/>
            <a:gdLst/>
            <a:ahLst/>
            <a:cxnLst/>
            <a:rect l="l" t="t" r="r" b="b"/>
            <a:pathLst>
              <a:path w="4115829" h="621947">
                <a:moveTo>
                  <a:pt x="36583" y="0"/>
                </a:moveTo>
                <a:lnTo>
                  <a:pt x="4079246" y="0"/>
                </a:lnTo>
                <a:cubicBezTo>
                  <a:pt x="4099450" y="0"/>
                  <a:pt x="4115829" y="16379"/>
                  <a:pt x="4115829" y="36583"/>
                </a:cubicBezTo>
                <a:lnTo>
                  <a:pt x="4115829" y="585365"/>
                </a:lnTo>
                <a:cubicBezTo>
                  <a:pt x="4115829" y="605569"/>
                  <a:pt x="4099450" y="621947"/>
                  <a:pt x="4079246" y="621947"/>
                </a:cubicBezTo>
                <a:lnTo>
                  <a:pt x="36583" y="621947"/>
                </a:lnTo>
                <a:cubicBezTo>
                  <a:pt x="16379" y="621947"/>
                  <a:pt x="0" y="605569"/>
                  <a:pt x="0" y="585365"/>
                </a:cubicBezTo>
                <a:lnTo>
                  <a:pt x="0" y="36583"/>
                </a:lnTo>
                <a:cubicBezTo>
                  <a:pt x="0" y="16392"/>
                  <a:pt x="16392" y="0"/>
                  <a:pt x="36583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37" name="Shape 34"/>
          <p:cNvSpPr/>
          <p:nvPr/>
        </p:nvSpPr>
        <p:spPr>
          <a:xfrm>
            <a:off x="7532881" y="3182908"/>
            <a:ext cx="36585" cy="621947"/>
          </a:xfrm>
          <a:custGeom>
            <a:avLst/>
            <a:gdLst/>
            <a:ahLst/>
            <a:cxnLst/>
            <a:rect l="l" t="t" r="r" b="b"/>
            <a:pathLst>
              <a:path w="36585" h="621947">
                <a:moveTo>
                  <a:pt x="36585" y="0"/>
                </a:moveTo>
                <a:lnTo>
                  <a:pt x="36585" y="0"/>
                </a:lnTo>
                <a:lnTo>
                  <a:pt x="36585" y="621947"/>
                </a:lnTo>
                <a:lnTo>
                  <a:pt x="36585" y="621947"/>
                </a:lnTo>
                <a:cubicBezTo>
                  <a:pt x="16393" y="621947"/>
                  <a:pt x="0" y="605554"/>
                  <a:pt x="0" y="585362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8A817C"/>
          </a:solidFill>
          <a:ln/>
        </p:spPr>
      </p:sp>
      <p:sp>
        <p:nvSpPr>
          <p:cNvPr id="38" name="Text 35"/>
          <p:cNvSpPr/>
          <p:nvPr/>
        </p:nvSpPr>
        <p:spPr>
          <a:xfrm>
            <a:off x="7660929" y="3292663"/>
            <a:ext cx="3951196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Denemeler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7660929" y="3512174"/>
            <a:ext cx="3942050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Beş Şehir, Yahya Kemal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7532881" y="3914611"/>
            <a:ext cx="4115829" cy="621947"/>
          </a:xfrm>
          <a:custGeom>
            <a:avLst/>
            <a:gdLst/>
            <a:ahLst/>
            <a:cxnLst/>
            <a:rect l="l" t="t" r="r" b="b"/>
            <a:pathLst>
              <a:path w="4115829" h="621947">
                <a:moveTo>
                  <a:pt x="36583" y="0"/>
                </a:moveTo>
                <a:lnTo>
                  <a:pt x="4079246" y="0"/>
                </a:lnTo>
                <a:cubicBezTo>
                  <a:pt x="4099450" y="0"/>
                  <a:pt x="4115829" y="16379"/>
                  <a:pt x="4115829" y="36583"/>
                </a:cubicBezTo>
                <a:lnTo>
                  <a:pt x="4115829" y="585365"/>
                </a:lnTo>
                <a:cubicBezTo>
                  <a:pt x="4115829" y="605569"/>
                  <a:pt x="4099450" y="621947"/>
                  <a:pt x="4079246" y="621947"/>
                </a:cubicBezTo>
                <a:lnTo>
                  <a:pt x="36583" y="621947"/>
                </a:lnTo>
                <a:cubicBezTo>
                  <a:pt x="16379" y="621947"/>
                  <a:pt x="0" y="605569"/>
                  <a:pt x="0" y="585365"/>
                </a:cubicBezTo>
                <a:lnTo>
                  <a:pt x="0" y="36583"/>
                </a:lnTo>
                <a:cubicBezTo>
                  <a:pt x="0" y="16392"/>
                  <a:pt x="16392" y="0"/>
                  <a:pt x="36583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41" name="Shape 38"/>
          <p:cNvSpPr/>
          <p:nvPr/>
        </p:nvSpPr>
        <p:spPr>
          <a:xfrm>
            <a:off x="7532881" y="3914611"/>
            <a:ext cx="36585" cy="621947"/>
          </a:xfrm>
          <a:custGeom>
            <a:avLst/>
            <a:gdLst/>
            <a:ahLst/>
            <a:cxnLst/>
            <a:rect l="l" t="t" r="r" b="b"/>
            <a:pathLst>
              <a:path w="36585" h="621947">
                <a:moveTo>
                  <a:pt x="36585" y="0"/>
                </a:moveTo>
                <a:lnTo>
                  <a:pt x="36585" y="0"/>
                </a:lnTo>
                <a:lnTo>
                  <a:pt x="36585" y="621947"/>
                </a:lnTo>
                <a:lnTo>
                  <a:pt x="36585" y="621947"/>
                </a:lnTo>
                <a:cubicBezTo>
                  <a:pt x="16393" y="621947"/>
                  <a:pt x="0" y="605554"/>
                  <a:pt x="0" y="585362"/>
                </a:cubicBezTo>
                <a:lnTo>
                  <a:pt x="0" y="36585"/>
                </a:lnTo>
                <a:cubicBezTo>
                  <a:pt x="0" y="16393"/>
                  <a:pt x="16393" y="0"/>
                  <a:pt x="36585" y="0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42" name="Text 39"/>
          <p:cNvSpPr/>
          <p:nvPr/>
        </p:nvSpPr>
        <p:spPr>
          <a:xfrm>
            <a:off x="7660929" y="4024366"/>
            <a:ext cx="3951196" cy="219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2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Bursa'da Zaman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660929" y="4243877"/>
            <a:ext cx="3942050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En ünlü şiiri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7331663" y="4792654"/>
            <a:ext cx="4481680" cy="1975598"/>
          </a:xfrm>
          <a:custGeom>
            <a:avLst/>
            <a:gdLst/>
            <a:ahLst/>
            <a:cxnLst/>
            <a:rect l="l" t="t" r="r" b="b"/>
            <a:pathLst>
              <a:path w="4481680" h="1975598">
                <a:moveTo>
                  <a:pt x="73176" y="0"/>
                </a:moveTo>
                <a:lnTo>
                  <a:pt x="4408504" y="0"/>
                </a:lnTo>
                <a:cubicBezTo>
                  <a:pt x="4448918" y="0"/>
                  <a:pt x="4481680" y="32762"/>
                  <a:pt x="4481680" y="73176"/>
                </a:cubicBezTo>
                <a:lnTo>
                  <a:pt x="4481680" y="1902422"/>
                </a:lnTo>
                <a:cubicBezTo>
                  <a:pt x="4481680" y="1942836"/>
                  <a:pt x="4448918" y="1975598"/>
                  <a:pt x="4408504" y="1975598"/>
                </a:cubicBezTo>
                <a:lnTo>
                  <a:pt x="73176" y="1975598"/>
                </a:lnTo>
                <a:cubicBezTo>
                  <a:pt x="32762" y="1975598"/>
                  <a:pt x="0" y="1942836"/>
                  <a:pt x="0" y="1902422"/>
                </a:cubicBezTo>
                <a:lnTo>
                  <a:pt x="0" y="73176"/>
                </a:lnTo>
                <a:cubicBezTo>
                  <a:pt x="0" y="32789"/>
                  <a:pt x="32789" y="0"/>
                  <a:pt x="73176" y="0"/>
                </a:cubicBezTo>
                <a:close/>
              </a:path>
            </a:pathLst>
          </a:custGeom>
          <a:solidFill>
            <a:srgbClr val="A44A3F">
              <a:alpha val="10196"/>
            </a:srgbClr>
          </a:solidFill>
          <a:ln w="25400">
            <a:solidFill>
              <a:srgbClr val="A44A3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462672" y="5067043"/>
            <a:ext cx="240090" cy="274389"/>
          </a:xfrm>
          <a:custGeom>
            <a:avLst/>
            <a:gdLst/>
            <a:ahLst/>
            <a:cxnLst/>
            <a:rect l="l" t="t" r="r" b="b"/>
            <a:pathLst>
              <a:path w="240090" h="274389">
                <a:moveTo>
                  <a:pt x="0" y="115758"/>
                </a:moveTo>
                <a:cubicBezTo>
                  <a:pt x="0" y="80227"/>
                  <a:pt x="28779" y="51448"/>
                  <a:pt x="64310" y="51448"/>
                </a:cubicBezTo>
                <a:lnTo>
                  <a:pt x="68597" y="51448"/>
                </a:lnTo>
                <a:cubicBezTo>
                  <a:pt x="78083" y="51448"/>
                  <a:pt x="85746" y="59111"/>
                  <a:pt x="85746" y="68597"/>
                </a:cubicBezTo>
                <a:cubicBezTo>
                  <a:pt x="85746" y="78083"/>
                  <a:pt x="78083" y="85746"/>
                  <a:pt x="68597" y="85746"/>
                </a:cubicBezTo>
                <a:lnTo>
                  <a:pt x="64310" y="85746"/>
                </a:lnTo>
                <a:cubicBezTo>
                  <a:pt x="47750" y="85746"/>
                  <a:pt x="34299" y="99198"/>
                  <a:pt x="34299" y="115758"/>
                </a:cubicBezTo>
                <a:lnTo>
                  <a:pt x="34299" y="120045"/>
                </a:lnTo>
                <a:lnTo>
                  <a:pt x="68597" y="120045"/>
                </a:lnTo>
                <a:cubicBezTo>
                  <a:pt x="87515" y="120045"/>
                  <a:pt x="102896" y="135426"/>
                  <a:pt x="102896" y="154344"/>
                </a:cubicBezTo>
                <a:lnTo>
                  <a:pt x="102896" y="188642"/>
                </a:lnTo>
                <a:cubicBezTo>
                  <a:pt x="102896" y="207560"/>
                  <a:pt x="87515" y="222941"/>
                  <a:pt x="68597" y="222941"/>
                </a:cubicBezTo>
                <a:lnTo>
                  <a:pt x="34299" y="222941"/>
                </a:lnTo>
                <a:cubicBezTo>
                  <a:pt x="15381" y="222941"/>
                  <a:pt x="0" y="207560"/>
                  <a:pt x="0" y="188642"/>
                </a:cubicBezTo>
                <a:lnTo>
                  <a:pt x="0" y="115758"/>
                </a:lnTo>
                <a:close/>
                <a:moveTo>
                  <a:pt x="137194" y="115758"/>
                </a:moveTo>
                <a:cubicBezTo>
                  <a:pt x="137194" y="80227"/>
                  <a:pt x="165973" y="51448"/>
                  <a:pt x="201504" y="51448"/>
                </a:cubicBezTo>
                <a:lnTo>
                  <a:pt x="205791" y="51448"/>
                </a:lnTo>
                <a:cubicBezTo>
                  <a:pt x="215277" y="51448"/>
                  <a:pt x="222941" y="59111"/>
                  <a:pt x="222941" y="68597"/>
                </a:cubicBezTo>
                <a:cubicBezTo>
                  <a:pt x="222941" y="78083"/>
                  <a:pt x="215277" y="85746"/>
                  <a:pt x="205791" y="85746"/>
                </a:cubicBezTo>
                <a:lnTo>
                  <a:pt x="201504" y="85746"/>
                </a:lnTo>
                <a:cubicBezTo>
                  <a:pt x="184944" y="85746"/>
                  <a:pt x="171493" y="99198"/>
                  <a:pt x="171493" y="115758"/>
                </a:cubicBezTo>
                <a:lnTo>
                  <a:pt x="171493" y="120045"/>
                </a:lnTo>
                <a:lnTo>
                  <a:pt x="205791" y="120045"/>
                </a:lnTo>
                <a:cubicBezTo>
                  <a:pt x="224709" y="120045"/>
                  <a:pt x="240090" y="135426"/>
                  <a:pt x="240090" y="154344"/>
                </a:cubicBezTo>
                <a:lnTo>
                  <a:pt x="240090" y="188642"/>
                </a:lnTo>
                <a:cubicBezTo>
                  <a:pt x="240090" y="207560"/>
                  <a:pt x="224709" y="222941"/>
                  <a:pt x="205791" y="222941"/>
                </a:cubicBezTo>
                <a:lnTo>
                  <a:pt x="171493" y="222941"/>
                </a:lnTo>
                <a:cubicBezTo>
                  <a:pt x="152575" y="222941"/>
                  <a:pt x="137194" y="207560"/>
                  <a:pt x="137194" y="188642"/>
                </a:cubicBezTo>
                <a:lnTo>
                  <a:pt x="137194" y="115758"/>
                </a:ln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46" name="Text 43"/>
          <p:cNvSpPr/>
          <p:nvPr/>
        </p:nvSpPr>
        <p:spPr>
          <a:xfrm>
            <a:off x="7496296" y="5341431"/>
            <a:ext cx="4170707" cy="47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52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"Bursa'da zaman, bir başka akar..."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52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"Zaman, Tanpınar'ın şiirinin temel konusudur."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7532881" y="6063988"/>
            <a:ext cx="4097536" cy="9146"/>
          </a:xfrm>
          <a:custGeom>
            <a:avLst/>
            <a:gdLst/>
            <a:ahLst/>
            <a:cxnLst/>
            <a:rect l="l" t="t" r="r" b="b"/>
            <a:pathLst>
              <a:path w="4097536" h="9146">
                <a:moveTo>
                  <a:pt x="0" y="0"/>
                </a:moveTo>
                <a:lnTo>
                  <a:pt x="4097536" y="0"/>
                </a:lnTo>
                <a:lnTo>
                  <a:pt x="4097536" y="9146"/>
                </a:lnTo>
                <a:lnTo>
                  <a:pt x="0" y="9146"/>
                </a:lnTo>
                <a:lnTo>
                  <a:pt x="0" y="0"/>
                </a:lnTo>
                <a:close/>
              </a:path>
            </a:pathLst>
          </a:custGeom>
          <a:solidFill>
            <a:srgbClr val="A44A3F">
              <a:alpha val="30196"/>
            </a:srgbClr>
          </a:solidFill>
          <a:ln/>
        </p:spPr>
      </p:sp>
      <p:sp>
        <p:nvSpPr>
          <p:cNvPr id="48" name="Text 45"/>
          <p:cNvSpPr/>
          <p:nvPr/>
        </p:nvSpPr>
        <p:spPr>
          <a:xfrm>
            <a:off x="7496296" y="6152775"/>
            <a:ext cx="4170707" cy="475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52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Bursa'da Zaman</a:t>
            </a:r>
            <a:pPr algn="ctr">
              <a:lnSpc>
                <a:spcPct val="140000"/>
              </a:lnSpc>
            </a:pPr>
            <a:r>
              <a:rPr lang="en-US" sz="1152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şiiri, Tanpınar'ın en ünlü şiiridir. </a:t>
            </a:r>
            <a:pPr algn="ctr">
              <a:lnSpc>
                <a:spcPct val="140000"/>
              </a:lnSpc>
            </a:pPr>
            <a:r>
              <a:rPr lang="en-US" sz="1152" b="1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Zaman ve hafıza</a:t>
            </a:r>
            <a:pPr algn="ctr">
              <a:lnSpc>
                <a:spcPct val="140000"/>
              </a:lnSpc>
            </a:pPr>
            <a:r>
              <a:rPr lang="en-US" sz="1152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temalarını işler.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A44A3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BÖLÜM 08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5D4E37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Diğer Önemli Temsilciler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390650"/>
            <a:ext cx="3705225" cy="3276600"/>
          </a:xfrm>
          <a:custGeom>
            <a:avLst/>
            <a:gdLst/>
            <a:ahLst/>
            <a:cxnLst/>
            <a:rect l="l" t="t" r="r" b="b"/>
            <a:pathLst>
              <a:path w="3705225" h="32766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200386"/>
                </a:lnTo>
                <a:cubicBezTo>
                  <a:pt x="3705225" y="3242478"/>
                  <a:pt x="3671103" y="3276600"/>
                  <a:pt x="3629011" y="3276600"/>
                </a:cubicBezTo>
                <a:lnTo>
                  <a:pt x="76214" y="3276600"/>
                </a:lnTo>
                <a:cubicBezTo>
                  <a:pt x="34122" y="3276600"/>
                  <a:pt x="0" y="3242478"/>
                  <a:pt x="0" y="320038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81000" y="13906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pic>
        <p:nvPicPr>
          <p:cNvPr id="6" name="Image 0" descr="https://kimi-web-img.moonshot.cn/img/upload.wikimedia.org/cd567c7f28629d83eb8c37e04928827b526cf836.jpg">    </p:cNvPr>
          <p:cNvPicPr>
            <a:picLocks noChangeAspect="1"/>
          </p:cNvPicPr>
          <p:nvPr/>
        </p:nvPicPr>
        <p:blipFill>
          <a:blip r:embed="rId1"/>
          <a:srcRect l="0" r="0" t="21986" b="54374"/>
          <a:stretch/>
        </p:blipFill>
        <p:spPr>
          <a:xfrm>
            <a:off x="381000" y="1428750"/>
            <a:ext cx="3705225" cy="1219200"/>
          </a:xfrm>
          <a:prstGeom prst="roundRect">
            <a:avLst>
              <a:gd name="adj" fmla="val 0"/>
            </a:avLst>
          </a:prstGeom>
        </p:spPr>
      </p:pic>
      <p:sp>
        <p:nvSpPr>
          <p:cNvPr id="7" name="Text 4"/>
          <p:cNvSpPr/>
          <p:nvPr/>
        </p:nvSpPr>
        <p:spPr>
          <a:xfrm>
            <a:off x="533400" y="2781300"/>
            <a:ext cx="349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D4E37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Cahit Sıtkı Tarancı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33400" y="308610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44A3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1910 - 1956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33400" y="3352800"/>
            <a:ext cx="347662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"Otuz Beş Yaş" şiiriyle tanınan şair.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Ölüm ve yaşlanma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temalarını işler.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33400" y="4171950"/>
            <a:ext cx="3400425" cy="342900"/>
          </a:xfrm>
          <a:custGeom>
            <a:avLst/>
            <a:gdLst/>
            <a:ahLst/>
            <a:cxnLst/>
            <a:rect l="l" t="t" r="r" b="b"/>
            <a:pathLst>
              <a:path w="3400425" h="342900">
                <a:moveTo>
                  <a:pt x="38100" y="0"/>
                </a:moveTo>
                <a:lnTo>
                  <a:pt x="3362325" y="0"/>
                </a:lnTo>
                <a:cubicBezTo>
                  <a:pt x="3383367" y="0"/>
                  <a:pt x="3400425" y="17058"/>
                  <a:pt x="3400425" y="38100"/>
                </a:cubicBezTo>
                <a:lnTo>
                  <a:pt x="3400425" y="304800"/>
                </a:lnTo>
                <a:cubicBezTo>
                  <a:pt x="3400425" y="325842"/>
                  <a:pt x="3383367" y="342900"/>
                  <a:pt x="33623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11" name="Text 8"/>
          <p:cNvSpPr/>
          <p:nvPr/>
        </p:nvSpPr>
        <p:spPr>
          <a:xfrm>
            <a:off x="609600" y="424815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Eser: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Otuz Beş Yaş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41800" y="1390650"/>
            <a:ext cx="3705225" cy="3276600"/>
          </a:xfrm>
          <a:custGeom>
            <a:avLst/>
            <a:gdLst/>
            <a:ahLst/>
            <a:cxnLst/>
            <a:rect l="l" t="t" r="r" b="b"/>
            <a:pathLst>
              <a:path w="3705225" h="32766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200386"/>
                </a:lnTo>
                <a:cubicBezTo>
                  <a:pt x="3705225" y="3242478"/>
                  <a:pt x="3671103" y="3276600"/>
                  <a:pt x="3629011" y="3276600"/>
                </a:cubicBezTo>
                <a:lnTo>
                  <a:pt x="76214" y="3276600"/>
                </a:lnTo>
                <a:cubicBezTo>
                  <a:pt x="34122" y="3276600"/>
                  <a:pt x="0" y="3242478"/>
                  <a:pt x="0" y="320038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4241800" y="13906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4E37"/>
          </a:solidFill>
          <a:ln/>
        </p:spPr>
      </p:sp>
      <p:pic>
        <p:nvPicPr>
          <p:cNvPr id="14" name="Image 1" descr="https://kimi-web-img.moonshot.cn/img/media.cumhuriyet.com.tr/4969b7a6321c4ff5e57b728149d67437f74bbbaf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41800" y="1428750"/>
            <a:ext cx="3705225" cy="1219200"/>
          </a:xfrm>
          <a:prstGeom prst="roundRect">
            <a:avLst>
              <a:gd name="adj" fmla="val 0"/>
            </a:avLst>
          </a:prstGeom>
        </p:spPr>
      </p:pic>
      <p:sp>
        <p:nvSpPr>
          <p:cNvPr id="15" name="Text 11"/>
          <p:cNvSpPr/>
          <p:nvPr/>
        </p:nvSpPr>
        <p:spPr>
          <a:xfrm>
            <a:off x="4394200" y="2781300"/>
            <a:ext cx="349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D4E37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Ahmet Muhip Dıranas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394200" y="308610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44A3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1909 - 1980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394200" y="3352800"/>
            <a:ext cx="347662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"Fahriye Abla" şiiriyle tanınan şair.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Sembolist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özellikler taşır.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394200" y="4171950"/>
            <a:ext cx="3400425" cy="342900"/>
          </a:xfrm>
          <a:custGeom>
            <a:avLst/>
            <a:gdLst/>
            <a:ahLst/>
            <a:cxnLst/>
            <a:rect l="l" t="t" r="r" b="b"/>
            <a:pathLst>
              <a:path w="3400425" h="342900">
                <a:moveTo>
                  <a:pt x="38100" y="0"/>
                </a:moveTo>
                <a:lnTo>
                  <a:pt x="3362325" y="0"/>
                </a:lnTo>
                <a:cubicBezTo>
                  <a:pt x="3383367" y="0"/>
                  <a:pt x="3400425" y="17058"/>
                  <a:pt x="3400425" y="38100"/>
                </a:cubicBezTo>
                <a:lnTo>
                  <a:pt x="3400425" y="304800"/>
                </a:lnTo>
                <a:cubicBezTo>
                  <a:pt x="3400425" y="325842"/>
                  <a:pt x="3383367" y="342900"/>
                  <a:pt x="33623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19" name="Text 15"/>
          <p:cNvSpPr/>
          <p:nvPr/>
        </p:nvSpPr>
        <p:spPr>
          <a:xfrm>
            <a:off x="4470400" y="424815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Eser: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Fahriye Abla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8102600" y="1390650"/>
            <a:ext cx="3705225" cy="3276600"/>
          </a:xfrm>
          <a:custGeom>
            <a:avLst/>
            <a:gdLst/>
            <a:ahLst/>
            <a:cxnLst/>
            <a:rect l="l" t="t" r="r" b="b"/>
            <a:pathLst>
              <a:path w="3705225" h="32766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200386"/>
                </a:lnTo>
                <a:cubicBezTo>
                  <a:pt x="3705225" y="3242478"/>
                  <a:pt x="3671103" y="3276600"/>
                  <a:pt x="3629011" y="3276600"/>
                </a:cubicBezTo>
                <a:lnTo>
                  <a:pt x="76214" y="3276600"/>
                </a:lnTo>
                <a:cubicBezTo>
                  <a:pt x="34122" y="3276600"/>
                  <a:pt x="0" y="3242478"/>
                  <a:pt x="0" y="3200386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Shape 17"/>
          <p:cNvSpPr/>
          <p:nvPr/>
        </p:nvSpPr>
        <p:spPr>
          <a:xfrm>
            <a:off x="8102600" y="13906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A817C"/>
          </a:solidFill>
          <a:ln/>
        </p:spPr>
      </p:sp>
      <p:sp>
        <p:nvSpPr>
          <p:cNvPr id="22" name="Shape 18"/>
          <p:cNvSpPr/>
          <p:nvPr/>
        </p:nvSpPr>
        <p:spPr>
          <a:xfrm>
            <a:off x="8102600" y="1428750"/>
            <a:ext cx="3705225" cy="1219200"/>
          </a:xfrm>
          <a:custGeom>
            <a:avLst/>
            <a:gdLst/>
            <a:ahLst/>
            <a:cxnLst/>
            <a:rect l="l" t="t" r="r" b="b"/>
            <a:pathLst>
              <a:path w="3705225" h="1219200">
                <a:moveTo>
                  <a:pt x="0" y="0"/>
                </a:moveTo>
                <a:lnTo>
                  <a:pt x="3705225" y="0"/>
                </a:lnTo>
                <a:lnTo>
                  <a:pt x="3705225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solidFill>
            <a:srgbClr val="8A817C"/>
          </a:solidFill>
          <a:ln/>
        </p:spPr>
      </p:sp>
      <p:sp>
        <p:nvSpPr>
          <p:cNvPr id="23" name="Shape 19"/>
          <p:cNvSpPr/>
          <p:nvPr/>
        </p:nvSpPr>
        <p:spPr>
          <a:xfrm>
            <a:off x="9706769" y="1733550"/>
            <a:ext cx="500063" cy="571500"/>
          </a:xfrm>
          <a:custGeom>
            <a:avLst/>
            <a:gdLst/>
            <a:ahLst/>
            <a:cxnLst/>
            <a:rect l="l" t="t" r="r" b="b"/>
            <a:pathLst>
              <a:path w="500063" h="571500">
                <a:moveTo>
                  <a:pt x="250031" y="276820"/>
                </a:moveTo>
                <a:cubicBezTo>
                  <a:pt x="323958" y="276820"/>
                  <a:pt x="383977" y="216801"/>
                  <a:pt x="383977" y="142875"/>
                </a:cubicBezTo>
                <a:cubicBezTo>
                  <a:pt x="383977" y="68949"/>
                  <a:pt x="323958" y="8930"/>
                  <a:pt x="250031" y="8930"/>
                </a:cubicBezTo>
                <a:cubicBezTo>
                  <a:pt x="176105" y="8930"/>
                  <a:pt x="116086" y="68949"/>
                  <a:pt x="116086" y="142875"/>
                </a:cubicBezTo>
                <a:cubicBezTo>
                  <a:pt x="116086" y="216801"/>
                  <a:pt x="176105" y="276820"/>
                  <a:pt x="250031" y="276820"/>
                </a:cubicBezTo>
                <a:close/>
                <a:moveTo>
                  <a:pt x="216880" y="339328"/>
                </a:moveTo>
                <a:cubicBezTo>
                  <a:pt x="106933" y="339328"/>
                  <a:pt x="17859" y="428402"/>
                  <a:pt x="17859" y="538349"/>
                </a:cubicBezTo>
                <a:cubicBezTo>
                  <a:pt x="17859" y="556654"/>
                  <a:pt x="32705" y="571500"/>
                  <a:pt x="51011" y="571500"/>
                </a:cubicBezTo>
                <a:lnTo>
                  <a:pt x="449052" y="571500"/>
                </a:lnTo>
                <a:cubicBezTo>
                  <a:pt x="467358" y="571500"/>
                  <a:pt x="482203" y="556654"/>
                  <a:pt x="482203" y="538349"/>
                </a:cubicBezTo>
                <a:cubicBezTo>
                  <a:pt x="482203" y="428402"/>
                  <a:pt x="393129" y="339328"/>
                  <a:pt x="283183" y="339328"/>
                </a:cubicBezTo>
                <a:lnTo>
                  <a:pt x="216880" y="339328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24" name="Text 20"/>
          <p:cNvSpPr/>
          <p:nvPr/>
        </p:nvSpPr>
        <p:spPr>
          <a:xfrm>
            <a:off x="8255000" y="2781300"/>
            <a:ext cx="3495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5D4E37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Asaf Halet Çelebi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8255000" y="308610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A44A3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1907 - 1958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255000" y="3352800"/>
            <a:ext cx="3476625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Mistik ve tasavvufi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yönü güçlü şair. "Naima" şiiriyle tanınır.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8255000" y="4171950"/>
            <a:ext cx="3400425" cy="342900"/>
          </a:xfrm>
          <a:custGeom>
            <a:avLst/>
            <a:gdLst/>
            <a:ahLst/>
            <a:cxnLst/>
            <a:rect l="l" t="t" r="r" b="b"/>
            <a:pathLst>
              <a:path w="3400425" h="342900">
                <a:moveTo>
                  <a:pt x="38100" y="0"/>
                </a:moveTo>
                <a:lnTo>
                  <a:pt x="3362325" y="0"/>
                </a:lnTo>
                <a:cubicBezTo>
                  <a:pt x="3383367" y="0"/>
                  <a:pt x="3400425" y="17058"/>
                  <a:pt x="3400425" y="38100"/>
                </a:cubicBezTo>
                <a:lnTo>
                  <a:pt x="3400425" y="304800"/>
                </a:lnTo>
                <a:cubicBezTo>
                  <a:pt x="3400425" y="325842"/>
                  <a:pt x="3383367" y="342900"/>
                  <a:pt x="3362325" y="342900"/>
                </a:cubicBezTo>
                <a:lnTo>
                  <a:pt x="38100" y="342900"/>
                </a:lnTo>
                <a:cubicBezTo>
                  <a:pt x="17058" y="342900"/>
                  <a:pt x="0" y="325842"/>
                  <a:pt x="0" y="304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28" name="Text 24"/>
          <p:cNvSpPr/>
          <p:nvPr/>
        </p:nvSpPr>
        <p:spPr>
          <a:xfrm>
            <a:off x="8331200" y="4248150"/>
            <a:ext cx="3314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Eser: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Naima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381000" y="4838700"/>
            <a:ext cx="3705225" cy="1638300"/>
          </a:xfrm>
          <a:custGeom>
            <a:avLst/>
            <a:gdLst/>
            <a:ahLst/>
            <a:cxnLst/>
            <a:rect l="l" t="t" r="r" b="b"/>
            <a:pathLst>
              <a:path w="3705225" h="16383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562103"/>
                </a:lnTo>
                <a:cubicBezTo>
                  <a:pt x="3705225" y="1604185"/>
                  <a:pt x="3671110" y="1638300"/>
                  <a:pt x="3629028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Shape 26"/>
          <p:cNvSpPr/>
          <p:nvPr/>
        </p:nvSpPr>
        <p:spPr>
          <a:xfrm>
            <a:off x="381000" y="48387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31" name="Text 27"/>
          <p:cNvSpPr/>
          <p:nvPr/>
        </p:nvSpPr>
        <p:spPr>
          <a:xfrm>
            <a:off x="533400" y="5010150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D4E37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Ziya Osman Saba</a:t>
            </a:r>
            <a:endParaRPr lang="en-US" sz="1600" dirty="0"/>
          </a:p>
        </p:txBody>
      </p:sp>
      <p:sp>
        <p:nvSpPr>
          <p:cNvPr id="32" name="Text 28"/>
          <p:cNvSpPr/>
          <p:nvPr/>
        </p:nvSpPr>
        <p:spPr>
          <a:xfrm>
            <a:off x="533400" y="535305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1910 - 1957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533400" y="5619750"/>
            <a:ext cx="3476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Yedi Meşale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topluluğunun kurucularından. Saf şiir anlayışını benimseyen şair.</a:t>
            </a:r>
            <a:endParaRPr lang="en-US" sz="1600" dirty="0"/>
          </a:p>
        </p:txBody>
      </p:sp>
      <p:sp>
        <p:nvSpPr>
          <p:cNvPr id="34" name="Shape 30"/>
          <p:cNvSpPr/>
          <p:nvPr/>
        </p:nvSpPr>
        <p:spPr>
          <a:xfrm>
            <a:off x="4241800" y="4838700"/>
            <a:ext cx="3705225" cy="1638300"/>
          </a:xfrm>
          <a:custGeom>
            <a:avLst/>
            <a:gdLst/>
            <a:ahLst/>
            <a:cxnLst/>
            <a:rect l="l" t="t" r="r" b="b"/>
            <a:pathLst>
              <a:path w="3705225" h="16383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562103"/>
                </a:lnTo>
                <a:cubicBezTo>
                  <a:pt x="3705225" y="1604185"/>
                  <a:pt x="3671110" y="1638300"/>
                  <a:pt x="3629028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5" name="Shape 31"/>
          <p:cNvSpPr/>
          <p:nvPr/>
        </p:nvSpPr>
        <p:spPr>
          <a:xfrm>
            <a:off x="4241800" y="48387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36" name="Text 32"/>
          <p:cNvSpPr/>
          <p:nvPr/>
        </p:nvSpPr>
        <p:spPr>
          <a:xfrm>
            <a:off x="4394200" y="5010150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D4E37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Behçet Necatigil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4394200" y="535305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1916 - 1979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4394200" y="5619750"/>
            <a:ext cx="3476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Modern şiir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denemeleriyle tanınan şair. Saf şiir geleneğini devam ettirmiştir.</a:t>
            </a:r>
            <a:endParaRPr lang="en-US" sz="1600" dirty="0"/>
          </a:p>
        </p:txBody>
      </p:sp>
      <p:sp>
        <p:nvSpPr>
          <p:cNvPr id="39" name="Shape 35"/>
          <p:cNvSpPr/>
          <p:nvPr/>
        </p:nvSpPr>
        <p:spPr>
          <a:xfrm>
            <a:off x="8102600" y="4838700"/>
            <a:ext cx="3705225" cy="1638300"/>
          </a:xfrm>
          <a:custGeom>
            <a:avLst/>
            <a:gdLst/>
            <a:ahLst/>
            <a:cxnLst/>
            <a:rect l="l" t="t" r="r" b="b"/>
            <a:pathLst>
              <a:path w="3705225" h="16383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1562103"/>
                </a:lnTo>
                <a:cubicBezTo>
                  <a:pt x="3705225" y="1604185"/>
                  <a:pt x="3671110" y="1638300"/>
                  <a:pt x="3629028" y="1638300"/>
                </a:cubicBezTo>
                <a:lnTo>
                  <a:pt x="76197" y="1638300"/>
                </a:lnTo>
                <a:cubicBezTo>
                  <a:pt x="34115" y="1638300"/>
                  <a:pt x="0" y="1604185"/>
                  <a:pt x="0" y="1562103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0" name="Shape 36"/>
          <p:cNvSpPr/>
          <p:nvPr/>
        </p:nvSpPr>
        <p:spPr>
          <a:xfrm>
            <a:off x="8102600" y="483870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A817C"/>
          </a:solidFill>
          <a:ln/>
        </p:spPr>
      </p:sp>
      <p:sp>
        <p:nvSpPr>
          <p:cNvPr id="41" name="Text 37"/>
          <p:cNvSpPr/>
          <p:nvPr/>
        </p:nvSpPr>
        <p:spPr>
          <a:xfrm>
            <a:off x="8255000" y="5010150"/>
            <a:ext cx="3486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5D4E37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Halit Fahri Ozansoy</a:t>
            </a:r>
            <a:endParaRPr lang="en-US" sz="1600" dirty="0"/>
          </a:p>
        </p:txBody>
      </p:sp>
      <p:sp>
        <p:nvSpPr>
          <p:cNvPr id="42" name="Text 38"/>
          <p:cNvSpPr/>
          <p:nvPr/>
        </p:nvSpPr>
        <p:spPr>
          <a:xfrm>
            <a:off x="8255000" y="5353050"/>
            <a:ext cx="3467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1891 - 1971</a:t>
            </a:r>
            <a:endParaRPr lang="en-US" sz="1600" dirty="0"/>
          </a:p>
        </p:txBody>
      </p:sp>
      <p:sp>
        <p:nvSpPr>
          <p:cNvPr id="43" name="Text 39"/>
          <p:cNvSpPr/>
          <p:nvPr/>
        </p:nvSpPr>
        <p:spPr>
          <a:xfrm>
            <a:off x="8255000" y="5619750"/>
            <a:ext cx="3476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Dergâh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D352E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topluluğunun önemli şairlerinden. Saf şiir anlayışını savunmuştur.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2844" y="372844"/>
            <a:ext cx="11520881" cy="2237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4" spc="117" kern="0" dirty="0">
                <a:solidFill>
                  <a:srgbClr val="A44A3F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BÖLÜM 09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72844" y="671119"/>
            <a:ext cx="11614092" cy="3728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42" dirty="0">
                <a:solidFill>
                  <a:srgbClr val="5D4E37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Saf Şiir Örnekleri - Gözde Şiirler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91486" y="1193101"/>
            <a:ext cx="5629945" cy="1789651"/>
          </a:xfrm>
          <a:custGeom>
            <a:avLst/>
            <a:gdLst/>
            <a:ahLst/>
            <a:cxnLst/>
            <a:rect l="l" t="t" r="r" b="b"/>
            <a:pathLst>
              <a:path w="5629945" h="1789651">
                <a:moveTo>
                  <a:pt x="37284" y="0"/>
                </a:moveTo>
                <a:lnTo>
                  <a:pt x="5555370" y="0"/>
                </a:lnTo>
                <a:cubicBezTo>
                  <a:pt x="5596557" y="0"/>
                  <a:pt x="5629945" y="33388"/>
                  <a:pt x="5629945" y="74575"/>
                </a:cubicBezTo>
                <a:lnTo>
                  <a:pt x="5629945" y="1715077"/>
                </a:lnTo>
                <a:cubicBezTo>
                  <a:pt x="5629945" y="1756263"/>
                  <a:pt x="5596557" y="1789651"/>
                  <a:pt x="5555370" y="1789651"/>
                </a:cubicBezTo>
                <a:lnTo>
                  <a:pt x="37284" y="1789651"/>
                </a:lnTo>
                <a:cubicBezTo>
                  <a:pt x="16693" y="1789651"/>
                  <a:pt x="0" y="1772959"/>
                  <a:pt x="0" y="1752367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91486" y="1193101"/>
            <a:ext cx="37284" cy="1789651"/>
          </a:xfrm>
          <a:custGeom>
            <a:avLst/>
            <a:gdLst/>
            <a:ahLst/>
            <a:cxnLst/>
            <a:rect l="l" t="t" r="r" b="b"/>
            <a:pathLst>
              <a:path w="37284" h="1789651">
                <a:moveTo>
                  <a:pt x="37284" y="0"/>
                </a:moveTo>
                <a:lnTo>
                  <a:pt x="37284" y="0"/>
                </a:lnTo>
                <a:lnTo>
                  <a:pt x="37284" y="1789651"/>
                </a:lnTo>
                <a:lnTo>
                  <a:pt x="37284" y="1789651"/>
                </a:lnTo>
                <a:cubicBezTo>
                  <a:pt x="16693" y="1789651"/>
                  <a:pt x="0" y="1772959"/>
                  <a:pt x="0" y="1752367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6" name="Shape 4"/>
          <p:cNvSpPr/>
          <p:nvPr/>
        </p:nvSpPr>
        <p:spPr>
          <a:xfrm>
            <a:off x="559266" y="1379523"/>
            <a:ext cx="372844" cy="372844"/>
          </a:xfrm>
          <a:custGeom>
            <a:avLst/>
            <a:gdLst/>
            <a:ahLst/>
            <a:cxnLst/>
            <a:rect l="l" t="t" r="r" b="b"/>
            <a:pathLst>
              <a:path w="372844" h="372844">
                <a:moveTo>
                  <a:pt x="0" y="0"/>
                </a:moveTo>
                <a:lnTo>
                  <a:pt x="372844" y="0"/>
                </a:lnTo>
                <a:lnTo>
                  <a:pt x="372844" y="372844"/>
                </a:lnTo>
                <a:lnTo>
                  <a:pt x="0" y="372844"/>
                </a:lnTo>
                <a:lnTo>
                  <a:pt x="0" y="0"/>
                </a:ln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7" name="Shape 5"/>
          <p:cNvSpPr/>
          <p:nvPr/>
        </p:nvSpPr>
        <p:spPr>
          <a:xfrm>
            <a:off x="671119" y="1491376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138447" y="29"/>
                </a:moveTo>
                <a:cubicBezTo>
                  <a:pt x="141331" y="-204"/>
                  <a:pt x="144157" y="903"/>
                  <a:pt x="146196" y="2942"/>
                </a:cubicBezTo>
                <a:cubicBezTo>
                  <a:pt x="148235" y="4981"/>
                  <a:pt x="149342" y="7806"/>
                  <a:pt x="149108" y="10690"/>
                </a:cubicBezTo>
                <a:cubicBezTo>
                  <a:pt x="147943" y="25050"/>
                  <a:pt x="144040" y="47450"/>
                  <a:pt x="135622" y="68860"/>
                </a:cubicBezTo>
                <a:cubicBezTo>
                  <a:pt x="135098" y="70170"/>
                  <a:pt x="134020" y="71161"/>
                  <a:pt x="132651" y="71569"/>
                </a:cubicBezTo>
                <a:lnTo>
                  <a:pt x="109086" y="78647"/>
                </a:lnTo>
                <a:cubicBezTo>
                  <a:pt x="107950" y="78996"/>
                  <a:pt x="107193" y="80016"/>
                  <a:pt x="107193" y="81210"/>
                </a:cubicBezTo>
                <a:cubicBezTo>
                  <a:pt x="107193" y="82696"/>
                  <a:pt x="108387" y="83890"/>
                  <a:pt x="109872" y="83890"/>
                </a:cubicBezTo>
                <a:lnTo>
                  <a:pt x="121116" y="83890"/>
                </a:lnTo>
                <a:cubicBezTo>
                  <a:pt x="124611" y="83890"/>
                  <a:pt x="126854" y="87618"/>
                  <a:pt x="125048" y="90619"/>
                </a:cubicBezTo>
                <a:cubicBezTo>
                  <a:pt x="123883" y="92570"/>
                  <a:pt x="122631" y="94464"/>
                  <a:pt x="121349" y="96328"/>
                </a:cubicBezTo>
                <a:cubicBezTo>
                  <a:pt x="120767" y="97172"/>
                  <a:pt x="119893" y="97784"/>
                  <a:pt x="118902" y="98105"/>
                </a:cubicBezTo>
                <a:lnTo>
                  <a:pt x="90444" y="106610"/>
                </a:lnTo>
                <a:cubicBezTo>
                  <a:pt x="89308" y="106960"/>
                  <a:pt x="88550" y="107979"/>
                  <a:pt x="88550" y="109173"/>
                </a:cubicBezTo>
                <a:cubicBezTo>
                  <a:pt x="88550" y="110659"/>
                  <a:pt x="89745" y="111853"/>
                  <a:pt x="91230" y="111853"/>
                </a:cubicBezTo>
                <a:lnTo>
                  <a:pt x="95891" y="111853"/>
                </a:lnTo>
                <a:cubicBezTo>
                  <a:pt x="100144" y="111853"/>
                  <a:pt x="102008" y="116922"/>
                  <a:pt x="98454" y="119252"/>
                </a:cubicBezTo>
                <a:cubicBezTo>
                  <a:pt x="78647" y="132360"/>
                  <a:pt x="58344" y="131864"/>
                  <a:pt x="45324" y="128369"/>
                </a:cubicBezTo>
                <a:cubicBezTo>
                  <a:pt x="41625" y="127379"/>
                  <a:pt x="38333" y="125485"/>
                  <a:pt x="35304" y="123155"/>
                </a:cubicBezTo>
                <a:lnTo>
                  <a:pt x="13982" y="144477"/>
                </a:lnTo>
                <a:cubicBezTo>
                  <a:pt x="11418" y="147040"/>
                  <a:pt x="7224" y="147040"/>
                  <a:pt x="4661" y="144477"/>
                </a:cubicBezTo>
                <a:cubicBezTo>
                  <a:pt x="2097" y="141914"/>
                  <a:pt x="2097" y="137719"/>
                  <a:pt x="4661" y="135156"/>
                </a:cubicBezTo>
                <a:lnTo>
                  <a:pt x="27963" y="111853"/>
                </a:lnTo>
                <a:lnTo>
                  <a:pt x="28109" y="111999"/>
                </a:lnTo>
                <a:cubicBezTo>
                  <a:pt x="28313" y="111620"/>
                  <a:pt x="28575" y="111271"/>
                  <a:pt x="28895" y="110950"/>
                </a:cubicBezTo>
                <a:lnTo>
                  <a:pt x="74569" y="65248"/>
                </a:lnTo>
                <a:cubicBezTo>
                  <a:pt x="77132" y="62684"/>
                  <a:pt x="77132" y="58490"/>
                  <a:pt x="74569" y="55927"/>
                </a:cubicBezTo>
                <a:cubicBezTo>
                  <a:pt x="72006" y="53363"/>
                  <a:pt x="67811" y="53363"/>
                  <a:pt x="65248" y="55927"/>
                </a:cubicBezTo>
                <a:lnTo>
                  <a:pt x="26128" y="95017"/>
                </a:lnTo>
                <a:cubicBezTo>
                  <a:pt x="23536" y="97609"/>
                  <a:pt x="19137" y="96299"/>
                  <a:pt x="18846" y="92628"/>
                </a:cubicBezTo>
                <a:cubicBezTo>
                  <a:pt x="17594" y="77132"/>
                  <a:pt x="21555" y="56771"/>
                  <a:pt x="39993" y="38333"/>
                </a:cubicBezTo>
                <a:cubicBezTo>
                  <a:pt x="66529" y="11797"/>
                  <a:pt x="114038" y="2010"/>
                  <a:pt x="138418" y="29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8" name="Text 6"/>
          <p:cNvSpPr/>
          <p:nvPr/>
        </p:nvSpPr>
        <p:spPr>
          <a:xfrm>
            <a:off x="1043963" y="1342239"/>
            <a:ext cx="1435450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dirty="0">
                <a:solidFill>
                  <a:srgbClr val="5D4E37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Ahmet Haşim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43963" y="1603229"/>
            <a:ext cx="1416807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Bir Günün Sonunda Arzu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9266" y="1864220"/>
            <a:ext cx="5313028" cy="969394"/>
          </a:xfrm>
          <a:custGeom>
            <a:avLst/>
            <a:gdLst/>
            <a:ahLst/>
            <a:cxnLst/>
            <a:rect l="l" t="t" r="r" b="b"/>
            <a:pathLst>
              <a:path w="5313028" h="969394">
                <a:moveTo>
                  <a:pt x="37283" y="0"/>
                </a:moveTo>
                <a:lnTo>
                  <a:pt x="5275745" y="0"/>
                </a:lnTo>
                <a:cubicBezTo>
                  <a:pt x="5296335" y="0"/>
                  <a:pt x="5313028" y="16692"/>
                  <a:pt x="5313028" y="37283"/>
                </a:cubicBezTo>
                <a:lnTo>
                  <a:pt x="5313028" y="932112"/>
                </a:lnTo>
                <a:cubicBezTo>
                  <a:pt x="5313028" y="952702"/>
                  <a:pt x="5296335" y="969394"/>
                  <a:pt x="5275745" y="969394"/>
                </a:cubicBezTo>
                <a:lnTo>
                  <a:pt x="37283" y="969394"/>
                </a:lnTo>
                <a:cubicBezTo>
                  <a:pt x="16692" y="969394"/>
                  <a:pt x="0" y="952702"/>
                  <a:pt x="0" y="932112"/>
                </a:cubicBezTo>
                <a:lnTo>
                  <a:pt x="0" y="37283"/>
                </a:lnTo>
                <a:cubicBezTo>
                  <a:pt x="0" y="16706"/>
                  <a:pt x="16706" y="0"/>
                  <a:pt x="37283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11" name="Text 9"/>
          <p:cNvSpPr/>
          <p:nvPr/>
        </p:nvSpPr>
        <p:spPr>
          <a:xfrm>
            <a:off x="633835" y="1976073"/>
            <a:ext cx="5163890" cy="48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74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"Ey akşam, ey akşam! Seninle gelir,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74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Seninle gider bütün arzularım..."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8495" y="2535339"/>
            <a:ext cx="5154569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dirty="0">
                <a:solidFill>
                  <a:srgbClr val="3D352E">
                    <a:alpha val="7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Akşam temasının en güzel örneği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1386" y="1193101"/>
            <a:ext cx="5629945" cy="1789651"/>
          </a:xfrm>
          <a:custGeom>
            <a:avLst/>
            <a:gdLst/>
            <a:ahLst/>
            <a:cxnLst/>
            <a:rect l="l" t="t" r="r" b="b"/>
            <a:pathLst>
              <a:path w="5629945" h="1789651">
                <a:moveTo>
                  <a:pt x="37284" y="0"/>
                </a:moveTo>
                <a:lnTo>
                  <a:pt x="5555370" y="0"/>
                </a:lnTo>
                <a:cubicBezTo>
                  <a:pt x="5596557" y="0"/>
                  <a:pt x="5629945" y="33388"/>
                  <a:pt x="5629945" y="74575"/>
                </a:cubicBezTo>
                <a:lnTo>
                  <a:pt x="5629945" y="1715077"/>
                </a:lnTo>
                <a:cubicBezTo>
                  <a:pt x="5629945" y="1756263"/>
                  <a:pt x="5596557" y="1789651"/>
                  <a:pt x="5555370" y="1789651"/>
                </a:cubicBezTo>
                <a:lnTo>
                  <a:pt x="37284" y="1789651"/>
                </a:lnTo>
                <a:cubicBezTo>
                  <a:pt x="16693" y="1789651"/>
                  <a:pt x="0" y="1772959"/>
                  <a:pt x="0" y="1752367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191386" y="1193101"/>
            <a:ext cx="37284" cy="1789651"/>
          </a:xfrm>
          <a:custGeom>
            <a:avLst/>
            <a:gdLst/>
            <a:ahLst/>
            <a:cxnLst/>
            <a:rect l="l" t="t" r="r" b="b"/>
            <a:pathLst>
              <a:path w="37284" h="1789651">
                <a:moveTo>
                  <a:pt x="37284" y="0"/>
                </a:moveTo>
                <a:lnTo>
                  <a:pt x="37284" y="0"/>
                </a:lnTo>
                <a:lnTo>
                  <a:pt x="37284" y="1789651"/>
                </a:lnTo>
                <a:lnTo>
                  <a:pt x="37284" y="1789651"/>
                </a:lnTo>
                <a:cubicBezTo>
                  <a:pt x="16693" y="1789651"/>
                  <a:pt x="0" y="1772959"/>
                  <a:pt x="0" y="1752367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15" name="Shape 13"/>
          <p:cNvSpPr/>
          <p:nvPr/>
        </p:nvSpPr>
        <p:spPr>
          <a:xfrm>
            <a:off x="6359166" y="1379523"/>
            <a:ext cx="372844" cy="372844"/>
          </a:xfrm>
          <a:custGeom>
            <a:avLst/>
            <a:gdLst/>
            <a:ahLst/>
            <a:cxnLst/>
            <a:rect l="l" t="t" r="r" b="b"/>
            <a:pathLst>
              <a:path w="372844" h="372844">
                <a:moveTo>
                  <a:pt x="0" y="0"/>
                </a:moveTo>
                <a:lnTo>
                  <a:pt x="372844" y="0"/>
                </a:lnTo>
                <a:lnTo>
                  <a:pt x="372844" y="372844"/>
                </a:lnTo>
                <a:lnTo>
                  <a:pt x="0" y="372844"/>
                </a:lnTo>
                <a:lnTo>
                  <a:pt x="0" y="0"/>
                </a:ln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16" name="Shape 14"/>
          <p:cNvSpPr/>
          <p:nvPr/>
        </p:nvSpPr>
        <p:spPr>
          <a:xfrm>
            <a:off x="6461698" y="1491376"/>
            <a:ext cx="167780" cy="149138"/>
          </a:xfrm>
          <a:custGeom>
            <a:avLst/>
            <a:gdLst/>
            <a:ahLst/>
            <a:cxnLst/>
            <a:rect l="l" t="t" r="r" b="b"/>
            <a:pathLst>
              <a:path w="167780" h="149138">
                <a:moveTo>
                  <a:pt x="50917" y="65248"/>
                </a:moveTo>
                <a:lnTo>
                  <a:pt x="116863" y="65248"/>
                </a:lnTo>
                <a:cubicBezTo>
                  <a:pt x="129534" y="65248"/>
                  <a:pt x="139817" y="54965"/>
                  <a:pt x="139817" y="42294"/>
                </a:cubicBezTo>
                <a:cubicBezTo>
                  <a:pt x="139817" y="34867"/>
                  <a:pt x="136234" y="27905"/>
                  <a:pt x="130175" y="23594"/>
                </a:cubicBezTo>
                <a:lnTo>
                  <a:pt x="86599" y="-7399"/>
                </a:lnTo>
                <a:cubicBezTo>
                  <a:pt x="84968" y="-8535"/>
                  <a:pt x="82812" y="-8535"/>
                  <a:pt x="81210" y="-7399"/>
                </a:cubicBezTo>
                <a:lnTo>
                  <a:pt x="37605" y="23594"/>
                </a:lnTo>
                <a:cubicBezTo>
                  <a:pt x="31546" y="27905"/>
                  <a:pt x="27963" y="34867"/>
                  <a:pt x="27963" y="42294"/>
                </a:cubicBezTo>
                <a:cubicBezTo>
                  <a:pt x="27963" y="54965"/>
                  <a:pt x="38246" y="65248"/>
                  <a:pt x="50917" y="65248"/>
                </a:cubicBezTo>
                <a:close/>
                <a:moveTo>
                  <a:pt x="149138" y="149138"/>
                </a:moveTo>
                <a:cubicBezTo>
                  <a:pt x="159420" y="149138"/>
                  <a:pt x="167780" y="140778"/>
                  <a:pt x="167780" y="130495"/>
                </a:cubicBezTo>
                <a:lnTo>
                  <a:pt x="167780" y="65248"/>
                </a:lnTo>
                <a:cubicBezTo>
                  <a:pt x="167780" y="60092"/>
                  <a:pt x="163614" y="55927"/>
                  <a:pt x="158459" y="55927"/>
                </a:cubicBezTo>
                <a:cubicBezTo>
                  <a:pt x="153303" y="55927"/>
                  <a:pt x="149138" y="60092"/>
                  <a:pt x="149138" y="65248"/>
                </a:cubicBezTo>
                <a:lnTo>
                  <a:pt x="149138" y="79229"/>
                </a:lnTo>
                <a:lnTo>
                  <a:pt x="18642" y="79229"/>
                </a:lnTo>
                <a:lnTo>
                  <a:pt x="18642" y="65248"/>
                </a:lnTo>
                <a:cubicBezTo>
                  <a:pt x="18642" y="60092"/>
                  <a:pt x="14477" y="55927"/>
                  <a:pt x="9321" y="55927"/>
                </a:cubicBezTo>
                <a:cubicBezTo>
                  <a:pt x="4165" y="55927"/>
                  <a:pt x="0" y="60092"/>
                  <a:pt x="0" y="65248"/>
                </a:cubicBezTo>
                <a:lnTo>
                  <a:pt x="0" y="130495"/>
                </a:lnTo>
                <a:cubicBezTo>
                  <a:pt x="0" y="140778"/>
                  <a:pt x="8360" y="149138"/>
                  <a:pt x="18642" y="149138"/>
                </a:cubicBezTo>
                <a:lnTo>
                  <a:pt x="149138" y="149138"/>
                </a:lnTo>
                <a:close/>
                <a:moveTo>
                  <a:pt x="69908" y="111853"/>
                </a:moveTo>
                <a:cubicBezTo>
                  <a:pt x="69908" y="104134"/>
                  <a:pt x="76171" y="97872"/>
                  <a:pt x="83890" y="97872"/>
                </a:cubicBezTo>
                <a:cubicBezTo>
                  <a:pt x="91609" y="97872"/>
                  <a:pt x="97872" y="104134"/>
                  <a:pt x="97872" y="111853"/>
                </a:cubicBezTo>
                <a:lnTo>
                  <a:pt x="97872" y="135156"/>
                </a:lnTo>
                <a:lnTo>
                  <a:pt x="69908" y="135156"/>
                </a:lnTo>
                <a:lnTo>
                  <a:pt x="69908" y="111853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17" name="Text 15"/>
          <p:cNvSpPr/>
          <p:nvPr/>
        </p:nvSpPr>
        <p:spPr>
          <a:xfrm>
            <a:off x="6843863" y="1342239"/>
            <a:ext cx="1612550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dirty="0">
                <a:solidFill>
                  <a:srgbClr val="5D4E37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Yahya Kemal Beyatlı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43863" y="1603229"/>
            <a:ext cx="1593908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Aziz İstanbul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59166" y="1864220"/>
            <a:ext cx="5313028" cy="969394"/>
          </a:xfrm>
          <a:custGeom>
            <a:avLst/>
            <a:gdLst/>
            <a:ahLst/>
            <a:cxnLst/>
            <a:rect l="l" t="t" r="r" b="b"/>
            <a:pathLst>
              <a:path w="5313028" h="969394">
                <a:moveTo>
                  <a:pt x="37283" y="0"/>
                </a:moveTo>
                <a:lnTo>
                  <a:pt x="5275745" y="0"/>
                </a:lnTo>
                <a:cubicBezTo>
                  <a:pt x="5296335" y="0"/>
                  <a:pt x="5313028" y="16692"/>
                  <a:pt x="5313028" y="37283"/>
                </a:cubicBezTo>
                <a:lnTo>
                  <a:pt x="5313028" y="932112"/>
                </a:lnTo>
                <a:cubicBezTo>
                  <a:pt x="5313028" y="952702"/>
                  <a:pt x="5296335" y="969394"/>
                  <a:pt x="5275745" y="969394"/>
                </a:cubicBezTo>
                <a:lnTo>
                  <a:pt x="37283" y="969394"/>
                </a:lnTo>
                <a:cubicBezTo>
                  <a:pt x="16692" y="969394"/>
                  <a:pt x="0" y="952702"/>
                  <a:pt x="0" y="932112"/>
                </a:cubicBezTo>
                <a:lnTo>
                  <a:pt x="0" y="37283"/>
                </a:lnTo>
                <a:cubicBezTo>
                  <a:pt x="0" y="16706"/>
                  <a:pt x="16706" y="0"/>
                  <a:pt x="37283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20" name="Text 18"/>
          <p:cNvSpPr/>
          <p:nvPr/>
        </p:nvSpPr>
        <p:spPr>
          <a:xfrm>
            <a:off x="6433735" y="1976073"/>
            <a:ext cx="5163890" cy="48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74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"Bu şehr-i İstanbul ki bî misl ü bahadır,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74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Bir sengine yekpâre âlem feda ola..."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38395" y="2535339"/>
            <a:ext cx="5154569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dirty="0">
                <a:solidFill>
                  <a:srgbClr val="3D352E">
                    <a:alpha val="7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İstanbul sevgisinin en güzel ifadesi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91486" y="3131890"/>
            <a:ext cx="5629945" cy="1789651"/>
          </a:xfrm>
          <a:custGeom>
            <a:avLst/>
            <a:gdLst/>
            <a:ahLst/>
            <a:cxnLst/>
            <a:rect l="l" t="t" r="r" b="b"/>
            <a:pathLst>
              <a:path w="5629945" h="1789651">
                <a:moveTo>
                  <a:pt x="37284" y="0"/>
                </a:moveTo>
                <a:lnTo>
                  <a:pt x="5555370" y="0"/>
                </a:lnTo>
                <a:cubicBezTo>
                  <a:pt x="5596557" y="0"/>
                  <a:pt x="5629945" y="33388"/>
                  <a:pt x="5629945" y="74575"/>
                </a:cubicBezTo>
                <a:lnTo>
                  <a:pt x="5629945" y="1715077"/>
                </a:lnTo>
                <a:cubicBezTo>
                  <a:pt x="5629945" y="1756263"/>
                  <a:pt x="5596557" y="1789651"/>
                  <a:pt x="5555370" y="1789651"/>
                </a:cubicBezTo>
                <a:lnTo>
                  <a:pt x="37284" y="1789651"/>
                </a:lnTo>
                <a:cubicBezTo>
                  <a:pt x="16693" y="1789651"/>
                  <a:pt x="0" y="1772959"/>
                  <a:pt x="0" y="1752367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391486" y="3131890"/>
            <a:ext cx="37284" cy="1789651"/>
          </a:xfrm>
          <a:custGeom>
            <a:avLst/>
            <a:gdLst/>
            <a:ahLst/>
            <a:cxnLst/>
            <a:rect l="l" t="t" r="r" b="b"/>
            <a:pathLst>
              <a:path w="37284" h="1789651">
                <a:moveTo>
                  <a:pt x="37284" y="0"/>
                </a:moveTo>
                <a:lnTo>
                  <a:pt x="37284" y="0"/>
                </a:lnTo>
                <a:lnTo>
                  <a:pt x="37284" y="1789651"/>
                </a:lnTo>
                <a:lnTo>
                  <a:pt x="37284" y="1789651"/>
                </a:lnTo>
                <a:cubicBezTo>
                  <a:pt x="16693" y="1789651"/>
                  <a:pt x="0" y="1772959"/>
                  <a:pt x="0" y="1752367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8A817C"/>
          </a:solidFill>
          <a:ln/>
        </p:spPr>
      </p:sp>
      <p:sp>
        <p:nvSpPr>
          <p:cNvPr id="24" name="Shape 22"/>
          <p:cNvSpPr/>
          <p:nvPr/>
        </p:nvSpPr>
        <p:spPr>
          <a:xfrm>
            <a:off x="559266" y="3318312"/>
            <a:ext cx="372844" cy="372844"/>
          </a:xfrm>
          <a:custGeom>
            <a:avLst/>
            <a:gdLst/>
            <a:ahLst/>
            <a:cxnLst/>
            <a:rect l="l" t="t" r="r" b="b"/>
            <a:pathLst>
              <a:path w="372844" h="372844">
                <a:moveTo>
                  <a:pt x="0" y="0"/>
                </a:moveTo>
                <a:lnTo>
                  <a:pt x="372844" y="0"/>
                </a:lnTo>
                <a:lnTo>
                  <a:pt x="372844" y="372844"/>
                </a:lnTo>
                <a:lnTo>
                  <a:pt x="0" y="372844"/>
                </a:lnTo>
                <a:lnTo>
                  <a:pt x="0" y="0"/>
                </a:lnTo>
                <a:close/>
              </a:path>
            </a:pathLst>
          </a:custGeom>
          <a:solidFill>
            <a:srgbClr val="8A817C"/>
          </a:solidFill>
          <a:ln/>
        </p:spPr>
      </p:sp>
      <p:sp>
        <p:nvSpPr>
          <p:cNvPr id="25" name="Shape 23"/>
          <p:cNvSpPr/>
          <p:nvPr/>
        </p:nvSpPr>
        <p:spPr>
          <a:xfrm>
            <a:off x="680440" y="3430165"/>
            <a:ext cx="130495" cy="149138"/>
          </a:xfrm>
          <a:custGeom>
            <a:avLst/>
            <a:gdLst/>
            <a:ahLst/>
            <a:cxnLst/>
            <a:rect l="l" t="t" r="r" b="b"/>
            <a:pathLst>
              <a:path w="130495" h="149138">
                <a:moveTo>
                  <a:pt x="46751" y="-7690"/>
                </a:moveTo>
                <a:cubicBezTo>
                  <a:pt x="49460" y="-9962"/>
                  <a:pt x="53451" y="-9875"/>
                  <a:pt x="56043" y="-7428"/>
                </a:cubicBezTo>
                <a:cubicBezTo>
                  <a:pt x="59626" y="-4049"/>
                  <a:pt x="62830" y="-320"/>
                  <a:pt x="65918" y="3466"/>
                </a:cubicBezTo>
                <a:cubicBezTo>
                  <a:pt x="69850" y="8272"/>
                  <a:pt x="74569" y="14622"/>
                  <a:pt x="79113" y="22167"/>
                </a:cubicBezTo>
                <a:cubicBezTo>
                  <a:pt x="80628" y="20186"/>
                  <a:pt x="82026" y="18438"/>
                  <a:pt x="83249" y="16953"/>
                </a:cubicBezTo>
                <a:cubicBezTo>
                  <a:pt x="83569" y="16574"/>
                  <a:pt x="83890" y="16166"/>
                  <a:pt x="84210" y="15758"/>
                </a:cubicBezTo>
                <a:cubicBezTo>
                  <a:pt x="86511" y="12904"/>
                  <a:pt x="89366" y="9321"/>
                  <a:pt x="93182" y="9321"/>
                </a:cubicBezTo>
                <a:cubicBezTo>
                  <a:pt x="97085" y="9321"/>
                  <a:pt x="99823" y="12787"/>
                  <a:pt x="102153" y="15758"/>
                </a:cubicBezTo>
                <a:cubicBezTo>
                  <a:pt x="102532" y="16254"/>
                  <a:pt x="102911" y="16720"/>
                  <a:pt x="103289" y="17157"/>
                </a:cubicBezTo>
                <a:cubicBezTo>
                  <a:pt x="106290" y="20769"/>
                  <a:pt x="110280" y="25983"/>
                  <a:pt x="114271" y="32420"/>
                </a:cubicBezTo>
                <a:cubicBezTo>
                  <a:pt x="122194" y="45207"/>
                  <a:pt x="130466" y="63413"/>
                  <a:pt x="130466" y="83861"/>
                </a:cubicBezTo>
                <a:cubicBezTo>
                  <a:pt x="130466" y="119893"/>
                  <a:pt x="101250" y="149108"/>
                  <a:pt x="65219" y="149108"/>
                </a:cubicBezTo>
                <a:cubicBezTo>
                  <a:pt x="29187" y="149108"/>
                  <a:pt x="0" y="119922"/>
                  <a:pt x="0" y="83890"/>
                </a:cubicBezTo>
                <a:cubicBezTo>
                  <a:pt x="0" y="57354"/>
                  <a:pt x="11972" y="34372"/>
                  <a:pt x="23448" y="18351"/>
                </a:cubicBezTo>
                <a:cubicBezTo>
                  <a:pt x="29245" y="10282"/>
                  <a:pt x="35012" y="3816"/>
                  <a:pt x="39353" y="-612"/>
                </a:cubicBezTo>
                <a:cubicBezTo>
                  <a:pt x="41741" y="-3058"/>
                  <a:pt x="44159" y="-5476"/>
                  <a:pt x="46780" y="-7661"/>
                </a:cubicBezTo>
                <a:close/>
                <a:moveTo>
                  <a:pt x="65743" y="121174"/>
                </a:moveTo>
                <a:cubicBezTo>
                  <a:pt x="73112" y="121174"/>
                  <a:pt x="79637" y="119135"/>
                  <a:pt x="85783" y="115057"/>
                </a:cubicBezTo>
                <a:cubicBezTo>
                  <a:pt x="98046" y="106494"/>
                  <a:pt x="101338" y="89366"/>
                  <a:pt x="93968" y="75909"/>
                </a:cubicBezTo>
                <a:cubicBezTo>
                  <a:pt x="92658" y="73287"/>
                  <a:pt x="89308" y="73112"/>
                  <a:pt x="87414" y="75326"/>
                </a:cubicBezTo>
                <a:lnTo>
                  <a:pt x="80074" y="83861"/>
                </a:lnTo>
                <a:cubicBezTo>
                  <a:pt x="78152" y="86075"/>
                  <a:pt x="74685" y="86016"/>
                  <a:pt x="72879" y="83715"/>
                </a:cubicBezTo>
                <a:cubicBezTo>
                  <a:pt x="67840" y="77278"/>
                  <a:pt x="58577" y="65539"/>
                  <a:pt x="53858" y="59539"/>
                </a:cubicBezTo>
                <a:cubicBezTo>
                  <a:pt x="52286" y="57529"/>
                  <a:pt x="49431" y="57208"/>
                  <a:pt x="47596" y="58985"/>
                </a:cubicBezTo>
                <a:cubicBezTo>
                  <a:pt x="42265" y="64170"/>
                  <a:pt x="32595" y="75530"/>
                  <a:pt x="32595" y="89366"/>
                </a:cubicBezTo>
                <a:cubicBezTo>
                  <a:pt x="32595" y="109348"/>
                  <a:pt x="47334" y="121174"/>
                  <a:pt x="65714" y="121174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26" name="Text 24"/>
          <p:cNvSpPr/>
          <p:nvPr/>
        </p:nvSpPr>
        <p:spPr>
          <a:xfrm>
            <a:off x="1043963" y="3281028"/>
            <a:ext cx="1612550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dirty="0">
                <a:solidFill>
                  <a:srgbClr val="5D4E37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Necip Fazıl Kısakürek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43963" y="3542018"/>
            <a:ext cx="1593908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Çile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59266" y="3803009"/>
            <a:ext cx="5313028" cy="969394"/>
          </a:xfrm>
          <a:custGeom>
            <a:avLst/>
            <a:gdLst/>
            <a:ahLst/>
            <a:cxnLst/>
            <a:rect l="l" t="t" r="r" b="b"/>
            <a:pathLst>
              <a:path w="5313028" h="969394">
                <a:moveTo>
                  <a:pt x="37283" y="0"/>
                </a:moveTo>
                <a:lnTo>
                  <a:pt x="5275745" y="0"/>
                </a:lnTo>
                <a:cubicBezTo>
                  <a:pt x="5296335" y="0"/>
                  <a:pt x="5313028" y="16692"/>
                  <a:pt x="5313028" y="37283"/>
                </a:cubicBezTo>
                <a:lnTo>
                  <a:pt x="5313028" y="932112"/>
                </a:lnTo>
                <a:cubicBezTo>
                  <a:pt x="5313028" y="952702"/>
                  <a:pt x="5296335" y="969394"/>
                  <a:pt x="5275745" y="969394"/>
                </a:cubicBezTo>
                <a:lnTo>
                  <a:pt x="37283" y="969394"/>
                </a:lnTo>
                <a:cubicBezTo>
                  <a:pt x="16692" y="969394"/>
                  <a:pt x="0" y="952702"/>
                  <a:pt x="0" y="932112"/>
                </a:cubicBezTo>
                <a:lnTo>
                  <a:pt x="0" y="37283"/>
                </a:lnTo>
                <a:cubicBezTo>
                  <a:pt x="0" y="16706"/>
                  <a:pt x="16706" y="0"/>
                  <a:pt x="37283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29" name="Text 27"/>
          <p:cNvSpPr/>
          <p:nvPr/>
        </p:nvSpPr>
        <p:spPr>
          <a:xfrm>
            <a:off x="633835" y="3914862"/>
            <a:ext cx="5163890" cy="48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74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"Beni benden alıp bana döndüren,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74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Ey gökten inme örtüm, çilem, kaderim!"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8495" y="4474128"/>
            <a:ext cx="5154569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dirty="0">
                <a:solidFill>
                  <a:srgbClr val="3D352E">
                    <a:alpha val="7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Tasavvufi şiirin en güzel örneği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191386" y="3131890"/>
            <a:ext cx="5629945" cy="1789651"/>
          </a:xfrm>
          <a:custGeom>
            <a:avLst/>
            <a:gdLst/>
            <a:ahLst/>
            <a:cxnLst/>
            <a:rect l="l" t="t" r="r" b="b"/>
            <a:pathLst>
              <a:path w="5629945" h="1789651">
                <a:moveTo>
                  <a:pt x="37284" y="0"/>
                </a:moveTo>
                <a:lnTo>
                  <a:pt x="5555370" y="0"/>
                </a:lnTo>
                <a:cubicBezTo>
                  <a:pt x="5596557" y="0"/>
                  <a:pt x="5629945" y="33388"/>
                  <a:pt x="5629945" y="74575"/>
                </a:cubicBezTo>
                <a:lnTo>
                  <a:pt x="5629945" y="1715077"/>
                </a:lnTo>
                <a:cubicBezTo>
                  <a:pt x="5629945" y="1756263"/>
                  <a:pt x="5596557" y="1789651"/>
                  <a:pt x="5555370" y="1789651"/>
                </a:cubicBezTo>
                <a:lnTo>
                  <a:pt x="37284" y="1789651"/>
                </a:lnTo>
                <a:cubicBezTo>
                  <a:pt x="16693" y="1789651"/>
                  <a:pt x="0" y="1772959"/>
                  <a:pt x="0" y="1752367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191386" y="3131890"/>
            <a:ext cx="37284" cy="1789651"/>
          </a:xfrm>
          <a:custGeom>
            <a:avLst/>
            <a:gdLst/>
            <a:ahLst/>
            <a:cxnLst/>
            <a:rect l="l" t="t" r="r" b="b"/>
            <a:pathLst>
              <a:path w="37284" h="1789651">
                <a:moveTo>
                  <a:pt x="37284" y="0"/>
                </a:moveTo>
                <a:lnTo>
                  <a:pt x="37284" y="0"/>
                </a:lnTo>
                <a:lnTo>
                  <a:pt x="37284" y="1789651"/>
                </a:lnTo>
                <a:lnTo>
                  <a:pt x="37284" y="1789651"/>
                </a:lnTo>
                <a:cubicBezTo>
                  <a:pt x="16693" y="1789651"/>
                  <a:pt x="0" y="1772959"/>
                  <a:pt x="0" y="1752367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33" name="Shape 31"/>
          <p:cNvSpPr/>
          <p:nvPr/>
        </p:nvSpPr>
        <p:spPr>
          <a:xfrm>
            <a:off x="6359166" y="3318312"/>
            <a:ext cx="372844" cy="372844"/>
          </a:xfrm>
          <a:custGeom>
            <a:avLst/>
            <a:gdLst/>
            <a:ahLst/>
            <a:cxnLst/>
            <a:rect l="l" t="t" r="r" b="b"/>
            <a:pathLst>
              <a:path w="372844" h="372844">
                <a:moveTo>
                  <a:pt x="0" y="0"/>
                </a:moveTo>
                <a:lnTo>
                  <a:pt x="372844" y="0"/>
                </a:lnTo>
                <a:lnTo>
                  <a:pt x="372844" y="372844"/>
                </a:lnTo>
                <a:lnTo>
                  <a:pt x="0" y="372844"/>
                </a:lnTo>
                <a:lnTo>
                  <a:pt x="0" y="0"/>
                </a:ln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34" name="Shape 32"/>
          <p:cNvSpPr/>
          <p:nvPr/>
        </p:nvSpPr>
        <p:spPr>
          <a:xfrm>
            <a:off x="6489661" y="3430165"/>
            <a:ext cx="111853" cy="149138"/>
          </a:xfrm>
          <a:custGeom>
            <a:avLst/>
            <a:gdLst/>
            <a:ahLst/>
            <a:cxnLst/>
            <a:rect l="l" t="t" r="r" b="b"/>
            <a:pathLst>
              <a:path w="111853" h="149138">
                <a:moveTo>
                  <a:pt x="9321" y="0"/>
                </a:moveTo>
                <a:cubicBezTo>
                  <a:pt x="4165" y="0"/>
                  <a:pt x="0" y="4165"/>
                  <a:pt x="0" y="9321"/>
                </a:cubicBezTo>
                <a:cubicBezTo>
                  <a:pt x="0" y="14477"/>
                  <a:pt x="4165" y="18642"/>
                  <a:pt x="9321" y="18642"/>
                </a:cubicBezTo>
                <a:lnTo>
                  <a:pt x="9321" y="21846"/>
                </a:lnTo>
                <a:cubicBezTo>
                  <a:pt x="9321" y="34197"/>
                  <a:pt x="14244" y="46052"/>
                  <a:pt x="22982" y="54791"/>
                </a:cubicBezTo>
                <a:lnTo>
                  <a:pt x="42761" y="74569"/>
                </a:lnTo>
                <a:lnTo>
                  <a:pt x="22982" y="94347"/>
                </a:lnTo>
                <a:cubicBezTo>
                  <a:pt x="14244" y="103086"/>
                  <a:pt x="9321" y="114941"/>
                  <a:pt x="9321" y="127291"/>
                </a:cubicBezTo>
                <a:lnTo>
                  <a:pt x="9321" y="130495"/>
                </a:lnTo>
                <a:cubicBezTo>
                  <a:pt x="4165" y="130495"/>
                  <a:pt x="0" y="134661"/>
                  <a:pt x="0" y="139817"/>
                </a:cubicBezTo>
                <a:cubicBezTo>
                  <a:pt x="0" y="144972"/>
                  <a:pt x="4165" y="149138"/>
                  <a:pt x="9321" y="149138"/>
                </a:cubicBezTo>
                <a:lnTo>
                  <a:pt x="102532" y="149138"/>
                </a:lnTo>
                <a:cubicBezTo>
                  <a:pt x="107688" y="149138"/>
                  <a:pt x="111853" y="144972"/>
                  <a:pt x="111853" y="139817"/>
                </a:cubicBezTo>
                <a:cubicBezTo>
                  <a:pt x="111853" y="134661"/>
                  <a:pt x="107688" y="130495"/>
                  <a:pt x="102532" y="130495"/>
                </a:cubicBezTo>
                <a:lnTo>
                  <a:pt x="102532" y="127291"/>
                </a:lnTo>
                <a:cubicBezTo>
                  <a:pt x="102532" y="114941"/>
                  <a:pt x="97609" y="103086"/>
                  <a:pt x="88871" y="94347"/>
                </a:cubicBezTo>
                <a:lnTo>
                  <a:pt x="69093" y="74569"/>
                </a:lnTo>
                <a:lnTo>
                  <a:pt x="88871" y="54791"/>
                </a:lnTo>
                <a:cubicBezTo>
                  <a:pt x="97609" y="46052"/>
                  <a:pt x="102532" y="34197"/>
                  <a:pt x="102532" y="21846"/>
                </a:cubicBezTo>
                <a:lnTo>
                  <a:pt x="102532" y="18642"/>
                </a:lnTo>
                <a:cubicBezTo>
                  <a:pt x="107688" y="18642"/>
                  <a:pt x="111853" y="14477"/>
                  <a:pt x="111853" y="9321"/>
                </a:cubicBezTo>
                <a:cubicBezTo>
                  <a:pt x="111853" y="4165"/>
                  <a:pt x="107688" y="0"/>
                  <a:pt x="102532" y="0"/>
                </a:cubicBezTo>
                <a:lnTo>
                  <a:pt x="9321" y="0"/>
                </a:lnTo>
                <a:close/>
                <a:moveTo>
                  <a:pt x="27963" y="21846"/>
                </a:moveTo>
                <a:lnTo>
                  <a:pt x="27963" y="18642"/>
                </a:lnTo>
                <a:lnTo>
                  <a:pt x="83890" y="18642"/>
                </a:lnTo>
                <a:lnTo>
                  <a:pt x="83890" y="21846"/>
                </a:lnTo>
                <a:cubicBezTo>
                  <a:pt x="83890" y="27381"/>
                  <a:pt x="82259" y="32740"/>
                  <a:pt x="79229" y="37284"/>
                </a:cubicBezTo>
                <a:lnTo>
                  <a:pt x="32624" y="37284"/>
                </a:lnTo>
                <a:cubicBezTo>
                  <a:pt x="29624" y="32740"/>
                  <a:pt x="27963" y="27381"/>
                  <a:pt x="27963" y="21846"/>
                </a:cubicBezTo>
                <a:close/>
                <a:moveTo>
                  <a:pt x="32624" y="111853"/>
                </a:moveTo>
                <a:cubicBezTo>
                  <a:pt x="33643" y="110309"/>
                  <a:pt x="34838" y="108853"/>
                  <a:pt x="36148" y="107513"/>
                </a:cubicBezTo>
                <a:lnTo>
                  <a:pt x="55927" y="87735"/>
                </a:lnTo>
                <a:lnTo>
                  <a:pt x="75705" y="107513"/>
                </a:lnTo>
                <a:cubicBezTo>
                  <a:pt x="77045" y="108853"/>
                  <a:pt x="78210" y="110309"/>
                  <a:pt x="79258" y="111853"/>
                </a:cubicBezTo>
                <a:lnTo>
                  <a:pt x="32624" y="111853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35" name="Text 33"/>
          <p:cNvSpPr/>
          <p:nvPr/>
        </p:nvSpPr>
        <p:spPr>
          <a:xfrm>
            <a:off x="6843863" y="3281028"/>
            <a:ext cx="1463413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dirty="0">
                <a:solidFill>
                  <a:srgbClr val="5D4E37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Cahit Sıtkı Tarancı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43863" y="3542018"/>
            <a:ext cx="1444771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Otuz Beş Yaş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59166" y="3803009"/>
            <a:ext cx="5313028" cy="969394"/>
          </a:xfrm>
          <a:custGeom>
            <a:avLst/>
            <a:gdLst/>
            <a:ahLst/>
            <a:cxnLst/>
            <a:rect l="l" t="t" r="r" b="b"/>
            <a:pathLst>
              <a:path w="5313028" h="969394">
                <a:moveTo>
                  <a:pt x="37283" y="0"/>
                </a:moveTo>
                <a:lnTo>
                  <a:pt x="5275745" y="0"/>
                </a:lnTo>
                <a:cubicBezTo>
                  <a:pt x="5296335" y="0"/>
                  <a:pt x="5313028" y="16692"/>
                  <a:pt x="5313028" y="37283"/>
                </a:cubicBezTo>
                <a:lnTo>
                  <a:pt x="5313028" y="932112"/>
                </a:lnTo>
                <a:cubicBezTo>
                  <a:pt x="5313028" y="952702"/>
                  <a:pt x="5296335" y="969394"/>
                  <a:pt x="5275745" y="969394"/>
                </a:cubicBezTo>
                <a:lnTo>
                  <a:pt x="37283" y="969394"/>
                </a:lnTo>
                <a:cubicBezTo>
                  <a:pt x="16692" y="969394"/>
                  <a:pt x="0" y="952702"/>
                  <a:pt x="0" y="932112"/>
                </a:cubicBezTo>
                <a:lnTo>
                  <a:pt x="0" y="37283"/>
                </a:lnTo>
                <a:cubicBezTo>
                  <a:pt x="0" y="16706"/>
                  <a:pt x="16706" y="0"/>
                  <a:pt x="37283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38" name="Text 36"/>
          <p:cNvSpPr/>
          <p:nvPr/>
        </p:nvSpPr>
        <p:spPr>
          <a:xfrm>
            <a:off x="6433735" y="3914862"/>
            <a:ext cx="5163890" cy="48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74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"Yaş otuz beş! Yolun yarısı eder,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74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Dante gibi ortasındadır..."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38395" y="4474128"/>
            <a:ext cx="5154569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dirty="0">
                <a:solidFill>
                  <a:srgbClr val="3D352E">
                    <a:alpha val="7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Ölüm ve yaşlanma teması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91486" y="5070679"/>
            <a:ext cx="11427670" cy="1789651"/>
          </a:xfrm>
          <a:custGeom>
            <a:avLst/>
            <a:gdLst/>
            <a:ahLst/>
            <a:cxnLst/>
            <a:rect l="l" t="t" r="r" b="b"/>
            <a:pathLst>
              <a:path w="11427670" h="1789651">
                <a:moveTo>
                  <a:pt x="37284" y="0"/>
                </a:moveTo>
                <a:lnTo>
                  <a:pt x="11353095" y="0"/>
                </a:lnTo>
                <a:cubicBezTo>
                  <a:pt x="11394281" y="0"/>
                  <a:pt x="11427670" y="33388"/>
                  <a:pt x="11427670" y="74575"/>
                </a:cubicBezTo>
                <a:lnTo>
                  <a:pt x="11427670" y="1715077"/>
                </a:lnTo>
                <a:cubicBezTo>
                  <a:pt x="11427670" y="1756263"/>
                  <a:pt x="11394281" y="1789651"/>
                  <a:pt x="11353095" y="1789651"/>
                </a:cubicBezTo>
                <a:lnTo>
                  <a:pt x="37284" y="1789651"/>
                </a:lnTo>
                <a:cubicBezTo>
                  <a:pt x="16693" y="1789651"/>
                  <a:pt x="0" y="1772959"/>
                  <a:pt x="0" y="1752367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391486" y="5070679"/>
            <a:ext cx="37284" cy="1789651"/>
          </a:xfrm>
          <a:custGeom>
            <a:avLst/>
            <a:gdLst/>
            <a:ahLst/>
            <a:cxnLst/>
            <a:rect l="l" t="t" r="r" b="b"/>
            <a:pathLst>
              <a:path w="37284" h="1789651">
                <a:moveTo>
                  <a:pt x="37284" y="0"/>
                </a:moveTo>
                <a:lnTo>
                  <a:pt x="37284" y="0"/>
                </a:lnTo>
                <a:lnTo>
                  <a:pt x="37284" y="1789651"/>
                </a:lnTo>
                <a:lnTo>
                  <a:pt x="37284" y="1789651"/>
                </a:lnTo>
                <a:cubicBezTo>
                  <a:pt x="16693" y="1789651"/>
                  <a:pt x="0" y="1772959"/>
                  <a:pt x="0" y="1752367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42" name="Shape 40"/>
          <p:cNvSpPr/>
          <p:nvPr/>
        </p:nvSpPr>
        <p:spPr>
          <a:xfrm>
            <a:off x="559266" y="5257101"/>
            <a:ext cx="372844" cy="372844"/>
          </a:xfrm>
          <a:custGeom>
            <a:avLst/>
            <a:gdLst/>
            <a:ahLst/>
            <a:cxnLst/>
            <a:rect l="l" t="t" r="r" b="b"/>
            <a:pathLst>
              <a:path w="372844" h="372844">
                <a:moveTo>
                  <a:pt x="0" y="0"/>
                </a:moveTo>
                <a:lnTo>
                  <a:pt x="372844" y="0"/>
                </a:lnTo>
                <a:lnTo>
                  <a:pt x="372844" y="372844"/>
                </a:lnTo>
                <a:lnTo>
                  <a:pt x="0" y="372844"/>
                </a:lnTo>
                <a:lnTo>
                  <a:pt x="0" y="0"/>
                </a:lnTo>
                <a:close/>
              </a:path>
            </a:pathLst>
          </a:custGeom>
          <a:solidFill>
            <a:srgbClr val="5D4E37"/>
          </a:solidFill>
          <a:ln/>
        </p:spPr>
      </p:sp>
      <p:sp>
        <p:nvSpPr>
          <p:cNvPr id="43" name="Shape 41"/>
          <p:cNvSpPr/>
          <p:nvPr/>
        </p:nvSpPr>
        <p:spPr>
          <a:xfrm>
            <a:off x="671119" y="5368954"/>
            <a:ext cx="149138" cy="149138"/>
          </a:xfrm>
          <a:custGeom>
            <a:avLst/>
            <a:gdLst/>
            <a:ahLst/>
            <a:cxnLst/>
            <a:rect l="l" t="t" r="r" b="b"/>
            <a:pathLst>
              <a:path w="149138" h="149138">
                <a:moveTo>
                  <a:pt x="70200" y="25371"/>
                </a:moveTo>
                <a:lnTo>
                  <a:pt x="74569" y="31400"/>
                </a:lnTo>
                <a:lnTo>
                  <a:pt x="78938" y="25371"/>
                </a:lnTo>
                <a:cubicBezTo>
                  <a:pt x="86220" y="15292"/>
                  <a:pt x="97930" y="9321"/>
                  <a:pt x="110368" y="9321"/>
                </a:cubicBezTo>
                <a:cubicBezTo>
                  <a:pt x="131777" y="9321"/>
                  <a:pt x="149138" y="26682"/>
                  <a:pt x="149138" y="48091"/>
                </a:cubicBezTo>
                <a:lnTo>
                  <a:pt x="149138" y="48848"/>
                </a:lnTo>
                <a:cubicBezTo>
                  <a:pt x="149138" y="81531"/>
                  <a:pt x="108387" y="119485"/>
                  <a:pt x="87123" y="135709"/>
                </a:cubicBezTo>
                <a:cubicBezTo>
                  <a:pt x="83511" y="138447"/>
                  <a:pt x="79084" y="139817"/>
                  <a:pt x="74569" y="139817"/>
                </a:cubicBezTo>
                <a:cubicBezTo>
                  <a:pt x="70054" y="139817"/>
                  <a:pt x="65597" y="138477"/>
                  <a:pt x="62014" y="135709"/>
                </a:cubicBezTo>
                <a:cubicBezTo>
                  <a:pt x="40751" y="119485"/>
                  <a:pt x="0" y="81531"/>
                  <a:pt x="0" y="48848"/>
                </a:cubicBezTo>
                <a:lnTo>
                  <a:pt x="0" y="48091"/>
                </a:lnTo>
                <a:cubicBezTo>
                  <a:pt x="0" y="26682"/>
                  <a:pt x="17361" y="9321"/>
                  <a:pt x="38770" y="9321"/>
                </a:cubicBezTo>
                <a:cubicBezTo>
                  <a:pt x="51208" y="9321"/>
                  <a:pt x="62917" y="15292"/>
                  <a:pt x="70200" y="25371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44" name="Text 42"/>
          <p:cNvSpPr/>
          <p:nvPr/>
        </p:nvSpPr>
        <p:spPr>
          <a:xfrm>
            <a:off x="1043963" y="5219817"/>
            <a:ext cx="1687119" cy="2609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21" dirty="0">
                <a:solidFill>
                  <a:srgbClr val="5D4E37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Ahmet Muhip Dıranas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43963" y="5480807"/>
            <a:ext cx="1668477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28" dirty="0">
                <a:solidFill>
                  <a:srgbClr val="8A817C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Fahriye Abla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59266" y="5741798"/>
            <a:ext cx="11110752" cy="969394"/>
          </a:xfrm>
          <a:custGeom>
            <a:avLst/>
            <a:gdLst/>
            <a:ahLst/>
            <a:cxnLst/>
            <a:rect l="l" t="t" r="r" b="b"/>
            <a:pathLst>
              <a:path w="11110752" h="969394">
                <a:moveTo>
                  <a:pt x="37283" y="0"/>
                </a:moveTo>
                <a:lnTo>
                  <a:pt x="11073469" y="0"/>
                </a:lnTo>
                <a:cubicBezTo>
                  <a:pt x="11094060" y="0"/>
                  <a:pt x="11110752" y="16692"/>
                  <a:pt x="11110752" y="37283"/>
                </a:cubicBezTo>
                <a:lnTo>
                  <a:pt x="11110752" y="932112"/>
                </a:lnTo>
                <a:cubicBezTo>
                  <a:pt x="11110752" y="952702"/>
                  <a:pt x="11094060" y="969394"/>
                  <a:pt x="11073469" y="969394"/>
                </a:cubicBezTo>
                <a:lnTo>
                  <a:pt x="37283" y="969394"/>
                </a:lnTo>
                <a:cubicBezTo>
                  <a:pt x="16692" y="969394"/>
                  <a:pt x="0" y="952702"/>
                  <a:pt x="0" y="932112"/>
                </a:cubicBezTo>
                <a:lnTo>
                  <a:pt x="0" y="37283"/>
                </a:lnTo>
                <a:cubicBezTo>
                  <a:pt x="0" y="16706"/>
                  <a:pt x="16706" y="0"/>
                  <a:pt x="37283" y="0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47" name="Text 45"/>
          <p:cNvSpPr/>
          <p:nvPr/>
        </p:nvSpPr>
        <p:spPr>
          <a:xfrm>
            <a:off x="633835" y="5853651"/>
            <a:ext cx="10961615" cy="484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174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"Fahriye abla, en büyük hatun,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174" dirty="0">
                <a:solidFill>
                  <a:srgbClr val="5D4E37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Kırk yıldır sokakta, kırk yıldır..."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8495" y="6412917"/>
            <a:ext cx="10952294" cy="186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28" dirty="0">
                <a:solidFill>
                  <a:srgbClr val="3D352E">
                    <a:alpha val="7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Sembolist şiirin güzel bir örneği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upload.wikimedia.org/81233507b6f335f9c8ba3b6811a187f44a6a5f34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22546" b="2254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5D4E37">
                  <a:alpha val="90000"/>
                </a:srgbClr>
              </a:gs>
              <a:gs pos="50000">
                <a:srgbClr val="5D4E37">
                  <a:alpha val="70000"/>
                </a:srgbClr>
              </a:gs>
              <a:gs pos="100000">
                <a:srgbClr val="A44A3F">
                  <a:alpha val="6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F8F5F2">
                    <a:alpha val="7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SONUÇ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F8F5F2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Değerlendirme ve Önem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90525" y="1381125"/>
            <a:ext cx="6705600" cy="1809750"/>
          </a:xfrm>
          <a:custGeom>
            <a:avLst/>
            <a:gdLst/>
            <a:ahLst/>
            <a:cxnLst/>
            <a:rect l="l" t="t" r="r" b="b"/>
            <a:pathLst>
              <a:path w="6705600" h="1809750">
                <a:moveTo>
                  <a:pt x="76209" y="0"/>
                </a:moveTo>
                <a:lnTo>
                  <a:pt x="6629391" y="0"/>
                </a:lnTo>
                <a:cubicBezTo>
                  <a:pt x="6671452" y="0"/>
                  <a:pt x="6705600" y="34148"/>
                  <a:pt x="6705600" y="76209"/>
                </a:cubicBezTo>
                <a:lnTo>
                  <a:pt x="6705600" y="1733541"/>
                </a:lnTo>
                <a:cubicBezTo>
                  <a:pt x="6705600" y="1775630"/>
                  <a:pt x="6671480" y="1809750"/>
                  <a:pt x="6629391" y="1809750"/>
                </a:cubicBezTo>
                <a:lnTo>
                  <a:pt x="76209" y="1809750"/>
                </a:lnTo>
                <a:cubicBezTo>
                  <a:pt x="34148" y="1809750"/>
                  <a:pt x="0" y="1775602"/>
                  <a:pt x="0" y="1733541"/>
                </a:cubicBezTo>
                <a:lnTo>
                  <a:pt x="0" y="76209"/>
                </a:lnTo>
                <a:cubicBezTo>
                  <a:pt x="0" y="34148"/>
                  <a:pt x="34148" y="0"/>
                  <a:pt x="76209" y="0"/>
                </a:cubicBezTo>
                <a:close/>
              </a:path>
            </a:pathLst>
          </a:custGeom>
          <a:solidFill>
            <a:srgbClr val="F8F5F2">
              <a:alpha val="10196"/>
            </a:srgbClr>
          </a:solidFill>
          <a:ln w="25400">
            <a:solidFill>
              <a:srgbClr val="F8F5F2">
                <a:alpha val="30196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0550" y="1581150"/>
            <a:ext cx="6419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8F5F2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Saf Şiirin Türk Edebiyatına Katkıları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4363" y="2076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9" name="Text 6"/>
          <p:cNvSpPr/>
          <p:nvPr/>
        </p:nvSpPr>
        <p:spPr>
          <a:xfrm>
            <a:off x="942975" y="2038350"/>
            <a:ext cx="2295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Modernleşme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42975" y="2266950"/>
            <a:ext cx="2286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5F2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Türk şiirinin modernleşmesinde öncü rol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22382" y="20764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12" name="Text 9"/>
          <p:cNvSpPr/>
          <p:nvPr/>
        </p:nvSpPr>
        <p:spPr>
          <a:xfrm>
            <a:off x="4150995" y="2038350"/>
            <a:ext cx="2257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Estetik Değer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150995" y="2266950"/>
            <a:ext cx="2247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5F2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Şiirin estetik değerinin ön plana çıkması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4363" y="2609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15" name="Text 12"/>
          <p:cNvSpPr/>
          <p:nvPr/>
        </p:nvSpPr>
        <p:spPr>
          <a:xfrm>
            <a:off x="942975" y="2571750"/>
            <a:ext cx="1885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Dil ve Biçim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42975" y="2800350"/>
            <a:ext cx="1876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5F2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Dilin saflaşması ve biçim endişesi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822382" y="2609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18" name="Text 15"/>
          <p:cNvSpPr/>
          <p:nvPr/>
        </p:nvSpPr>
        <p:spPr>
          <a:xfrm>
            <a:off x="4150995" y="2571750"/>
            <a:ext cx="2219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Gelenek ve Modern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150995" y="2800350"/>
            <a:ext cx="2209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8F5F2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Divan geleneğiyle modern şiirin sentezi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90525" y="3362325"/>
            <a:ext cx="6705600" cy="3105150"/>
          </a:xfrm>
          <a:custGeom>
            <a:avLst/>
            <a:gdLst/>
            <a:ahLst/>
            <a:cxnLst/>
            <a:rect l="l" t="t" r="r" b="b"/>
            <a:pathLst>
              <a:path w="6705600" h="3105150">
                <a:moveTo>
                  <a:pt x="76200" y="0"/>
                </a:moveTo>
                <a:lnTo>
                  <a:pt x="6629400" y="0"/>
                </a:lnTo>
                <a:cubicBezTo>
                  <a:pt x="6671484" y="0"/>
                  <a:pt x="6705600" y="34116"/>
                  <a:pt x="6705600" y="76200"/>
                </a:cubicBezTo>
                <a:lnTo>
                  <a:pt x="6705600" y="3028950"/>
                </a:lnTo>
                <a:cubicBezTo>
                  <a:pt x="6705600" y="3071034"/>
                  <a:pt x="6671484" y="3105150"/>
                  <a:pt x="6629400" y="3105150"/>
                </a:cubicBezTo>
                <a:lnTo>
                  <a:pt x="76200" y="3105150"/>
                </a:lnTo>
                <a:cubicBezTo>
                  <a:pt x="34116" y="3105150"/>
                  <a:pt x="0" y="3071034"/>
                  <a:pt x="0" y="302895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8F5F2">
              <a:alpha val="10196"/>
            </a:srgbClr>
          </a:solidFill>
          <a:ln w="25400">
            <a:solidFill>
              <a:srgbClr val="F8F5F2">
                <a:alpha val="30196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0550" y="3562350"/>
            <a:ext cx="64198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F8F5F2"/>
                </a:solidFill>
                <a:latin typeface="阿里妈妈刀隶体" pitchFamily="34" charset="0"/>
                <a:ea typeface="阿里妈妈刀隶体" pitchFamily="34" charset="-122"/>
                <a:cs typeface="阿里妈妈刀隶体" pitchFamily="34" charset="-120"/>
              </a:rPr>
              <a:t>Günümüzdeki Etkileri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590550" y="4019550"/>
            <a:ext cx="63912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Saf şiir anlayışı, günümüz Türk şiirinde de etkisini sürdürmektedir.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Estetik kaygı, biçim endişesi ve bireysellik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gibi özellikler modern şairler tarafından benimsenmektedir.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90550" y="4691063"/>
            <a:ext cx="6391275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Ahmet Haşim, Yahya Kemal Beyatlı ve diğer temsilcilerin eserleri, edebiyat tarihimizde önemli bir yer tutmaktadır.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330440" y="1371600"/>
            <a:ext cx="4476750" cy="1743075"/>
          </a:xfrm>
          <a:custGeom>
            <a:avLst/>
            <a:gdLst/>
            <a:ahLst/>
            <a:cxnLst/>
            <a:rect l="l" t="t" r="r" b="b"/>
            <a:pathLst>
              <a:path w="4476750" h="1743075">
                <a:moveTo>
                  <a:pt x="76207" y="0"/>
                </a:moveTo>
                <a:lnTo>
                  <a:pt x="4400543" y="0"/>
                </a:lnTo>
                <a:cubicBezTo>
                  <a:pt x="4442631" y="0"/>
                  <a:pt x="4476750" y="34119"/>
                  <a:pt x="4476750" y="76207"/>
                </a:cubicBezTo>
                <a:lnTo>
                  <a:pt x="4476750" y="1666868"/>
                </a:lnTo>
                <a:cubicBezTo>
                  <a:pt x="4476750" y="1708956"/>
                  <a:pt x="4442631" y="1743075"/>
                  <a:pt x="4400543" y="1743075"/>
                </a:cubicBezTo>
                <a:lnTo>
                  <a:pt x="76207" y="1743075"/>
                </a:lnTo>
                <a:cubicBezTo>
                  <a:pt x="34119" y="1743075"/>
                  <a:pt x="0" y="1708956"/>
                  <a:pt x="0" y="1666868"/>
                </a:cubicBezTo>
                <a:lnTo>
                  <a:pt x="0" y="76207"/>
                </a:lnTo>
                <a:cubicBezTo>
                  <a:pt x="0" y="34119"/>
                  <a:pt x="34119" y="0"/>
                  <a:pt x="76207" y="0"/>
                </a:cubicBezTo>
                <a:close/>
              </a:path>
            </a:pathLst>
          </a:custGeom>
          <a:solidFill>
            <a:srgbClr val="A44A3F"/>
          </a:solidFill>
          <a:ln/>
        </p:spPr>
      </p:sp>
      <p:sp>
        <p:nvSpPr>
          <p:cNvPr id="25" name="Shape 22"/>
          <p:cNvSpPr/>
          <p:nvPr/>
        </p:nvSpPr>
        <p:spPr>
          <a:xfrm>
            <a:off x="9420701" y="1600200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0" y="144661"/>
                </a:moveTo>
                <a:cubicBezTo>
                  <a:pt x="0" y="100258"/>
                  <a:pt x="35964" y="64294"/>
                  <a:pt x="80367" y="64294"/>
                </a:cubicBezTo>
                <a:lnTo>
                  <a:pt x="85725" y="64294"/>
                </a:lnTo>
                <a:cubicBezTo>
                  <a:pt x="97579" y="64294"/>
                  <a:pt x="107156" y="73871"/>
                  <a:pt x="107156" y="85725"/>
                </a:cubicBezTo>
                <a:cubicBezTo>
                  <a:pt x="107156" y="97579"/>
                  <a:pt x="97579" y="107156"/>
                  <a:pt x="85725" y="107156"/>
                </a:cubicBezTo>
                <a:lnTo>
                  <a:pt x="80367" y="107156"/>
                </a:lnTo>
                <a:cubicBezTo>
                  <a:pt x="59673" y="107156"/>
                  <a:pt x="42863" y="123966"/>
                  <a:pt x="42863" y="144661"/>
                </a:cubicBezTo>
                <a:lnTo>
                  <a:pt x="42863" y="150019"/>
                </a:lnTo>
                <a:lnTo>
                  <a:pt x="85725" y="150019"/>
                </a:lnTo>
                <a:cubicBezTo>
                  <a:pt x="109366" y="150019"/>
                  <a:pt x="128588" y="169240"/>
                  <a:pt x="128588" y="192881"/>
                </a:cubicBezTo>
                <a:lnTo>
                  <a:pt x="128588" y="235744"/>
                </a:lnTo>
                <a:cubicBezTo>
                  <a:pt x="128588" y="259385"/>
                  <a:pt x="109366" y="278606"/>
                  <a:pt x="85725" y="278606"/>
                </a:cubicBezTo>
                <a:lnTo>
                  <a:pt x="42863" y="278606"/>
                </a:lnTo>
                <a:cubicBezTo>
                  <a:pt x="19221" y="278606"/>
                  <a:pt x="0" y="259385"/>
                  <a:pt x="0" y="235744"/>
                </a:cubicBezTo>
                <a:lnTo>
                  <a:pt x="0" y="144661"/>
                </a:lnTo>
                <a:close/>
                <a:moveTo>
                  <a:pt x="171450" y="144661"/>
                </a:moveTo>
                <a:cubicBezTo>
                  <a:pt x="171450" y="100258"/>
                  <a:pt x="207414" y="64294"/>
                  <a:pt x="251817" y="64294"/>
                </a:cubicBezTo>
                <a:lnTo>
                  <a:pt x="257175" y="64294"/>
                </a:lnTo>
                <a:cubicBezTo>
                  <a:pt x="269029" y="64294"/>
                  <a:pt x="278606" y="73871"/>
                  <a:pt x="278606" y="85725"/>
                </a:cubicBezTo>
                <a:cubicBezTo>
                  <a:pt x="278606" y="97579"/>
                  <a:pt x="269029" y="107156"/>
                  <a:pt x="257175" y="107156"/>
                </a:cubicBezTo>
                <a:lnTo>
                  <a:pt x="251817" y="107156"/>
                </a:lnTo>
                <a:cubicBezTo>
                  <a:pt x="231123" y="107156"/>
                  <a:pt x="214313" y="123966"/>
                  <a:pt x="214313" y="144661"/>
                </a:cubicBezTo>
                <a:lnTo>
                  <a:pt x="214313" y="150019"/>
                </a:lnTo>
                <a:lnTo>
                  <a:pt x="257175" y="150019"/>
                </a:lnTo>
                <a:cubicBezTo>
                  <a:pt x="280816" y="150019"/>
                  <a:pt x="300038" y="169240"/>
                  <a:pt x="300038" y="192881"/>
                </a:cubicBezTo>
                <a:lnTo>
                  <a:pt x="300038" y="235744"/>
                </a:lnTo>
                <a:cubicBezTo>
                  <a:pt x="300038" y="259385"/>
                  <a:pt x="280816" y="278606"/>
                  <a:pt x="257175" y="278606"/>
                </a:cubicBezTo>
                <a:lnTo>
                  <a:pt x="214313" y="278606"/>
                </a:lnTo>
                <a:cubicBezTo>
                  <a:pt x="190671" y="278606"/>
                  <a:pt x="171450" y="259385"/>
                  <a:pt x="171450" y="235744"/>
                </a:cubicBezTo>
                <a:lnTo>
                  <a:pt x="171450" y="144661"/>
                </a:ln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26" name="Text 23"/>
          <p:cNvSpPr/>
          <p:nvPr/>
        </p:nvSpPr>
        <p:spPr>
          <a:xfrm>
            <a:off x="7501890" y="2095500"/>
            <a:ext cx="41338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"Şiir duyulmak ve hissedilmek içindir."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516177" y="2619375"/>
            <a:ext cx="41052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F8F5F2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— Ahmet Haşim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339965" y="3276600"/>
            <a:ext cx="4457700" cy="3190875"/>
          </a:xfrm>
          <a:custGeom>
            <a:avLst/>
            <a:gdLst/>
            <a:ahLst/>
            <a:cxnLst/>
            <a:rect l="l" t="t" r="r" b="b"/>
            <a:pathLst>
              <a:path w="4457700" h="3190875">
                <a:moveTo>
                  <a:pt x="76198" y="0"/>
                </a:moveTo>
                <a:lnTo>
                  <a:pt x="4381502" y="0"/>
                </a:lnTo>
                <a:cubicBezTo>
                  <a:pt x="4423585" y="0"/>
                  <a:pt x="4457700" y="34115"/>
                  <a:pt x="4457700" y="76198"/>
                </a:cubicBezTo>
                <a:lnTo>
                  <a:pt x="4457700" y="3114677"/>
                </a:lnTo>
                <a:cubicBezTo>
                  <a:pt x="4457700" y="3156760"/>
                  <a:pt x="4423585" y="3190875"/>
                  <a:pt x="4381502" y="3190875"/>
                </a:cubicBezTo>
                <a:lnTo>
                  <a:pt x="76198" y="3190875"/>
                </a:lnTo>
                <a:cubicBezTo>
                  <a:pt x="34115" y="3190875"/>
                  <a:pt x="0" y="3156760"/>
                  <a:pt x="0" y="31146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F8F5F2">
              <a:alpha val="10196"/>
            </a:srgbClr>
          </a:solidFill>
          <a:ln w="25400">
            <a:solidFill>
              <a:srgbClr val="F8F5F2">
                <a:alpha val="30196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342120" y="371713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126176"/>
                </a:moveTo>
                <a:lnTo>
                  <a:pt x="228600" y="402372"/>
                </a:lnTo>
                <a:lnTo>
                  <a:pt x="229046" y="402193"/>
                </a:lnTo>
                <a:cubicBezTo>
                  <a:pt x="277803" y="381923"/>
                  <a:pt x="330131" y="371475"/>
                  <a:pt x="382905" y="371475"/>
                </a:cubicBezTo>
                <a:lnTo>
                  <a:pt x="400050" y="371475"/>
                </a:lnTo>
                <a:lnTo>
                  <a:pt x="400050" y="85725"/>
                </a:lnTo>
                <a:lnTo>
                  <a:pt x="382905" y="85725"/>
                </a:lnTo>
                <a:cubicBezTo>
                  <a:pt x="345222" y="85725"/>
                  <a:pt x="307806" y="93226"/>
                  <a:pt x="272981" y="107692"/>
                </a:cubicBezTo>
                <a:cubicBezTo>
                  <a:pt x="257979" y="113943"/>
                  <a:pt x="243155" y="120104"/>
                  <a:pt x="228600" y="126176"/>
                </a:cubicBezTo>
                <a:close/>
                <a:moveTo>
                  <a:pt x="206186" y="54918"/>
                </a:moveTo>
                <a:lnTo>
                  <a:pt x="228600" y="64294"/>
                </a:lnTo>
                <a:lnTo>
                  <a:pt x="251014" y="54918"/>
                </a:lnTo>
                <a:cubicBezTo>
                  <a:pt x="292804" y="37505"/>
                  <a:pt x="337631" y="28575"/>
                  <a:pt x="382905" y="28575"/>
                </a:cubicBezTo>
                <a:lnTo>
                  <a:pt x="414338" y="28575"/>
                </a:lnTo>
                <a:cubicBezTo>
                  <a:pt x="438001" y="28575"/>
                  <a:pt x="457200" y="47774"/>
                  <a:pt x="457200" y="71438"/>
                </a:cubicBezTo>
                <a:lnTo>
                  <a:pt x="457200" y="385763"/>
                </a:lnTo>
                <a:cubicBezTo>
                  <a:pt x="457200" y="409426"/>
                  <a:pt x="438001" y="428625"/>
                  <a:pt x="414338" y="428625"/>
                </a:cubicBezTo>
                <a:lnTo>
                  <a:pt x="382905" y="428625"/>
                </a:lnTo>
                <a:cubicBezTo>
                  <a:pt x="337631" y="428625"/>
                  <a:pt x="292804" y="437555"/>
                  <a:pt x="251014" y="454968"/>
                </a:cubicBezTo>
                <a:lnTo>
                  <a:pt x="239584" y="459700"/>
                </a:lnTo>
                <a:cubicBezTo>
                  <a:pt x="232529" y="462647"/>
                  <a:pt x="224671" y="462647"/>
                  <a:pt x="217616" y="459700"/>
                </a:cubicBezTo>
                <a:lnTo>
                  <a:pt x="206186" y="454968"/>
                </a:lnTo>
                <a:cubicBezTo>
                  <a:pt x="164396" y="437555"/>
                  <a:pt x="119569" y="428625"/>
                  <a:pt x="74295" y="428625"/>
                </a:cubicBezTo>
                <a:lnTo>
                  <a:pt x="42863" y="428625"/>
                </a:lnTo>
                <a:cubicBezTo>
                  <a:pt x="19199" y="428625"/>
                  <a:pt x="0" y="409426"/>
                  <a:pt x="0" y="385763"/>
                </a:cubicBezTo>
                <a:lnTo>
                  <a:pt x="0" y="71438"/>
                </a:lnTo>
                <a:cubicBezTo>
                  <a:pt x="0" y="47774"/>
                  <a:pt x="19199" y="28575"/>
                  <a:pt x="42863" y="28575"/>
                </a:cubicBezTo>
                <a:lnTo>
                  <a:pt x="74295" y="28575"/>
                </a:lnTo>
                <a:cubicBezTo>
                  <a:pt x="119569" y="28575"/>
                  <a:pt x="164396" y="37505"/>
                  <a:pt x="206186" y="54918"/>
                </a:cubicBezTo>
                <a:close/>
              </a:path>
            </a:pathLst>
          </a:custGeom>
          <a:solidFill>
            <a:srgbClr val="F8F5F2"/>
          </a:solidFill>
          <a:ln/>
        </p:spPr>
      </p:sp>
      <p:sp>
        <p:nvSpPr>
          <p:cNvPr id="30" name="Text 27"/>
          <p:cNvSpPr/>
          <p:nvPr/>
        </p:nvSpPr>
        <p:spPr>
          <a:xfrm>
            <a:off x="7530465" y="4326731"/>
            <a:ext cx="407670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Saf şiir, Türk edebiyatının en önemli akımlarından biridir ve edebiyat tarihimizde </a:t>
            </a:r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kalıcı bir iz</a:t>
            </a:r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F8F5F2"/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 bırakmıştır.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7578090" y="5412581"/>
            <a:ext cx="3981450" cy="9525"/>
          </a:xfrm>
          <a:custGeom>
            <a:avLst/>
            <a:gdLst/>
            <a:ahLst/>
            <a:cxnLst/>
            <a:rect l="l" t="t" r="r" b="b"/>
            <a:pathLst>
              <a:path w="3981450" h="9525">
                <a:moveTo>
                  <a:pt x="0" y="0"/>
                </a:moveTo>
                <a:lnTo>
                  <a:pt x="3981450" y="0"/>
                </a:lnTo>
                <a:lnTo>
                  <a:pt x="398145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8F5F2">
              <a:alpha val="30196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7539990" y="5569744"/>
            <a:ext cx="4057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8F5F2">
                    <a:alpha val="8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10. Sınıf Edebiyat Projesi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7544752" y="5836444"/>
            <a:ext cx="404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5F2">
                    <a:alpha val="60000"/>
                  </a:srgbClr>
                </a:solidFill>
                <a:latin typeface="LXGW Bright" pitchFamily="34" charset="0"/>
                <a:ea typeface="LXGW Bright" pitchFamily="34" charset="-122"/>
                <a:cs typeface="LXGW Bright" pitchFamily="34" charset="-120"/>
              </a:rPr>
              <a:t>Saf Şiir ve Temsilcileri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 Şiir - Türk Edebiyatında Öz Şiir Anlayışı</dc:title>
  <dc:subject>Saf Şiir - Türk Edebiyatında Öz Şiir Anlayışı</dc:subject>
  <dc:creator>Kimi</dc:creator>
  <cp:lastModifiedBy>Kimi</cp:lastModifiedBy>
  <cp:revision>1</cp:revision>
  <dcterms:created xsi:type="dcterms:W3CDTF">2026-04-26T21:01:57Z</dcterms:created>
  <dcterms:modified xsi:type="dcterms:W3CDTF">2026-04-26T21:01:57Z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{"Label":"Saf Şiir - Türk Edebiyatında Öz Şiir Anlayışı","ContentProducer":"001191110108MACG2KBH8F10000","ProduceID":"19d8c7b0-6412-8d32-8000-0000c7c22fd6","ReservedCode1":"","ContentPropagator":"001191110108MACG2KBH8F20000","PropagateID":"19d8c7b0-6412-8d32-8000-0000c7c22fd6","ReservedCode2":""}</vt:lpwstr>
  </property>
</Properties>
</file>