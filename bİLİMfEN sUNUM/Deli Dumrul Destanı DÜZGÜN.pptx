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Oranienbaum" charset="-122" pitchFamily="34"/>
      <p:regular r:id="rId19"/>
    </p:embeddedFont>
    <p:embeddedFont>
      <p:font typeface="Quattrocento 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4_Heart_of_Turkic_cinematic_world_beats.png">    </p:cNvPr>
          <p:cNvPicPr>
            <a:picLocks noChangeAspect="1"/>
          </p:cNvPicPr>
          <p:nvPr/>
        </p:nvPicPr>
        <p:blipFill>
          <a:blip r:embed="rId1"/>
          <a:srcRect l="0" r="0" t="7627" b="762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410">
                  <a:alpha val="13000"/>
                </a:srgbClr>
              </a:gs>
              <a:gs pos="40000">
                <a:srgbClr val="1C1410">
                  <a:alpha val="50000"/>
                </a:srgbClr>
              </a:gs>
              <a:gs pos="100000">
                <a:srgbClr val="1C1410">
                  <a:alpha val="88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302000"/>
            <a:ext cx="2540000" cy="0"/>
          </a:xfrm>
          <a:prstGeom prst="straightConnector1">
            <a:avLst/>
          </a:prstGeom>
          <a:noFill/>
          <a:ln w="127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778000" y="3556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spc="600" kern="0" dirty="0">
                <a:solidFill>
                  <a:srgbClr val="F4EDE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318000" y="469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spc="400" kern="0" dirty="0">
                <a:solidFill>
                  <a:srgbClr val="F4EDE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Dede Korkut Kitabı · Oğuzname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0" y="5461000"/>
            <a:ext cx="2540000" cy="0"/>
          </a:xfrm>
          <a:prstGeom prst="straightConnector1">
            <a:avLst/>
          </a:prstGeom>
          <a:noFill/>
          <a:ln w="127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/>
          <p:nvPr/>
        </p:nvSpPr>
        <p:spPr>
          <a:xfrm>
            <a:off x="5588000" y="825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Ali Aslanmirza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9_Turkish_Warrior_Fierce_Battle_in.png">    </p:cNvPr>
          <p:cNvPicPr>
            <a:picLocks noChangeAspect="1"/>
          </p:cNvPicPr>
          <p:nvPr/>
        </p:nvPicPr>
        <p:blipFill>
          <a:blip r:embed="rId1"/>
          <a:srcRect l="9722" r="9722" t="0" b="0"/>
          <a:stretch/>
        </p:blipFill>
        <p:spPr>
          <a:xfrm>
            <a:off x="0" y="0"/>
            <a:ext cx="736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0" y="0"/>
            <a:ext cx="1905000" cy="9144000"/>
          </a:xfrm>
          <a:prstGeom prst="rect">
            <a:avLst/>
          </a:prstGeom>
          <a:gradFill rotWithShape="1" flip="none">
            <a:gsLst>
              <a:gs pos="0">
                <a:srgbClr val="F4EDE4">
                  <a:alpha val="0"/>
                </a:srgbClr>
              </a:gs>
              <a:gs pos="100000">
                <a:srgbClr val="F4EDE4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8128000" y="152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 · KAHRAMAN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0" y="2032000"/>
            <a:ext cx="736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 Dumrul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128000" y="2794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8128000" y="3175000"/>
            <a:ext cx="7366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Duha Koca oğlu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Oğuz'da eşsiz bir yiğit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Kuru çay üzerine 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C494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köprü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yaptırdı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Geçenden 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33 akçe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geçmeyeni döverek 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40 akçe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«Benden deli, benden güçlü er var mıdır?»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Ünü Ruma, Şama yaysın istedi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128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1_Yurt_camp_at_Darwaza_Turkmenistan.png">    </p:cNvPr>
          <p:cNvPicPr>
            <a:picLocks noChangeAspect="1"/>
          </p:cNvPicPr>
          <p:nvPr/>
        </p:nvPicPr>
        <p:blipFill>
          <a:blip r:embed="rId1"/>
          <a:srcRect l="0" r="0" t="27975" b="27975"/>
          <a:stretch/>
        </p:blipFill>
        <p:spPr>
          <a:xfrm>
            <a:off x="0" y="0"/>
            <a:ext cx="16256000" cy="533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556000"/>
            <a:ext cx="16256000" cy="2032000"/>
          </a:xfrm>
          <a:prstGeom prst="rect">
            <a:avLst/>
          </a:prstGeom>
          <a:gradFill rotWithShape="1" flip="none">
            <a:gsLst>
              <a:gs pos="0">
                <a:srgbClr val="F4EDE4">
                  <a:alpha val="0"/>
                </a:srgbClr>
              </a:gs>
              <a:gs pos="100000">
                <a:srgbClr val="F4EDE4"/>
              </a:gs>
            </a:gsLst>
            <a:lin ang="54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5715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 · OLAY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2000" y="6223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Yiğidin Ölümü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69215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6921500"/>
            <a:ext cx="889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Köprü yanında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obada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bir yiğit öldü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«Kim öldürdü?»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C494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 kanatlı Azrail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«Gözüme gösterin, savaşayım, canını kurtarayım!»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1176000" y="6096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2B1E15">
              <a:alpha val="5098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1430000" y="6350000"/>
            <a:ext cx="38100" cy="2032000"/>
          </a:xfrm>
          <a:prstGeom prst="rect">
            <a:avLst/>
          </a:prstGeom>
          <a:solidFill>
            <a:srgbClr val="C4943D"/>
          </a:solidFill>
          <a:ln/>
        </p:spPr>
      </p:sp>
      <p:sp>
        <p:nvSpPr>
          <p:cNvPr id="10" name="Text 7"/>
          <p:cNvSpPr/>
          <p:nvPr/>
        </p:nvSpPr>
        <p:spPr>
          <a:xfrm>
            <a:off x="11684000" y="6350000"/>
            <a:ext cx="355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2B1E1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«Azrail'i benim gözüme göster, savaşayım, güzel yiğidin canını kurtarayım»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62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5_An_angel_of_death_with_its_black.png">    </p:cNvPr>
          <p:cNvPicPr>
            <a:picLocks noChangeAspect="1"/>
          </p:cNvPicPr>
          <p:nvPr/>
        </p:nvPicPr>
        <p:blipFill>
          <a:blip r:embed="rId1"/>
          <a:srcRect l="13590" r="13590" t="0" b="0"/>
          <a:stretch/>
        </p:blipFill>
        <p:spPr>
          <a:xfrm>
            <a:off x="8128000" y="0"/>
            <a:ext cx="8128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6000" y="0"/>
            <a:ext cx="1905000" cy="9144000"/>
          </a:xfrm>
          <a:prstGeom prst="rect">
            <a:avLst/>
          </a:prstGeom>
          <a:gradFill rotWithShape="1" flip="none">
            <a:gsLst>
              <a:gs pos="0">
                <a:srgbClr val="F4EDE4"/>
              </a:gs>
              <a:gs pos="100000">
                <a:srgbClr val="F4EDE4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152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 · KARŞILAŞMA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2000" y="20320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Azrail Belirdi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2794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3175000"/>
            <a:ext cx="660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Hak Taala'ya sözü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hoş gelmedi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Azrail'e buyruk: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«Var, o deli kavata görün»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C494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Kırk yiğitle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otururken ansızın çıka geldi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Görür gözü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görmez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oldu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Tutar elleri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tutmaz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oldu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Dünya alem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karandık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oldu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  <p:pic>
        <p:nvPicPr>
          <p:cNvPr id="9" name="Image 1" descr="https://kimi-img.moonshot.cn/pub/slides/26-05-21-01:17:23-d86up8oko3g7qapls9k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0" y="0"/>
            <a:ext cx="8890000" cy="9144000"/>
          </a:xfrm>
          <a:prstGeom prst="rect">
            <a:avLst/>
          </a:prstGeom>
        </p:spPr>
      </p:pic>
      <p:pic>
        <p:nvPicPr>
          <p:cNvPr id="10" name="Image 2" descr="https://kimi-img.moonshot.cn/pub/slides/26-05-21-01:53:11-d86va1rid4mdgp7h3es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0"/>
            <a:ext cx="8215694" cy="914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7_An_angel_of_death_with_black_wings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Image 1" descr="https://kimi-img.moonshot.cn/pub/slides/26-05-21-01:57:11-d86vbtte9orvii733lp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22069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410">
                  <a:alpha val="25000"/>
                </a:srgbClr>
              </a:gs>
              <a:gs pos="35000">
                <a:srgbClr val="1C1410">
                  <a:alpha val="75000"/>
                </a:srgbClr>
              </a:gs>
              <a:gs pos="100000">
                <a:srgbClr val="1C1410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762000" y="76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 · DİYALOG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4EDE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 Dumrul'un Sözleri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762000" y="2032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8" name="Text 4"/>
          <p:cNvSpPr/>
          <p:nvPr/>
        </p:nvSpPr>
        <p:spPr>
          <a:xfrm>
            <a:off x="762000" y="25400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«Bre ne heybetli ihtiyarsın...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Kapıcılar seni görmedi, çavuşlar seni duymadı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Gözceğizi fersiz ihtiyar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Kazam belam dokunur bugün sana»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62000" y="5334000"/>
            <a:ext cx="7620000" cy="0"/>
          </a:xfrm>
          <a:prstGeom prst="straightConnector1">
            <a:avLst/>
          </a:prstGeom>
          <a:noFill/>
          <a:ln w="12700">
            <a:solidFill>
              <a:srgbClr val="C4943D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6"/>
          <p:cNvSpPr/>
          <p:nvPr/>
        </p:nvSpPr>
        <p:spPr>
          <a:xfrm>
            <a:off x="762000" y="57150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«Bre deli kavat...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Ak sakallı kara sakallı yiğitlerin canını çok almışım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Geldim, senin canını alayım»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62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2_White_Dove_Flying_Into_Ruined_Window.png">    </p:cNvPr>
          <p:cNvPicPr>
            <a:picLocks noChangeAspect="1"/>
          </p:cNvPicPr>
          <p:nvPr/>
        </p:nvPicPr>
        <p:blipFill>
          <a:blip r:embed="rId1"/>
          <a:srcRect l="14311" r="14311" t="0" b="0"/>
          <a:stretch/>
        </p:blipFill>
        <p:spPr>
          <a:xfrm>
            <a:off x="0" y="0"/>
            <a:ext cx="736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0" y="0"/>
            <a:ext cx="1905000" cy="9144000"/>
          </a:xfrm>
          <a:prstGeom prst="rect">
            <a:avLst/>
          </a:prstGeom>
          <a:gradFill rotWithShape="1" flip="none">
            <a:gsLst>
              <a:gs pos="0">
                <a:srgbClr val="F4EDE4">
                  <a:alpha val="0"/>
                </a:srgbClr>
              </a:gs>
              <a:gs pos="100000">
                <a:srgbClr val="F4EDE4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8128000" y="152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 · SAVAŞ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0" y="2032000"/>
            <a:ext cx="736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Kılıç Çekti, Güvercin Uçtu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128000" y="2794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8128000" y="3175000"/>
            <a:ext cx="736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«Ben seni geniş yerde istiyordum, dar yerde iyi elime girdin!»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C494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Kara kılıcını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sıyırdı, hamle kıldı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Azrail bir 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güvercin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oldu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Pencereden 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uçtu gitti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Deli Dumrul 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kah kah güldü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128000" y="6731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2B1E15">
              <a:alpha val="5098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382000" y="6985000"/>
            <a:ext cx="38100" cy="1143000"/>
          </a:xfrm>
          <a:prstGeom prst="rect">
            <a:avLst/>
          </a:prstGeom>
          <a:solidFill>
            <a:srgbClr val="C4943D"/>
          </a:solidFill>
          <a:ln/>
        </p:spPr>
      </p:sp>
      <p:sp>
        <p:nvSpPr>
          <p:cNvPr id="10" name="Text 7"/>
          <p:cNvSpPr/>
          <p:nvPr/>
        </p:nvSpPr>
        <p:spPr>
          <a:xfrm>
            <a:off x="8636000" y="69850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2B1E1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«Gözünü öyle korkuttum ki dar bacadan kaçtı!»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128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1_Fallen_Warrior_Videos_4K_and_HD_Vide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410">
                  <a:alpha val="19000"/>
                </a:srgbClr>
              </a:gs>
              <a:gs pos="40000">
                <a:srgbClr val="1C1410">
                  <a:alpha val="75000"/>
                </a:srgbClr>
              </a:gs>
              <a:gs pos="100000">
                <a:srgbClr val="1C1410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76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 · DÜŞÜŞ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2000" y="1270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4EDE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Düşüş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2032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2540000"/>
            <a:ext cx="8255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Doğanını eline aldı, ardına düştü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Bir iki güvercin öldürdü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Dönerken 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C494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Azrail atının gözüne göründü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ürktü, kaldırdı 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yere vurdu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Ak göğsünün üzerine Azrail 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basıp kondu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6096000"/>
            <a:ext cx="889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«Bre Azrail aman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Tanrının birliğine yoktur güman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 seni böyle bilmezdim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Hırsız gibi can aldığını duymazdım»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10_An_Old_Turkish_Man_Stock_Photo_Al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350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88000" y="0"/>
            <a:ext cx="1397000" cy="9144000"/>
          </a:xfrm>
          <a:prstGeom prst="rect">
            <a:avLst/>
          </a:prstGeom>
          <a:gradFill rotWithShape="1" flip="none">
            <a:gsLst>
              <a:gs pos="0">
                <a:srgbClr val="F4EDE4">
                  <a:alpha val="0"/>
                </a:srgbClr>
              </a:gs>
              <a:gs pos="100000">
                <a:srgbClr val="F4EDE4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112000" y="12700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 · BABA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112000" y="1778000"/>
            <a:ext cx="838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“</a:t>
            </a:r>
            <a:pPr>
              <a:lnSpc>
                <a:spcPct val="130000"/>
              </a:lnSpc>
            </a:pPr>
            <a:r>
              <a:rPr lang="en-US" sz="3200" b="1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Baba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” Reddetti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112000" y="2540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112000" y="2921000"/>
            <a:ext cx="838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i="1" dirty="0">
                <a:solidFill>
                  <a:srgbClr val="2B1E1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«Ak sakallı aziz canım baba, senden can dilerim...»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112000" y="4064000"/>
            <a:ext cx="8382000" cy="0"/>
          </a:xfrm>
          <a:prstGeom prst="straightConnector1">
            <a:avLst/>
          </a:prstGeom>
          <a:noFill/>
          <a:ln w="12700">
            <a:solidFill>
              <a:srgbClr val="C4943D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112000" y="4318000"/>
            <a:ext cx="8382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«Oğul oğul ay oğul...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Doğduğunda dokuz erkek deve kestiğim aslan oğul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Karşı yatan kara dağım gerek ise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Soğuk soğuk pınarlarım gerek ise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Tavla tavla koç atlarım gerek ise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C494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Dünya tatlı can aziz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Canımı kıyamam»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112000" y="86360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  <p:pic>
        <p:nvPicPr>
          <p:cNvPr id="11" name="Image 1" descr="https://kimi-img.moonshot.cn/pub/slides/26-05-21-01:10:39-d86um3un3mkbs4e2sid0.png">    </p:cNvPr>
          <p:cNvPicPr>
            <a:picLocks noChangeAspect="1"/>
          </p:cNvPicPr>
          <p:nvPr/>
        </p:nvPicPr>
        <p:blipFill>
          <a:blip r:embed="rId2"/>
          <a:srcRect l="24590" r="34426" t="0" b="0"/>
          <a:stretch/>
        </p:blipFill>
        <p:spPr>
          <a:xfrm>
            <a:off x="0" y="0"/>
            <a:ext cx="6350000" cy="9144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846302" y="4248469"/>
            <a:ext cx="2270391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8_1_423_Anatolian_Woman_Royalty_F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18500" y="0"/>
            <a:ext cx="8128000" cy="11232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6000" y="0"/>
            <a:ext cx="1905000" cy="9144000"/>
          </a:xfrm>
          <a:prstGeom prst="rect">
            <a:avLst/>
          </a:prstGeom>
          <a:gradFill rotWithShape="1" flip="none">
            <a:gsLst>
              <a:gs pos="0">
                <a:srgbClr val="F4EDE4"/>
              </a:gs>
              <a:gs pos="100000">
                <a:srgbClr val="F4EDE4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1270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 · ANA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2000" y="1778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Ana Reddetti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2540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2921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i="1" dirty="0">
                <a:solidFill>
                  <a:srgbClr val="2B1E1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«Ana, dokuz ay dar karnımda taşıdığım oğul...»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4064000"/>
            <a:ext cx="6350000" cy="0"/>
          </a:xfrm>
          <a:prstGeom prst="straightConnector1">
            <a:avLst/>
          </a:prstGeom>
          <a:noFill/>
          <a:ln w="12700">
            <a:solidFill>
              <a:srgbClr val="C4943D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4318000"/>
            <a:ext cx="635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«Oğul oğul ay oğul...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Dokuz ay dar karnımda taşıdığım oğul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Dolma beşiklerle belediğim oğul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Ak sütümü emzirdiğim oğul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Yaman yere varmışsın varamam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C494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Dünya tatlı can aziz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Canımı kıyamam»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62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  <p:pic>
        <p:nvPicPr>
          <p:cNvPr id="11" name="Image 1" descr="https://kimi-img.moonshot.cn/pub/slides/26-05-21-01:49:35-d86v8buuvalg6ak4f0d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500" y="0"/>
            <a:ext cx="8128000" cy="914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8_beautiful_girl_in_Turkish_national.png">    </p:cNvPr>
          <p:cNvPicPr>
            <a:picLocks noChangeAspect="1"/>
          </p:cNvPicPr>
          <p:nvPr/>
        </p:nvPicPr>
        <p:blipFill>
          <a:blip r:embed="rId1"/>
          <a:srcRect l="0" r="0" t="10125" b="10125"/>
          <a:stretch/>
        </p:blipFill>
        <p:spPr>
          <a:xfrm>
            <a:off x="8128000" y="0"/>
            <a:ext cx="8128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6000" y="0"/>
            <a:ext cx="762000" cy="9144000"/>
          </a:xfrm>
          <a:prstGeom prst="rect">
            <a:avLst/>
          </a:prstGeom>
          <a:gradFill rotWithShape="1" flip="none">
            <a:gsLst>
              <a:gs pos="0">
                <a:srgbClr val="F4EDE4"/>
              </a:gs>
              <a:gs pos="100000">
                <a:srgbClr val="F4EDE4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1270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 · EŞ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2000" y="1778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Eş Canını Verdi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2540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6604000" y="127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9117" y="86420"/>
                </a:moveTo>
                <a:lnTo>
                  <a:pt x="254000" y="106958"/>
                </a:lnTo>
                <a:lnTo>
                  <a:pt x="268883" y="86420"/>
                </a:lnTo>
                <a:cubicBezTo>
                  <a:pt x="293688" y="52090"/>
                  <a:pt x="333573" y="31750"/>
                  <a:pt x="375940" y="31750"/>
                </a:cubicBezTo>
                <a:cubicBezTo>
                  <a:pt x="448866" y="31750"/>
                  <a:pt x="508000" y="90884"/>
                  <a:pt x="508000" y="163810"/>
                </a:cubicBezTo>
                <a:lnTo>
                  <a:pt x="508000" y="166390"/>
                </a:lnTo>
                <a:cubicBezTo>
                  <a:pt x="508000" y="277713"/>
                  <a:pt x="369193" y="406995"/>
                  <a:pt x="296763" y="462260"/>
                </a:cubicBezTo>
                <a:cubicBezTo>
                  <a:pt x="284460" y="471587"/>
                  <a:pt x="269379" y="476250"/>
                  <a:pt x="254000" y="476250"/>
                </a:cubicBezTo>
                <a:cubicBezTo>
                  <a:pt x="238621" y="476250"/>
                  <a:pt x="223441" y="471686"/>
                  <a:pt x="211237" y="462260"/>
                </a:cubicBezTo>
                <a:cubicBezTo>
                  <a:pt x="138807" y="406995"/>
                  <a:pt x="0" y="277713"/>
                  <a:pt x="0" y="166390"/>
                </a:cubicBezTo>
                <a:lnTo>
                  <a:pt x="0" y="163810"/>
                </a:lnTo>
                <a:cubicBezTo>
                  <a:pt x="0" y="90884"/>
                  <a:pt x="59134" y="31750"/>
                  <a:pt x="132060" y="31750"/>
                </a:cubicBezTo>
                <a:cubicBezTo>
                  <a:pt x="174427" y="31750"/>
                  <a:pt x="214313" y="52090"/>
                  <a:pt x="239117" y="86420"/>
                </a:cubicBezTo>
                <a:close/>
              </a:path>
            </a:pathLst>
          </a:custGeom>
          <a:solidFill>
            <a:srgbClr val="C4943D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2921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«Gönül verip sevdiğim koç yiğidim...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Tatlı damak verip öpüştüğüm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Bir yastıkta baş koyup emiştiğim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Karşı yatan kara dağları senden sonra ben neylerim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Soğuk sularını içer olsam benim kanım olsun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Arş şahit olsun, gök şahit olsun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Kadir Tanrı şahit olsun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C494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Benim canım senin canına kurban olsun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Razı oldu»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2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  <p:pic>
        <p:nvPicPr>
          <p:cNvPr id="10" name="Image 1" descr="https://kimi-img.moonshot.cn/pub/slides/26-05-21-01:14:38-d86unvhvb51rlok8p9v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0" y="0"/>
            <a:ext cx="8128000" cy="914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2_Golden_Hour_Sunset_Serene_Rolling.png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410">
                  <a:alpha val="31000"/>
                </a:srgbClr>
              </a:gs>
              <a:gs pos="30000">
                <a:srgbClr val="1C1410">
                  <a:alpha val="75000"/>
                </a:srgbClr>
              </a:gs>
              <a:gs pos="100000">
                <a:srgbClr val="1C1410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76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 · KURTULUŞ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4EDE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Dua ve Kurtuluş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2032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25400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«Yücelerden yücesin, kimse bilmez nicesin...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Benim canımı alacaksan </a:t>
            </a:r>
            <a:pPr>
              <a:lnSpc>
                <a:spcPct val="180000"/>
              </a:lnSpc>
            </a:pPr>
            <a:r>
              <a:rPr lang="en-US" sz="2000" b="1" i="1" dirty="0">
                <a:solidFill>
                  <a:srgbClr val="C494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 al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Azraile almağa bırakma»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5334000"/>
            <a:ext cx="7620000" cy="0"/>
          </a:xfrm>
          <a:prstGeom prst="straightConnector1">
            <a:avLst/>
          </a:prstGeom>
          <a:noFill/>
          <a:ln w="12700">
            <a:solidFill>
              <a:srgbClr val="C4943D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57150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Hak Taala'ya sözü </a:t>
            </a:r>
            <a:pPr>
              <a:lnSpc>
                <a:spcPct val="180000"/>
              </a:lnSpc>
            </a:pPr>
            <a:r>
              <a:rPr lang="en-US" sz="2000" b="1" dirty="0">
                <a:solidFill>
                  <a:srgbClr val="C494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hoş geldi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«Deli Dumrul can yerine can bulsun»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Babanın anasının canı alındı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Helalliye 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140 yıl ömür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verildi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4_Beautiful_Kazakhstan_Steppe_Landscape.png">    </p:cNvPr>
          <p:cNvPicPr>
            <a:picLocks noChangeAspect="1"/>
          </p:cNvPicPr>
          <p:nvPr/>
        </p:nvPicPr>
        <p:blipFill>
          <a:blip r:embed="rId1"/>
          <a:srcRect l="0" r="0" t="8" b="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410">
                  <a:alpha val="25000"/>
                </a:srgbClr>
              </a:gs>
              <a:gs pos="40000">
                <a:srgbClr val="1C1410">
                  <a:alpha val="75000"/>
                </a:srgbClr>
              </a:gs>
              <a:gs pos="100000">
                <a:srgbClr val="1C1410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286000"/>
            <a:ext cx="2540000" cy="0"/>
          </a:xfrm>
          <a:prstGeom prst="straightConnector1">
            <a:avLst/>
          </a:prstGeom>
          <a:noFill/>
          <a:ln w="127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778000" y="2540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400" kern="0" dirty="0">
                <a:solidFill>
                  <a:srgbClr val="F4EDE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Dede Korkut'tan Dua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3556000"/>
            <a:ext cx="2540000" cy="0"/>
          </a:xfrm>
          <a:prstGeom prst="straightConnector1">
            <a:avLst/>
          </a:prstGeom>
          <a:noFill/>
          <a:ln w="127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2413000" y="4064000"/>
            <a:ext cx="1143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90000"/>
              </a:lnSpc>
            </a:pPr>
            <a:r>
              <a:rPr lang="en-US" sz="22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Yerli kara dağların yıkılmasın</a:t>
            </a:r>
            <a:endParaRPr lang="en-US" sz="1600" dirty="0"/>
          </a:p>
          <a:p>
            <a:pPr algn="ctr">
              <a:lnSpc>
                <a:spcPct val="190000"/>
              </a:lnSpc>
            </a:pPr>
            <a:r>
              <a:rPr lang="en-US" sz="22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Gölgeli koca ağacın kesilmesin</a:t>
            </a:r>
            <a:endParaRPr lang="en-US" sz="1600" dirty="0"/>
          </a:p>
          <a:p>
            <a:pPr algn="ctr">
              <a:lnSpc>
                <a:spcPct val="190000"/>
              </a:lnSpc>
            </a:pPr>
            <a:r>
              <a:rPr lang="en-US" sz="22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Taşkın akan güzel suyun kurumasın</a:t>
            </a:r>
            <a:endParaRPr lang="en-US" sz="1600" dirty="0"/>
          </a:p>
          <a:p>
            <a:pPr algn="ctr">
              <a:lnSpc>
                <a:spcPct val="190000"/>
              </a:lnSpc>
              <a:spcBef>
                <a:spcPts val="1600"/>
              </a:spcBef>
            </a:pPr>
            <a:r>
              <a:rPr lang="en-US" sz="22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Kadir Tanrı seni namerde muhtaç etmesin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7366000"/>
            <a:ext cx="2540000" cy="0"/>
          </a:xfrm>
          <a:prstGeom prst="straightConnector1">
            <a:avLst/>
          </a:prstGeom>
          <a:noFill/>
          <a:ln w="127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4318000" y="7620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300" kern="0" dirty="0">
                <a:solidFill>
                  <a:srgbClr val="F4EDE4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 destan Deli Dumrul'un olsun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88000" y="8382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DEDE KORKUT · OĞUZNAME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 Dumrul Destanı</dc:title>
  <dc:subject>Deli Dumrul Destanı</dc:subject>
  <dc:creator>Kimi</dc:creator>
  <cp:lastModifiedBy>Kimi</cp:lastModifiedBy>
  <cp:revision>1</cp:revision>
  <dcterms:created xsi:type="dcterms:W3CDTF">2026-05-20T18:25:25Z</dcterms:created>
  <dcterms:modified xsi:type="dcterms:W3CDTF">2026-05-20T18:25:25Z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{"Label":"Deli Dumrul Destanı","ContentProducer":"001191110108MACG2KBH8F10000","ProduceID":"19e465b4-9682-8b62-8000-0000f43e024e","ReservedCode1":"","ContentPropagator":"001191110108MACG2KBH8F20000","PropagateID":"19e465b4-9682-8b62-8000-0000f43e024e","ReservedCode2":""}</vt:lpwstr>
  </property>
</Properties>
</file>