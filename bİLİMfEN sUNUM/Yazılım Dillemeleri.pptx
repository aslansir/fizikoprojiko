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Open Sauce" charset="1" panose="00000500000000000000"/>
      <p:regular r:id="rId13"/>
    </p:embeddedFont>
    <p:embeddedFont>
      <p:font typeface="Open Sauce Heavy" charset="1" panose="00000A00000000000000"/>
      <p:regular r:id="rId14"/>
    </p:embeddedFont>
    <p:embeddedFont>
      <p:font typeface="Open Sauce Medium" charset="1" panose="00000600000000000000"/>
      <p:regular r:id="rId15"/>
    </p:embeddedFont>
    <p:embeddedFont>
      <p:font typeface="Open Sauce Light" charset="1" panose="00000400000000000000"/>
      <p:regular r:id="rId16"/>
    </p:embeddedFont>
    <p:embeddedFont>
      <p:font typeface="Open Sauce Bold"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5443169" y="-2557831"/>
            <a:ext cx="7401663" cy="18288000"/>
          </a:xfrm>
          <a:custGeom>
            <a:avLst/>
            <a:gdLst/>
            <a:ahLst/>
            <a:cxnLst/>
            <a:rect r="r" b="b" t="t" l="l"/>
            <a:pathLst>
              <a:path h="18288000" w="7401663">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TextBox 6" id="6"/>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sz="1999" spc="3">
                <a:solidFill>
                  <a:srgbClr val="FFFFFF"/>
                </a:solidFill>
                <a:latin typeface="Open Sauce"/>
                <a:ea typeface="Open Sauce"/>
                <a:cs typeface="Open Sauce"/>
                <a:sym typeface="Open Sauce"/>
              </a:rPr>
              <a:t>Sayfa</a:t>
            </a:r>
          </a:p>
        </p:txBody>
      </p:sp>
      <p:sp>
        <p:nvSpPr>
          <p:cNvPr name="TextBox 7" id="7"/>
          <p:cNvSpPr txBox="true"/>
          <p:nvPr/>
        </p:nvSpPr>
        <p:spPr>
          <a:xfrm rot="0">
            <a:off x="823045" y="490155"/>
            <a:ext cx="2969281"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Bilim Fen Teknoloji</a:t>
            </a:r>
          </a:p>
        </p:txBody>
      </p:sp>
      <p:sp>
        <p:nvSpPr>
          <p:cNvPr name="TextBox 8" id="8"/>
          <p:cNvSpPr txBox="true"/>
          <p:nvPr/>
        </p:nvSpPr>
        <p:spPr>
          <a:xfrm rot="0">
            <a:off x="823045" y="811215"/>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Kulübü</a:t>
            </a:r>
          </a:p>
        </p:txBody>
      </p:sp>
      <p:sp>
        <p:nvSpPr>
          <p:cNvPr name="TextBox 9" id="9"/>
          <p:cNvSpPr txBox="true"/>
          <p:nvPr/>
        </p:nvSpPr>
        <p:spPr>
          <a:xfrm rot="0">
            <a:off x="2770357" y="3884523"/>
            <a:ext cx="12747285" cy="2304025"/>
          </a:xfrm>
          <a:prstGeom prst="rect">
            <a:avLst/>
          </a:prstGeom>
        </p:spPr>
        <p:txBody>
          <a:bodyPr anchor="t" rtlCol="false" tIns="0" lIns="0" bIns="0" rIns="0">
            <a:spAutoFit/>
          </a:bodyPr>
          <a:lstStyle/>
          <a:p>
            <a:pPr algn="ctr" marL="0" indent="0" lvl="0">
              <a:lnSpc>
                <a:spcPts val="18956"/>
              </a:lnSpc>
              <a:spcBef>
                <a:spcPct val="0"/>
              </a:spcBef>
            </a:pPr>
            <a:r>
              <a:rPr lang="en-US" b="true" sz="13540" spc="-636">
                <a:solidFill>
                  <a:srgbClr val="FFFFFF"/>
                </a:solidFill>
                <a:latin typeface="Open Sauce Medium"/>
                <a:ea typeface="Open Sauce Medium"/>
                <a:cs typeface="Open Sauce Medium"/>
                <a:sym typeface="Open Sauce Medium"/>
              </a:rPr>
              <a:t>Yazılım Dilleri</a:t>
            </a:r>
          </a:p>
        </p:txBody>
      </p:sp>
      <p:sp>
        <p:nvSpPr>
          <p:cNvPr name="TextBox 10" id="10"/>
          <p:cNvSpPr txBox="true"/>
          <p:nvPr/>
        </p:nvSpPr>
        <p:spPr>
          <a:xfrm rot="0">
            <a:off x="4617766" y="3005476"/>
            <a:ext cx="9052468" cy="1126696"/>
          </a:xfrm>
          <a:prstGeom prst="rect">
            <a:avLst/>
          </a:prstGeom>
        </p:spPr>
        <p:txBody>
          <a:bodyPr anchor="t" rtlCol="false" tIns="0" lIns="0" bIns="0" rIns="0">
            <a:spAutoFit/>
          </a:bodyPr>
          <a:lstStyle/>
          <a:p>
            <a:pPr algn="ctr">
              <a:lnSpc>
                <a:spcPts val="9298"/>
              </a:lnSpc>
              <a:spcBef>
                <a:spcPct val="0"/>
              </a:spcBef>
            </a:pPr>
            <a:r>
              <a:rPr lang="en-US" sz="6641" spc="-312">
                <a:solidFill>
                  <a:srgbClr val="000000"/>
                </a:solidFill>
                <a:latin typeface="Open Sauce Light"/>
                <a:ea typeface="Open Sauce Light"/>
                <a:cs typeface="Open Sauce Light"/>
                <a:sym typeface="Open Sauce Light"/>
              </a:rPr>
              <a:t>Part 1</a:t>
            </a:r>
          </a:p>
        </p:txBody>
      </p:sp>
      <p:sp>
        <p:nvSpPr>
          <p:cNvPr name="TextBox 11" id="11"/>
          <p:cNvSpPr txBox="true"/>
          <p:nvPr/>
        </p:nvSpPr>
        <p:spPr>
          <a:xfrm rot="0">
            <a:off x="0" y="8835324"/>
            <a:ext cx="18288000" cy="422976"/>
          </a:xfrm>
          <a:prstGeom prst="rect">
            <a:avLst/>
          </a:prstGeom>
        </p:spPr>
        <p:txBody>
          <a:bodyPr anchor="t" rtlCol="false" tIns="0" lIns="0" bIns="0" rIns="0">
            <a:spAutoFit/>
          </a:bodyPr>
          <a:lstStyle/>
          <a:p>
            <a:pPr algn="ctr">
              <a:lnSpc>
                <a:spcPts val="3461"/>
              </a:lnSpc>
            </a:pPr>
            <a:r>
              <a:rPr lang="en-US" sz="2472">
                <a:solidFill>
                  <a:srgbClr val="FFFFFF"/>
                </a:solidFill>
                <a:latin typeface="Open Sauce"/>
                <a:ea typeface="Open Sauce"/>
                <a:cs typeface="Open Sauce"/>
                <a:sym typeface="Open Sauce"/>
              </a:rPr>
              <a:t>Ali Aslanmirza - Burda Miraç Bol - Murat Karakoç</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10313511">
            <a:off x="10211912" y="-1098110"/>
            <a:ext cx="9145756" cy="9162415"/>
          </a:xfrm>
          <a:custGeom>
            <a:avLst/>
            <a:gdLst/>
            <a:ahLst/>
            <a:cxnLst/>
            <a:rect r="r" b="b" t="t" l="l"/>
            <a:pathLst>
              <a:path h="9162415" w="9145756">
                <a:moveTo>
                  <a:pt x="9145757" y="0"/>
                </a:moveTo>
                <a:lnTo>
                  <a:pt x="0" y="0"/>
                </a:lnTo>
                <a:lnTo>
                  <a:pt x="0" y="9162415"/>
                </a:lnTo>
                <a:lnTo>
                  <a:pt x="9145757" y="9162415"/>
                </a:lnTo>
                <a:lnTo>
                  <a:pt x="91457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Sayfa 2</a:t>
            </a:r>
          </a:p>
        </p:txBody>
      </p:sp>
      <p:sp>
        <p:nvSpPr>
          <p:cNvPr name="TextBox 7" id="7"/>
          <p:cNvSpPr txBox="true"/>
          <p:nvPr/>
        </p:nvSpPr>
        <p:spPr>
          <a:xfrm rot="0">
            <a:off x="823045" y="1763455"/>
            <a:ext cx="5152572" cy="720725"/>
          </a:xfrm>
          <a:prstGeom prst="rect">
            <a:avLst/>
          </a:prstGeom>
        </p:spPr>
        <p:txBody>
          <a:bodyPr anchor="t" rtlCol="false" tIns="0" lIns="0" bIns="0" rIns="0">
            <a:spAutoFit/>
          </a:bodyPr>
          <a:lstStyle/>
          <a:p>
            <a:pPr algn="just" marL="0" indent="0" lvl="0">
              <a:lnSpc>
                <a:spcPts val="5500"/>
              </a:lnSpc>
            </a:pPr>
            <a:r>
              <a:rPr lang="en-US" b="true" sz="5000" spc="10">
                <a:solidFill>
                  <a:srgbClr val="FFFFFF"/>
                </a:solidFill>
                <a:latin typeface="Open Sauce Bold"/>
                <a:ea typeface="Open Sauce Bold"/>
                <a:cs typeface="Open Sauce Bold"/>
                <a:sym typeface="Open Sauce Bold"/>
              </a:rPr>
              <a:t>YAZILIM DILLERI</a:t>
            </a:r>
          </a:p>
        </p:txBody>
      </p:sp>
      <p:sp>
        <p:nvSpPr>
          <p:cNvPr name="TextBox 8" id="8"/>
          <p:cNvSpPr txBox="true"/>
          <p:nvPr/>
        </p:nvSpPr>
        <p:spPr>
          <a:xfrm rot="0">
            <a:off x="823045" y="490155"/>
            <a:ext cx="2969281"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Bilim Fen Teknoloji</a:t>
            </a:r>
          </a:p>
        </p:txBody>
      </p:sp>
      <p:sp>
        <p:nvSpPr>
          <p:cNvPr name="TextBox 9" id="9"/>
          <p:cNvSpPr txBox="true"/>
          <p:nvPr/>
        </p:nvSpPr>
        <p:spPr>
          <a:xfrm rot="0">
            <a:off x="823045" y="811215"/>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Kulübü</a:t>
            </a:r>
          </a:p>
        </p:txBody>
      </p:sp>
      <p:sp>
        <p:nvSpPr>
          <p:cNvPr name="Freeform 10" id="10"/>
          <p:cNvSpPr/>
          <p:nvPr/>
        </p:nvSpPr>
        <p:spPr>
          <a:xfrm flipH="false" flipV="false" rot="0">
            <a:off x="-1110608" y="5979438"/>
            <a:ext cx="7672410" cy="7672410"/>
          </a:xfrm>
          <a:custGeom>
            <a:avLst/>
            <a:gdLst/>
            <a:ahLst/>
            <a:cxnLst/>
            <a:rect r="r" b="b" t="t" l="l"/>
            <a:pathLst>
              <a:path h="7672410" w="7672410">
                <a:moveTo>
                  <a:pt x="0" y="0"/>
                </a:moveTo>
                <a:lnTo>
                  <a:pt x="7672410" y="0"/>
                </a:lnTo>
                <a:lnTo>
                  <a:pt x="7672410" y="7672409"/>
                </a:lnTo>
                <a:lnTo>
                  <a:pt x="0" y="7672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1" id="11"/>
          <p:cNvSpPr/>
          <p:nvPr/>
        </p:nvSpPr>
        <p:spPr>
          <a:xfrm>
            <a:off x="823045" y="1449817"/>
            <a:ext cx="5152572" cy="0"/>
          </a:xfrm>
          <a:prstGeom prst="line">
            <a:avLst/>
          </a:prstGeom>
          <a:ln cap="flat" w="38100">
            <a:solidFill>
              <a:srgbClr val="FFFFFF"/>
            </a:solidFill>
            <a:prstDash val="solid"/>
            <a:headEnd type="none" len="sm" w="sm"/>
            <a:tailEnd type="none" len="sm" w="sm"/>
          </a:ln>
        </p:spPr>
      </p:sp>
      <p:sp>
        <p:nvSpPr>
          <p:cNvPr name="TextBox 12" id="12"/>
          <p:cNvSpPr txBox="true"/>
          <p:nvPr/>
        </p:nvSpPr>
        <p:spPr>
          <a:xfrm rot="0">
            <a:off x="1707362" y="3059689"/>
            <a:ext cx="1702911" cy="1094740"/>
          </a:xfrm>
          <a:prstGeom prst="rect">
            <a:avLst/>
          </a:prstGeom>
        </p:spPr>
        <p:txBody>
          <a:bodyPr anchor="t" rtlCol="false" tIns="0" lIns="0" bIns="0" rIns="0">
            <a:spAutoFit/>
          </a:bodyPr>
          <a:lstStyle/>
          <a:p>
            <a:pPr algn="ctr">
              <a:lnSpc>
                <a:spcPts val="8959"/>
              </a:lnSpc>
            </a:pPr>
            <a:r>
              <a:rPr lang="en-US" sz="6399" b="true">
                <a:solidFill>
                  <a:srgbClr val="FFFFFF"/>
                </a:solidFill>
                <a:latin typeface="Open Sauce Bold"/>
                <a:ea typeface="Open Sauce Bold"/>
                <a:cs typeface="Open Sauce Bold"/>
                <a:sym typeface="Open Sauce Bold"/>
              </a:rPr>
              <a:t>Java</a:t>
            </a:r>
          </a:p>
        </p:txBody>
      </p:sp>
      <p:sp>
        <p:nvSpPr>
          <p:cNvPr name="AutoShape 13" id="13"/>
          <p:cNvSpPr/>
          <p:nvPr/>
        </p:nvSpPr>
        <p:spPr>
          <a:xfrm>
            <a:off x="1468478" y="4154429"/>
            <a:ext cx="2198645" cy="0"/>
          </a:xfrm>
          <a:prstGeom prst="line">
            <a:avLst/>
          </a:prstGeom>
          <a:ln cap="flat" w="38100">
            <a:solidFill>
              <a:srgbClr val="FFFFFF"/>
            </a:solidFill>
            <a:prstDash val="solid"/>
            <a:headEnd type="none" len="sm" w="sm"/>
            <a:tailEnd type="none" len="sm" w="sm"/>
          </a:ln>
        </p:spPr>
      </p:sp>
      <p:sp>
        <p:nvSpPr>
          <p:cNvPr name="TextBox 14" id="14"/>
          <p:cNvSpPr txBox="true"/>
          <p:nvPr/>
        </p:nvSpPr>
        <p:spPr>
          <a:xfrm rot="0">
            <a:off x="760010" y="4217389"/>
            <a:ext cx="3677748" cy="5848790"/>
          </a:xfrm>
          <a:prstGeom prst="rect">
            <a:avLst/>
          </a:prstGeom>
        </p:spPr>
        <p:txBody>
          <a:bodyPr anchor="t" rtlCol="false" tIns="0" lIns="0" bIns="0" rIns="0">
            <a:spAutoFit/>
          </a:bodyPr>
          <a:lstStyle/>
          <a:p>
            <a:pPr algn="ctr">
              <a:lnSpc>
                <a:spcPts val="3356"/>
              </a:lnSpc>
            </a:pPr>
            <a:r>
              <a:rPr lang="en-US" sz="2397">
                <a:solidFill>
                  <a:srgbClr val="FFFFFF"/>
                </a:solidFill>
                <a:latin typeface="Open Sauce"/>
                <a:ea typeface="Open Sauce"/>
                <a:cs typeface="Open Sauce"/>
                <a:sym typeface="Open Sauce"/>
              </a:rPr>
              <a:t>Java, birçok farklı cihazda ve bilgisayarda çalışabilen bir programlama dilidir.</a:t>
            </a:r>
          </a:p>
          <a:p>
            <a:pPr algn="ctr">
              <a:lnSpc>
                <a:spcPts val="3356"/>
              </a:lnSpc>
            </a:pPr>
            <a:r>
              <a:rPr lang="en-US" sz="2397">
                <a:solidFill>
                  <a:srgbClr val="FFFFFF"/>
                </a:solidFill>
                <a:latin typeface="Open Sauce"/>
                <a:ea typeface="Open Sauce"/>
                <a:cs typeface="Open Sauce"/>
                <a:sym typeface="Open Sauce"/>
              </a:rPr>
              <a:t> Genelde banka sistemleri, internet sitelerinin arka plan işlemleri ve Android telefon uygulamalarını yapmak için kullanılır.</a:t>
            </a:r>
          </a:p>
          <a:p>
            <a:pPr algn="ctr">
              <a:lnSpc>
                <a:spcPts val="3356"/>
              </a:lnSpc>
            </a:pPr>
            <a:r>
              <a:rPr lang="en-US" sz="2397">
                <a:solidFill>
                  <a:srgbClr val="FFFFFF"/>
                </a:solidFill>
                <a:latin typeface="Open Sauce"/>
                <a:ea typeface="Open Sauce"/>
                <a:cs typeface="Open Sauce"/>
                <a:sym typeface="Open Sauce"/>
              </a:rPr>
              <a:t> Hızlı, güvenilir ve çok yerde kullanılabilir olduğu için dünyada en yaygın dillerden biridir.</a:t>
            </a:r>
          </a:p>
        </p:txBody>
      </p:sp>
      <p:sp>
        <p:nvSpPr>
          <p:cNvPr name="TextBox 15" id="15"/>
          <p:cNvSpPr txBox="true"/>
          <p:nvPr/>
        </p:nvSpPr>
        <p:spPr>
          <a:xfrm rot="0">
            <a:off x="5581626" y="3059689"/>
            <a:ext cx="2680653" cy="1094740"/>
          </a:xfrm>
          <a:prstGeom prst="rect">
            <a:avLst/>
          </a:prstGeom>
        </p:spPr>
        <p:txBody>
          <a:bodyPr anchor="t" rtlCol="false" tIns="0" lIns="0" bIns="0" rIns="0">
            <a:spAutoFit/>
          </a:bodyPr>
          <a:lstStyle/>
          <a:p>
            <a:pPr algn="ctr">
              <a:lnSpc>
                <a:spcPts val="8959"/>
              </a:lnSpc>
            </a:pPr>
            <a:r>
              <a:rPr lang="en-US" sz="6399" b="true">
                <a:solidFill>
                  <a:srgbClr val="FFFFFF"/>
                </a:solidFill>
                <a:latin typeface="Open Sauce Bold"/>
                <a:ea typeface="Open Sauce Bold"/>
                <a:cs typeface="Open Sauce Bold"/>
                <a:sym typeface="Open Sauce Bold"/>
              </a:rPr>
              <a:t>Flutter</a:t>
            </a:r>
          </a:p>
        </p:txBody>
      </p:sp>
      <p:sp>
        <p:nvSpPr>
          <p:cNvPr name="AutoShape 16" id="16"/>
          <p:cNvSpPr/>
          <p:nvPr/>
        </p:nvSpPr>
        <p:spPr>
          <a:xfrm>
            <a:off x="5831613" y="4154429"/>
            <a:ext cx="2198645" cy="0"/>
          </a:xfrm>
          <a:prstGeom prst="line">
            <a:avLst/>
          </a:prstGeom>
          <a:ln cap="flat" w="38100">
            <a:solidFill>
              <a:srgbClr val="FFFFFF"/>
            </a:solidFill>
            <a:prstDash val="solid"/>
            <a:headEnd type="none" len="sm" w="sm"/>
            <a:tailEnd type="none" len="sm" w="sm"/>
          </a:ln>
        </p:spPr>
      </p:sp>
      <p:sp>
        <p:nvSpPr>
          <p:cNvPr name="TextBox 17" id="17"/>
          <p:cNvSpPr txBox="true"/>
          <p:nvPr/>
        </p:nvSpPr>
        <p:spPr>
          <a:xfrm rot="0">
            <a:off x="5123145" y="4217389"/>
            <a:ext cx="3677748" cy="5430071"/>
          </a:xfrm>
          <a:prstGeom prst="rect">
            <a:avLst/>
          </a:prstGeom>
        </p:spPr>
        <p:txBody>
          <a:bodyPr anchor="t" rtlCol="false" tIns="0" lIns="0" bIns="0" rIns="0">
            <a:spAutoFit/>
          </a:bodyPr>
          <a:lstStyle/>
          <a:p>
            <a:pPr algn="ctr">
              <a:lnSpc>
                <a:spcPts val="3356"/>
              </a:lnSpc>
            </a:pPr>
            <a:r>
              <a:rPr lang="en-US" sz="2397">
                <a:solidFill>
                  <a:srgbClr val="FFFFFF"/>
                </a:solidFill>
                <a:latin typeface="Open Sauce"/>
                <a:ea typeface="Open Sauce"/>
                <a:cs typeface="Open Sauce"/>
                <a:sym typeface="Open Sauce"/>
              </a:rPr>
              <a:t>Flutter, tek bir kod yazarak hem Android hem iPhone için uygulama geliştirmeyi sağlayan bir teknolojidir.</a:t>
            </a:r>
          </a:p>
          <a:p>
            <a:pPr algn="ctr">
              <a:lnSpc>
                <a:spcPts val="3356"/>
              </a:lnSpc>
            </a:pPr>
            <a:r>
              <a:rPr lang="en-US" sz="2397">
                <a:solidFill>
                  <a:srgbClr val="FFFFFF"/>
                </a:solidFill>
                <a:latin typeface="Open Sauce"/>
                <a:ea typeface="Open Sauce"/>
                <a:cs typeface="Open Sauce"/>
                <a:sym typeface="Open Sauce"/>
              </a:rPr>
              <a:t> Görsel açıdan zengin, hızlı ve modern mobil uygulamalar yapmak için kullanılır.</a:t>
            </a:r>
          </a:p>
          <a:p>
            <a:pPr algn="ctr">
              <a:lnSpc>
                <a:spcPts val="3356"/>
              </a:lnSpc>
            </a:pPr>
            <a:r>
              <a:rPr lang="en-US" sz="2397">
                <a:solidFill>
                  <a:srgbClr val="FFFFFF"/>
                </a:solidFill>
                <a:latin typeface="Open Sauce"/>
                <a:ea typeface="Open Sauce"/>
                <a:cs typeface="Open Sauce"/>
                <a:sym typeface="Open Sauce"/>
              </a:rPr>
              <a:t> Aynı kodla farklı cihazlarda çalışabildiği için geliştiricilere büyük kolaylık sağlar.</a:t>
            </a:r>
          </a:p>
        </p:txBody>
      </p:sp>
      <p:sp>
        <p:nvSpPr>
          <p:cNvPr name="TextBox 18" id="18"/>
          <p:cNvSpPr txBox="true"/>
          <p:nvPr/>
        </p:nvSpPr>
        <p:spPr>
          <a:xfrm rot="0">
            <a:off x="10973795" y="2941380"/>
            <a:ext cx="623411" cy="1094740"/>
          </a:xfrm>
          <a:prstGeom prst="rect">
            <a:avLst/>
          </a:prstGeom>
        </p:spPr>
        <p:txBody>
          <a:bodyPr anchor="t" rtlCol="false" tIns="0" lIns="0" bIns="0" rIns="0">
            <a:spAutoFit/>
          </a:bodyPr>
          <a:lstStyle/>
          <a:p>
            <a:pPr algn="ctr">
              <a:lnSpc>
                <a:spcPts val="8959"/>
              </a:lnSpc>
            </a:pPr>
            <a:r>
              <a:rPr lang="en-US" sz="6399" b="true">
                <a:solidFill>
                  <a:srgbClr val="FFFFFF"/>
                </a:solidFill>
                <a:latin typeface="Open Sauce Bold"/>
                <a:ea typeface="Open Sauce Bold"/>
                <a:cs typeface="Open Sauce Bold"/>
                <a:sym typeface="Open Sauce Bold"/>
              </a:rPr>
              <a:t>C</a:t>
            </a:r>
          </a:p>
        </p:txBody>
      </p:sp>
      <p:sp>
        <p:nvSpPr>
          <p:cNvPr name="AutoShape 19" id="19"/>
          <p:cNvSpPr/>
          <p:nvPr/>
        </p:nvSpPr>
        <p:spPr>
          <a:xfrm>
            <a:off x="10195161" y="4036120"/>
            <a:ext cx="2198645" cy="0"/>
          </a:xfrm>
          <a:prstGeom prst="line">
            <a:avLst/>
          </a:prstGeom>
          <a:ln cap="flat" w="38100">
            <a:solidFill>
              <a:srgbClr val="FFFFFF"/>
            </a:solidFill>
            <a:prstDash val="solid"/>
            <a:headEnd type="none" len="sm" w="sm"/>
            <a:tailEnd type="none" len="sm" w="sm"/>
          </a:ln>
        </p:spPr>
      </p:sp>
      <p:sp>
        <p:nvSpPr>
          <p:cNvPr name="TextBox 20" id="20"/>
          <p:cNvSpPr txBox="true"/>
          <p:nvPr/>
        </p:nvSpPr>
        <p:spPr>
          <a:xfrm rot="0">
            <a:off x="9486693" y="4099080"/>
            <a:ext cx="3677748" cy="5848790"/>
          </a:xfrm>
          <a:prstGeom prst="rect">
            <a:avLst/>
          </a:prstGeom>
        </p:spPr>
        <p:txBody>
          <a:bodyPr anchor="t" rtlCol="false" tIns="0" lIns="0" bIns="0" rIns="0">
            <a:spAutoFit/>
          </a:bodyPr>
          <a:lstStyle/>
          <a:p>
            <a:pPr algn="ctr">
              <a:lnSpc>
                <a:spcPts val="3356"/>
              </a:lnSpc>
            </a:pPr>
            <a:r>
              <a:rPr lang="en-US" sz="2397">
                <a:solidFill>
                  <a:srgbClr val="FFFFFF"/>
                </a:solidFill>
                <a:latin typeface="Open Sauce"/>
                <a:ea typeface="Open Sauce"/>
                <a:cs typeface="Open Sauce"/>
                <a:sym typeface="Open Sauce"/>
              </a:rPr>
              <a:t>C, bilgisayarların nasıl çalıştığını anlamaya en yakın dillerden biridir.</a:t>
            </a:r>
          </a:p>
          <a:p>
            <a:pPr algn="ctr">
              <a:lnSpc>
                <a:spcPts val="3356"/>
              </a:lnSpc>
            </a:pPr>
            <a:r>
              <a:rPr lang="en-US" sz="2397">
                <a:solidFill>
                  <a:srgbClr val="FFFFFF"/>
                </a:solidFill>
                <a:latin typeface="Open Sauce"/>
                <a:ea typeface="Open Sauce"/>
                <a:cs typeface="Open Sauce"/>
                <a:sym typeface="Open Sauce"/>
              </a:rPr>
              <a:t> Oldukça hızlıdır ve doğrudan donanımla iletişim kurabilen programlar yazmaya uygundur.</a:t>
            </a:r>
          </a:p>
          <a:p>
            <a:pPr algn="ctr">
              <a:lnSpc>
                <a:spcPts val="3356"/>
              </a:lnSpc>
            </a:pPr>
            <a:r>
              <a:rPr lang="en-US" sz="2397">
                <a:solidFill>
                  <a:srgbClr val="FFFFFF"/>
                </a:solidFill>
                <a:latin typeface="Open Sauce"/>
                <a:ea typeface="Open Sauce"/>
                <a:cs typeface="Open Sauce"/>
                <a:sym typeface="Open Sauce"/>
              </a:rPr>
              <a:t> Genellikle işletim sistemleri, cihaz sürücüleri ve yüksek performans gerektiren uygulamalar geliştirmek için kullanılır.</a:t>
            </a:r>
          </a:p>
        </p:txBody>
      </p:sp>
      <p:sp>
        <p:nvSpPr>
          <p:cNvPr name="TextBox 21" id="21"/>
          <p:cNvSpPr txBox="true"/>
          <p:nvPr/>
        </p:nvSpPr>
        <p:spPr>
          <a:xfrm rot="0">
            <a:off x="14487951" y="2941380"/>
            <a:ext cx="2322195" cy="1094740"/>
          </a:xfrm>
          <a:prstGeom prst="rect">
            <a:avLst/>
          </a:prstGeom>
        </p:spPr>
        <p:txBody>
          <a:bodyPr anchor="t" rtlCol="false" tIns="0" lIns="0" bIns="0" rIns="0">
            <a:spAutoFit/>
          </a:bodyPr>
          <a:lstStyle/>
          <a:p>
            <a:pPr algn="ctr">
              <a:lnSpc>
                <a:spcPts val="8959"/>
              </a:lnSpc>
            </a:pPr>
            <a:r>
              <a:rPr lang="en-US" sz="6399" b="true">
                <a:solidFill>
                  <a:srgbClr val="FFFFFF"/>
                </a:solidFill>
                <a:latin typeface="Open Sauce Bold"/>
                <a:ea typeface="Open Sauce Bold"/>
                <a:cs typeface="Open Sauce Bold"/>
                <a:sym typeface="Open Sauce Bold"/>
              </a:rPr>
              <a:t>HTML</a:t>
            </a:r>
          </a:p>
        </p:txBody>
      </p:sp>
      <p:sp>
        <p:nvSpPr>
          <p:cNvPr name="AutoShape 22" id="22"/>
          <p:cNvSpPr/>
          <p:nvPr/>
        </p:nvSpPr>
        <p:spPr>
          <a:xfrm>
            <a:off x="14558709" y="4036120"/>
            <a:ext cx="2198645" cy="0"/>
          </a:xfrm>
          <a:prstGeom prst="line">
            <a:avLst/>
          </a:prstGeom>
          <a:ln cap="flat" w="38100">
            <a:solidFill>
              <a:srgbClr val="FFFFFF"/>
            </a:solidFill>
            <a:prstDash val="solid"/>
            <a:headEnd type="none" len="sm" w="sm"/>
            <a:tailEnd type="none" len="sm" w="sm"/>
          </a:ln>
        </p:spPr>
      </p:sp>
      <p:sp>
        <p:nvSpPr>
          <p:cNvPr name="TextBox 23" id="23"/>
          <p:cNvSpPr txBox="true"/>
          <p:nvPr/>
        </p:nvSpPr>
        <p:spPr>
          <a:xfrm rot="0">
            <a:off x="13850242" y="4099080"/>
            <a:ext cx="3677748" cy="5011351"/>
          </a:xfrm>
          <a:prstGeom prst="rect">
            <a:avLst/>
          </a:prstGeom>
        </p:spPr>
        <p:txBody>
          <a:bodyPr anchor="t" rtlCol="false" tIns="0" lIns="0" bIns="0" rIns="0">
            <a:spAutoFit/>
          </a:bodyPr>
          <a:lstStyle/>
          <a:p>
            <a:pPr algn="ctr">
              <a:lnSpc>
                <a:spcPts val="3356"/>
              </a:lnSpc>
            </a:pPr>
            <a:r>
              <a:rPr lang="en-US" sz="2397">
                <a:solidFill>
                  <a:srgbClr val="FFFFFF"/>
                </a:solidFill>
                <a:latin typeface="Open Sauce"/>
                <a:ea typeface="Open Sauce"/>
                <a:cs typeface="Open Sauce"/>
                <a:sym typeface="Open Sauce"/>
              </a:rPr>
              <a:t>HTML, internet sitelerinin iskeletini oluşturan bir dildir.</a:t>
            </a:r>
          </a:p>
          <a:p>
            <a:pPr algn="ctr">
              <a:lnSpc>
                <a:spcPts val="3356"/>
              </a:lnSpc>
            </a:pPr>
            <a:r>
              <a:rPr lang="en-US" sz="2397">
                <a:solidFill>
                  <a:srgbClr val="FFFFFF"/>
                </a:solidFill>
                <a:latin typeface="Open Sauce"/>
                <a:ea typeface="Open Sauce"/>
                <a:cs typeface="Open Sauce"/>
                <a:sym typeface="Open Sauce"/>
              </a:rPr>
              <a:t> Bir web sayfasında metinlerin, resimlerin ve butonların nerede duracağını belirlemek için kullanılır.</a:t>
            </a:r>
          </a:p>
          <a:p>
            <a:pPr algn="ctr">
              <a:lnSpc>
                <a:spcPts val="3356"/>
              </a:lnSpc>
            </a:pPr>
            <a:r>
              <a:rPr lang="en-US" sz="2397">
                <a:solidFill>
                  <a:srgbClr val="FFFFFF"/>
                </a:solidFill>
                <a:latin typeface="Open Sauce"/>
                <a:ea typeface="Open Sauce"/>
                <a:cs typeface="Open Sauce"/>
                <a:sym typeface="Open Sauce"/>
              </a:rPr>
              <a:t> Kısacası, bir web sitesinin temel yapısını kuran basit ve anlaşılır bir dildir.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000000">
                    <a:alpha val="100000"/>
                  </a:srgbClr>
                </a:gs>
                <a:gs pos="100000">
                  <a:srgbClr val="C89116">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5400000">
            <a:off x="10013097" y="2691423"/>
            <a:ext cx="9145756" cy="9162415"/>
          </a:xfrm>
          <a:custGeom>
            <a:avLst/>
            <a:gdLst/>
            <a:ahLst/>
            <a:cxnLst/>
            <a:rect r="r" b="b" t="t" l="l"/>
            <a:pathLst>
              <a:path h="9162415" w="9145756">
                <a:moveTo>
                  <a:pt x="9145756" y="0"/>
                </a:moveTo>
                <a:lnTo>
                  <a:pt x="0" y="0"/>
                </a:lnTo>
                <a:lnTo>
                  <a:pt x="0" y="9162415"/>
                </a:lnTo>
                <a:lnTo>
                  <a:pt x="9145756" y="9162415"/>
                </a:lnTo>
                <a:lnTo>
                  <a:pt x="91457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6933" y="-1995953"/>
            <a:ext cx="7672410" cy="7672410"/>
          </a:xfrm>
          <a:custGeom>
            <a:avLst/>
            <a:gdLst/>
            <a:ahLst/>
            <a:cxnLst/>
            <a:rect r="r" b="b" t="t" l="l"/>
            <a:pathLst>
              <a:path h="7672410" w="7672410">
                <a:moveTo>
                  <a:pt x="0" y="0"/>
                </a:moveTo>
                <a:lnTo>
                  <a:pt x="7672409" y="0"/>
                </a:lnTo>
                <a:lnTo>
                  <a:pt x="7672409" y="7672410"/>
                </a:lnTo>
                <a:lnTo>
                  <a:pt x="0" y="7672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120" y="-4794"/>
            <a:ext cx="4270905" cy="4270905"/>
          </a:xfrm>
          <a:custGeom>
            <a:avLst/>
            <a:gdLst/>
            <a:ahLst/>
            <a:cxnLst/>
            <a:rect r="r" b="b" t="t" l="l"/>
            <a:pathLst>
              <a:path h="4270905" w="4270905">
                <a:moveTo>
                  <a:pt x="0" y="0"/>
                </a:moveTo>
                <a:lnTo>
                  <a:pt x="4270905" y="0"/>
                </a:lnTo>
                <a:lnTo>
                  <a:pt x="4270905" y="4270905"/>
                </a:lnTo>
                <a:lnTo>
                  <a:pt x="0" y="4270905"/>
                </a:lnTo>
                <a:lnTo>
                  <a:pt x="0" y="0"/>
                </a:lnTo>
                <a:close/>
              </a:path>
            </a:pathLst>
          </a:custGeom>
          <a:blipFill>
            <a:blip r:embed="rId6"/>
            <a:stretch>
              <a:fillRect l="0" t="0" r="0" b="0"/>
            </a:stretch>
          </a:blipFill>
        </p:spPr>
      </p:sp>
      <p:sp>
        <p:nvSpPr>
          <p:cNvPr name="TextBox 8" id="8"/>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Sayfa 2</a:t>
            </a:r>
          </a:p>
        </p:txBody>
      </p:sp>
      <p:sp>
        <p:nvSpPr>
          <p:cNvPr name="TextBox 9" id="9"/>
          <p:cNvSpPr txBox="true"/>
          <p:nvPr/>
        </p:nvSpPr>
        <p:spPr>
          <a:xfrm rot="0">
            <a:off x="5201275" y="340880"/>
            <a:ext cx="9829921" cy="4097955"/>
          </a:xfrm>
          <a:prstGeom prst="rect">
            <a:avLst/>
          </a:prstGeom>
        </p:spPr>
        <p:txBody>
          <a:bodyPr anchor="t" rtlCol="false" tIns="0" lIns="0" bIns="0" rIns="0">
            <a:spAutoFit/>
          </a:bodyPr>
          <a:lstStyle/>
          <a:p>
            <a:pPr algn="just">
              <a:lnSpc>
                <a:spcPts val="2977"/>
              </a:lnSpc>
              <a:spcBef>
                <a:spcPct val="0"/>
              </a:spcBef>
            </a:pPr>
            <a:r>
              <a:rPr lang="en-US" sz="2127" spc="4">
                <a:solidFill>
                  <a:srgbClr val="FFFFFF"/>
                </a:solidFill>
                <a:latin typeface="Open Sauce"/>
                <a:ea typeface="Open Sauce"/>
                <a:cs typeface="Open Sauce"/>
                <a:sym typeface="Open Sauce"/>
              </a:rPr>
              <a:t>Python, ok</a:t>
            </a:r>
            <a:r>
              <a:rPr lang="en-US" sz="2127" spc="4">
                <a:solidFill>
                  <a:srgbClr val="FFFFFF"/>
                </a:solidFill>
                <a:latin typeface="Open Sauce"/>
                <a:ea typeface="Open Sauce"/>
                <a:cs typeface="Open Sauce"/>
                <a:sym typeface="Open Sauce"/>
              </a:rPr>
              <a:t>unabilirliği yüksek, esnek ve geniş bir ekosisteme sahip bir programlama dilidir. Basit sözdizimi sayesinde hem yeni başlayanlar hem de profesyoneller tarafından tercih edilir. Nesne yönelimli, fonksiyonel ve betikleme gibi farklı programlama yaklaşımlarını destekleyerek web geliştirme, veri analizi, yapay zekâ, otomasyon ve bilimsel hesaplama gibi çok çeşitli alanlarda kullanılabilir. Zengin standart kütüphanesi ve aktif topluluğu, birçok işlevi ek bir çaba gerektirmeden gerçekleştirmeyi kolaylaştırır. Ayrıca platform bağımsız yapısı sayesinde Python kodları farklı işletim sistemlerinde neredeyse aynı şekilde çalışır. Bu özellikleri, Python’u modern yazılım dünyasında pratik, güçlü ve çok yönlü bir araç haline getirir.</a:t>
            </a:r>
          </a:p>
          <a:p>
            <a:pPr algn="just">
              <a:lnSpc>
                <a:spcPts val="2977"/>
              </a:lnSpc>
              <a:spcBef>
                <a:spcPct val="0"/>
              </a:spcBef>
            </a:pPr>
          </a:p>
        </p:txBody>
      </p:sp>
      <p:sp>
        <p:nvSpPr>
          <p:cNvPr name="TextBox 10" id="10"/>
          <p:cNvSpPr txBox="true"/>
          <p:nvPr/>
        </p:nvSpPr>
        <p:spPr>
          <a:xfrm rot="0">
            <a:off x="11148434" y="7731577"/>
            <a:ext cx="6110866" cy="1526723"/>
          </a:xfrm>
          <a:prstGeom prst="rect">
            <a:avLst/>
          </a:prstGeom>
        </p:spPr>
        <p:txBody>
          <a:bodyPr anchor="t" rtlCol="false" tIns="0" lIns="0" bIns="0" rIns="0">
            <a:spAutoFit/>
          </a:bodyPr>
          <a:lstStyle/>
          <a:p>
            <a:pPr algn="just" marL="0" indent="0" lvl="0">
              <a:lnSpc>
                <a:spcPts val="11894"/>
              </a:lnSpc>
            </a:pPr>
            <a:r>
              <a:rPr lang="en-US" b="true" sz="10812" spc="21">
                <a:solidFill>
                  <a:srgbClr val="FFFFFF"/>
                </a:solidFill>
                <a:latin typeface="Open Sauce Bold"/>
                <a:ea typeface="Open Sauce Bold"/>
                <a:cs typeface="Open Sauce Bold"/>
                <a:sym typeface="Open Sauce Bold"/>
              </a:rPr>
              <a:t>PYTHON</a:t>
            </a:r>
          </a:p>
        </p:txBody>
      </p:sp>
      <p:sp>
        <p:nvSpPr>
          <p:cNvPr name="TextBox 11" id="11"/>
          <p:cNvSpPr txBox="true"/>
          <p:nvPr/>
        </p:nvSpPr>
        <p:spPr>
          <a:xfrm rot="0">
            <a:off x="823045" y="490155"/>
            <a:ext cx="2969281"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Bilim Fen Teknoloji</a:t>
            </a:r>
          </a:p>
        </p:txBody>
      </p:sp>
      <p:sp>
        <p:nvSpPr>
          <p:cNvPr name="TextBox 12" id="12"/>
          <p:cNvSpPr txBox="true"/>
          <p:nvPr/>
        </p:nvSpPr>
        <p:spPr>
          <a:xfrm rot="0">
            <a:off x="823045" y="811215"/>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Kulübü</a:t>
            </a:r>
          </a:p>
        </p:txBody>
      </p:sp>
      <p:sp>
        <p:nvSpPr>
          <p:cNvPr name="TextBox 13" id="13"/>
          <p:cNvSpPr txBox="true"/>
          <p:nvPr/>
        </p:nvSpPr>
        <p:spPr>
          <a:xfrm rot="0">
            <a:off x="413707" y="6195765"/>
            <a:ext cx="9161110" cy="3665167"/>
          </a:xfrm>
          <a:prstGeom prst="rect">
            <a:avLst/>
          </a:prstGeom>
        </p:spPr>
        <p:txBody>
          <a:bodyPr anchor="t" rtlCol="false" tIns="0" lIns="0" bIns="0" rIns="0">
            <a:spAutoFit/>
          </a:bodyPr>
          <a:lstStyle/>
          <a:p>
            <a:pPr algn="just">
              <a:lnSpc>
                <a:spcPts val="3257"/>
              </a:lnSpc>
              <a:spcBef>
                <a:spcPct val="0"/>
              </a:spcBef>
            </a:pPr>
            <a:r>
              <a:rPr lang="en-US" sz="2327" spc="4">
                <a:solidFill>
                  <a:srgbClr val="FFFFFF"/>
                </a:solidFill>
                <a:latin typeface="Open Sauce"/>
                <a:ea typeface="Open Sauce"/>
                <a:cs typeface="Open Sauce"/>
                <a:sym typeface="Open Sauce"/>
              </a:rPr>
              <a:t>Python, k</a:t>
            </a:r>
            <a:r>
              <a:rPr lang="en-US" sz="2327" spc="4">
                <a:solidFill>
                  <a:srgbClr val="FFFFFF"/>
                </a:solidFill>
                <a:latin typeface="Open Sauce"/>
                <a:ea typeface="Open Sauce"/>
                <a:cs typeface="Open Sauce"/>
                <a:sym typeface="Open Sauce"/>
              </a:rPr>
              <a:t>ullanım alanı bakımından son derece geniş bir yelpazeye sahiptir. Web uygulamalarından veri bilimine, yapay zekâ ve makine öğrenimi projelerinden otomasyon ve siber güvenlik araçlarını yazımına kadar pek çok alanda aktif olarak kullanılır. Ayrıca bilimsel hesaplamalar, siber güvenlik araçları, oyun geliştirme, finans analitiği ve hatta gömülü sistemlerde bile Python’dan yararlanılır. Bu kadar farklı alanda tercih edilmesinin nedeni, hem güçlü kütüphanelere sahip olması hem de hızlı prototipleme imkânı sunmasıdır.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9850840">
            <a:off x="13911085" y="-408622"/>
            <a:ext cx="6979048" cy="6991760"/>
          </a:xfrm>
          <a:custGeom>
            <a:avLst/>
            <a:gdLst/>
            <a:ahLst/>
            <a:cxnLst/>
            <a:rect r="r" b="b" t="t" l="l"/>
            <a:pathLst>
              <a:path h="6991760" w="6979048">
                <a:moveTo>
                  <a:pt x="6979048" y="0"/>
                </a:moveTo>
                <a:lnTo>
                  <a:pt x="0" y="0"/>
                </a:lnTo>
                <a:lnTo>
                  <a:pt x="0" y="6991760"/>
                </a:lnTo>
                <a:lnTo>
                  <a:pt x="6979048" y="6991760"/>
                </a:lnTo>
                <a:lnTo>
                  <a:pt x="697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81179" y="576468"/>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5" id="5"/>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506992" y="5386852"/>
            <a:ext cx="10557087" cy="6024936"/>
            <a:chOff x="0" y="0"/>
            <a:chExt cx="1635569" cy="933420"/>
          </a:xfrm>
        </p:grpSpPr>
        <p:sp>
          <p:nvSpPr>
            <p:cNvPr name="Freeform 7" id="7"/>
            <p:cNvSpPr/>
            <p:nvPr/>
          </p:nvSpPr>
          <p:spPr>
            <a:xfrm flipH="false" flipV="false" rot="0">
              <a:off x="0" y="0"/>
              <a:ext cx="1635569" cy="933420"/>
            </a:xfrm>
            <a:custGeom>
              <a:avLst/>
              <a:gdLst/>
              <a:ahLst/>
              <a:cxnLst/>
              <a:rect r="r" b="b" t="t" l="l"/>
              <a:pathLst>
                <a:path h="933420" w="1635569">
                  <a:moveTo>
                    <a:pt x="57934" y="0"/>
                  </a:moveTo>
                  <a:lnTo>
                    <a:pt x="1577635" y="0"/>
                  </a:lnTo>
                  <a:cubicBezTo>
                    <a:pt x="1609631" y="0"/>
                    <a:pt x="1635569" y="25938"/>
                    <a:pt x="1635569" y="57934"/>
                  </a:cubicBezTo>
                  <a:lnTo>
                    <a:pt x="1635569" y="875486"/>
                  </a:lnTo>
                  <a:cubicBezTo>
                    <a:pt x="1635569" y="890851"/>
                    <a:pt x="1629465" y="905587"/>
                    <a:pt x="1618601" y="916452"/>
                  </a:cubicBezTo>
                  <a:cubicBezTo>
                    <a:pt x="1607736" y="927316"/>
                    <a:pt x="1593000" y="933420"/>
                    <a:pt x="1577635" y="933420"/>
                  </a:cubicBezTo>
                  <a:lnTo>
                    <a:pt x="57934" y="933420"/>
                  </a:lnTo>
                  <a:cubicBezTo>
                    <a:pt x="42569" y="933420"/>
                    <a:pt x="27833" y="927316"/>
                    <a:pt x="16968" y="916452"/>
                  </a:cubicBezTo>
                  <a:cubicBezTo>
                    <a:pt x="6104" y="905587"/>
                    <a:pt x="0" y="890851"/>
                    <a:pt x="0" y="875486"/>
                  </a:cubicBezTo>
                  <a:lnTo>
                    <a:pt x="0" y="57934"/>
                  </a:lnTo>
                  <a:cubicBezTo>
                    <a:pt x="0" y="42569"/>
                    <a:pt x="6104" y="27833"/>
                    <a:pt x="16968" y="16968"/>
                  </a:cubicBezTo>
                  <a:cubicBezTo>
                    <a:pt x="27833" y="6104"/>
                    <a:pt x="42569" y="0"/>
                    <a:pt x="57934" y="0"/>
                  </a:cubicBezTo>
                  <a:close/>
                </a:path>
              </a:pathLst>
            </a:custGeom>
            <a:blipFill>
              <a:blip r:embed="rId4"/>
              <a:stretch>
                <a:fillRect l="-10874" t="0" r="-10874" b="0"/>
              </a:stretch>
            </a:blipFill>
          </p:spPr>
        </p:sp>
      </p:grpSp>
      <p:sp>
        <p:nvSpPr>
          <p:cNvPr name="Freeform 8" id="8"/>
          <p:cNvSpPr/>
          <p:nvPr/>
        </p:nvSpPr>
        <p:spPr>
          <a:xfrm flipH="false" flipV="true" rot="3859718">
            <a:off x="-2500114" y="7371233"/>
            <a:ext cx="5831534" cy="5831534"/>
          </a:xfrm>
          <a:custGeom>
            <a:avLst/>
            <a:gdLst/>
            <a:ahLst/>
            <a:cxnLst/>
            <a:rect r="r" b="b" t="t" l="l"/>
            <a:pathLst>
              <a:path h="5831534" w="5831534">
                <a:moveTo>
                  <a:pt x="0" y="5831534"/>
                </a:moveTo>
                <a:lnTo>
                  <a:pt x="5831533" y="5831534"/>
                </a:lnTo>
                <a:lnTo>
                  <a:pt x="5831533" y="0"/>
                </a:lnTo>
                <a:lnTo>
                  <a:pt x="0" y="0"/>
                </a:lnTo>
                <a:lnTo>
                  <a:pt x="0" y="5831534"/>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5739774" y="650878"/>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Sayfa 3</a:t>
            </a:r>
          </a:p>
        </p:txBody>
      </p:sp>
      <p:sp>
        <p:nvSpPr>
          <p:cNvPr name="TextBox 10" id="10"/>
          <p:cNvSpPr txBox="true"/>
          <p:nvPr/>
        </p:nvSpPr>
        <p:spPr>
          <a:xfrm rot="0">
            <a:off x="823045" y="2405606"/>
            <a:ext cx="14916729" cy="3220100"/>
          </a:xfrm>
          <a:prstGeom prst="rect">
            <a:avLst/>
          </a:prstGeom>
        </p:spPr>
        <p:txBody>
          <a:bodyPr anchor="t" rtlCol="false" tIns="0" lIns="0" bIns="0" rIns="0">
            <a:spAutoFit/>
          </a:bodyPr>
          <a:lstStyle/>
          <a:p>
            <a:pPr algn="just">
              <a:lnSpc>
                <a:spcPts val="2589"/>
              </a:lnSpc>
            </a:pPr>
            <a:r>
              <a:rPr lang="en-US" b="true" sz="1849" spc="3">
                <a:solidFill>
                  <a:srgbClr val="FFFFFF"/>
                </a:solidFill>
                <a:latin typeface="Open Sauce Bold"/>
                <a:ea typeface="Open Sauce Bold"/>
                <a:cs typeface="Open Sauce Bold"/>
                <a:sym typeface="Open Sauce Bold"/>
              </a:rPr>
              <a:t>İnstagram:</a:t>
            </a:r>
            <a:r>
              <a:rPr lang="en-US" sz="1849" spc="3">
                <a:solidFill>
                  <a:srgbClr val="FFFFFF"/>
                </a:solidFill>
                <a:latin typeface="Open Sauce"/>
                <a:ea typeface="Open Sauce"/>
                <a:cs typeface="Open Sauce"/>
                <a:sym typeface="Open Sauce"/>
              </a:rPr>
              <a:t> Python'un web framework'lerinden biri olan Django'yu kullanarak geliştirilmiş popüler bir sosyal medya platformudur. Milyarlarca kullanıcısı olan platformun backend işlevselliği büyük ölçüde Python ile sağlanır. </a:t>
            </a:r>
          </a:p>
          <a:p>
            <a:pPr algn="just">
              <a:lnSpc>
                <a:spcPts val="2589"/>
              </a:lnSpc>
            </a:pPr>
            <a:r>
              <a:rPr lang="en-US" b="true" sz="1849" spc="3">
                <a:solidFill>
                  <a:srgbClr val="FFFFFF"/>
                </a:solidFill>
                <a:latin typeface="Open Sauce Bold"/>
                <a:ea typeface="Open Sauce Bold"/>
                <a:cs typeface="Open Sauce Bold"/>
                <a:sym typeface="Open Sauce Bold"/>
              </a:rPr>
              <a:t>Spotify:</a:t>
            </a:r>
            <a:r>
              <a:rPr lang="en-US" sz="1849" spc="3">
                <a:solidFill>
                  <a:srgbClr val="FFFFFF"/>
                </a:solidFill>
                <a:latin typeface="Open Sauce"/>
                <a:ea typeface="Open Sauce"/>
                <a:cs typeface="Open Sauce"/>
                <a:sym typeface="Open Sauce"/>
              </a:rPr>
              <a:t> Kullanıcıların müzik dinlemesini sağlayan bir servis olan Spotify, veri analizi ve makine öğrenimi algoritmalarını büyük ölçüde Python ile yönetir. Bu sayede kullanıcılara kişiselleştirilmiş öneriler sunar.</a:t>
            </a:r>
          </a:p>
          <a:p>
            <a:pPr algn="just">
              <a:lnSpc>
                <a:spcPts val="2589"/>
              </a:lnSpc>
            </a:pPr>
            <a:r>
              <a:rPr lang="en-US" b="true" sz="1849" spc="3">
                <a:solidFill>
                  <a:srgbClr val="FFFFFF"/>
                </a:solidFill>
                <a:latin typeface="Open Sauce Bold"/>
                <a:ea typeface="Open Sauce Bold"/>
                <a:cs typeface="Open Sauce Bold"/>
                <a:sym typeface="Open Sauce Bold"/>
              </a:rPr>
              <a:t>YouTube:</a:t>
            </a:r>
            <a:r>
              <a:rPr lang="en-US" sz="1849" spc="3">
                <a:solidFill>
                  <a:srgbClr val="FFFFFF"/>
                </a:solidFill>
                <a:latin typeface="Open Sauce"/>
                <a:ea typeface="Open Sauce"/>
                <a:cs typeface="Open Sauce"/>
                <a:sym typeface="Open Sauce"/>
              </a:rPr>
              <a:t> Video paylaşım platformunun bazı bölümleri ve arkaplan işlemleri Python ile yazılmıştır. Özellikle veri analizi, makine öğrenimi ve büyük veriyi işleme gibi alanlarda Python'un büyük bir rolü vardır. </a:t>
            </a:r>
          </a:p>
          <a:p>
            <a:pPr algn="just">
              <a:lnSpc>
                <a:spcPts val="2589"/>
              </a:lnSpc>
            </a:pPr>
            <a:r>
              <a:rPr lang="en-US" b="true" sz="1849" spc="3">
                <a:solidFill>
                  <a:srgbClr val="FFFFFF"/>
                </a:solidFill>
                <a:latin typeface="Open Sauce Bold"/>
                <a:ea typeface="Open Sauce Bold"/>
                <a:cs typeface="Open Sauce Bold"/>
                <a:sym typeface="Open Sauce Bold"/>
              </a:rPr>
              <a:t>Dropbox:</a:t>
            </a:r>
            <a:r>
              <a:rPr lang="en-US" sz="1849" spc="3">
                <a:solidFill>
                  <a:srgbClr val="FFFFFF"/>
                </a:solidFill>
                <a:latin typeface="Open Sauce"/>
                <a:ea typeface="Open Sauce"/>
                <a:cs typeface="Open Sauce"/>
                <a:sym typeface="Open Sauce"/>
              </a:rPr>
              <a:t> Dosya depolama ve senkronizasyon hizmeti olan Dropbox'un backend geliştirme ve yönetimi için Python kullanılmıştır. </a:t>
            </a:r>
          </a:p>
          <a:p>
            <a:pPr algn="just">
              <a:lnSpc>
                <a:spcPts val="2589"/>
              </a:lnSpc>
            </a:pPr>
            <a:r>
              <a:rPr lang="en-US" b="true" sz="1849" spc="3">
                <a:solidFill>
                  <a:srgbClr val="FFFFFF"/>
                </a:solidFill>
                <a:latin typeface="Open Sauce Bold"/>
                <a:ea typeface="Open Sauce Bold"/>
                <a:cs typeface="Open Sauce Bold"/>
                <a:sym typeface="Open Sauce Bold"/>
              </a:rPr>
              <a:t>Netflix:</a:t>
            </a:r>
            <a:r>
              <a:rPr lang="en-US" sz="1849" spc="3">
                <a:solidFill>
                  <a:srgbClr val="FFFFFF"/>
                </a:solidFill>
                <a:latin typeface="Open Sauce"/>
                <a:ea typeface="Open Sauce"/>
                <a:cs typeface="Open Sauce"/>
                <a:sym typeface="Open Sauce"/>
              </a:rPr>
              <a:t> Büyük veri analizleri, içerik öneri algoritmaları ve sistem altyapısının bazı bölümleri Python ile geliştirilmiştir. Kullanıcıların izleme alışkanlıklarını analiz ederek onlara özel içerik önerileri sunar. </a:t>
            </a:r>
          </a:p>
          <a:p>
            <a:pPr algn="just">
              <a:lnSpc>
                <a:spcPts val="2589"/>
              </a:lnSpc>
              <a:spcBef>
                <a:spcPct val="0"/>
              </a:spcBef>
            </a:pPr>
          </a:p>
        </p:txBody>
      </p:sp>
      <p:sp>
        <p:nvSpPr>
          <p:cNvPr name="TextBox 11" id="11"/>
          <p:cNvSpPr txBox="true"/>
          <p:nvPr/>
        </p:nvSpPr>
        <p:spPr>
          <a:xfrm rot="0">
            <a:off x="823045" y="1574662"/>
            <a:ext cx="8098525" cy="720725"/>
          </a:xfrm>
          <a:prstGeom prst="rect">
            <a:avLst/>
          </a:prstGeom>
        </p:spPr>
        <p:txBody>
          <a:bodyPr anchor="t" rtlCol="false" tIns="0" lIns="0" bIns="0" rIns="0">
            <a:spAutoFit/>
          </a:bodyPr>
          <a:lstStyle/>
          <a:p>
            <a:pPr algn="just" marL="0" indent="0" lvl="0">
              <a:lnSpc>
                <a:spcPts val="5500"/>
              </a:lnSpc>
            </a:pPr>
            <a:r>
              <a:rPr lang="en-US" b="true" sz="5000" spc="10">
                <a:solidFill>
                  <a:srgbClr val="FFFFFF"/>
                </a:solidFill>
                <a:latin typeface="Open Sauce Bold"/>
                <a:ea typeface="Open Sauce Bold"/>
                <a:cs typeface="Open Sauce Bold"/>
                <a:sym typeface="Open Sauce Bold"/>
              </a:rPr>
              <a:t>PYTHON ILE YAPILANLAR</a:t>
            </a:r>
          </a:p>
        </p:txBody>
      </p:sp>
      <p:sp>
        <p:nvSpPr>
          <p:cNvPr name="TextBox 12" id="12"/>
          <p:cNvSpPr txBox="true"/>
          <p:nvPr/>
        </p:nvSpPr>
        <p:spPr>
          <a:xfrm rot="0">
            <a:off x="823045" y="490155"/>
            <a:ext cx="2969281"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Bilim Fen Teknoloji</a:t>
            </a:r>
          </a:p>
        </p:txBody>
      </p:sp>
      <p:sp>
        <p:nvSpPr>
          <p:cNvPr name="TextBox 13" id="13"/>
          <p:cNvSpPr txBox="true"/>
          <p:nvPr/>
        </p:nvSpPr>
        <p:spPr>
          <a:xfrm rot="0">
            <a:off x="823045" y="811215"/>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Kulübü</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5400000">
            <a:off x="7876765" y="319853"/>
            <a:ext cx="10458860" cy="10477911"/>
          </a:xfrm>
          <a:custGeom>
            <a:avLst/>
            <a:gdLst/>
            <a:ahLst/>
            <a:cxnLst/>
            <a:rect r="r" b="b" t="t" l="l"/>
            <a:pathLst>
              <a:path h="10477911" w="10458860">
                <a:moveTo>
                  <a:pt x="10458860" y="0"/>
                </a:moveTo>
                <a:lnTo>
                  <a:pt x="0" y="0"/>
                </a:lnTo>
                <a:lnTo>
                  <a:pt x="0" y="10477911"/>
                </a:lnTo>
                <a:lnTo>
                  <a:pt x="10458860" y="10477911"/>
                </a:lnTo>
                <a:lnTo>
                  <a:pt x="1045886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81179" y="576468"/>
            <a:ext cx="1919429" cy="566532"/>
            <a:chOff x="0" y="0"/>
            <a:chExt cx="505529" cy="149210"/>
          </a:xfrm>
        </p:grpSpPr>
        <p:sp>
          <p:nvSpPr>
            <p:cNvPr name="Freeform 4" id="4"/>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5DE0E6">
                    <a:alpha val="100000"/>
                  </a:srgbClr>
                </a:gs>
                <a:gs pos="100000">
                  <a:srgbClr val="004AAD">
                    <a:alpha val="100000"/>
                  </a:srgbClr>
                </a:gs>
              </a:gsLst>
              <a:lin ang="0"/>
            </a:gradFill>
          </p:spPr>
        </p:sp>
        <p:sp>
          <p:nvSpPr>
            <p:cNvPr name="TextBox 5" id="5"/>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988573" y="-241955"/>
            <a:ext cx="3682420" cy="3682420"/>
          </a:xfrm>
          <a:custGeom>
            <a:avLst/>
            <a:gdLst/>
            <a:ahLst/>
            <a:cxnLst/>
            <a:rect r="r" b="b" t="t" l="l"/>
            <a:pathLst>
              <a:path h="3682420" w="3682420">
                <a:moveTo>
                  <a:pt x="3682419" y="3682420"/>
                </a:moveTo>
                <a:lnTo>
                  <a:pt x="0" y="3682420"/>
                </a:lnTo>
                <a:lnTo>
                  <a:pt x="0" y="0"/>
                </a:lnTo>
                <a:lnTo>
                  <a:pt x="3682419" y="0"/>
                </a:lnTo>
                <a:lnTo>
                  <a:pt x="3682419" y="368242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420704" y="190176"/>
            <a:ext cx="2818157" cy="2818157"/>
          </a:xfrm>
          <a:custGeom>
            <a:avLst/>
            <a:gdLst/>
            <a:ahLst/>
            <a:cxnLst/>
            <a:rect r="r" b="b" t="t" l="l"/>
            <a:pathLst>
              <a:path h="2818157" w="2818157">
                <a:moveTo>
                  <a:pt x="0" y="0"/>
                </a:moveTo>
                <a:lnTo>
                  <a:pt x="2818157" y="0"/>
                </a:lnTo>
                <a:lnTo>
                  <a:pt x="2818157" y="2818157"/>
                </a:lnTo>
                <a:lnTo>
                  <a:pt x="0" y="2818157"/>
                </a:lnTo>
                <a:lnTo>
                  <a:pt x="0" y="0"/>
                </a:lnTo>
                <a:close/>
              </a:path>
            </a:pathLst>
          </a:custGeom>
          <a:blipFill>
            <a:blip r:embed="rId6"/>
            <a:stretch>
              <a:fillRect l="0" t="0" r="0" b="0"/>
            </a:stretch>
          </a:blipFill>
        </p:spPr>
      </p:sp>
      <p:sp>
        <p:nvSpPr>
          <p:cNvPr name="TextBox 8" id="8"/>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Sayfa 4</a:t>
            </a:r>
          </a:p>
        </p:txBody>
      </p:sp>
      <p:sp>
        <p:nvSpPr>
          <p:cNvPr name="TextBox 9" id="9"/>
          <p:cNvSpPr txBox="true"/>
          <p:nvPr/>
        </p:nvSpPr>
        <p:spPr>
          <a:xfrm rot="0">
            <a:off x="8050560" y="1212380"/>
            <a:ext cx="6111496" cy="1327640"/>
          </a:xfrm>
          <a:prstGeom prst="rect">
            <a:avLst/>
          </a:prstGeom>
        </p:spPr>
        <p:txBody>
          <a:bodyPr anchor="t" rtlCol="false" tIns="0" lIns="0" bIns="0" rIns="0">
            <a:spAutoFit/>
          </a:bodyPr>
          <a:lstStyle/>
          <a:p>
            <a:pPr algn="just" marL="0" indent="0" lvl="0">
              <a:lnSpc>
                <a:spcPts val="10467"/>
              </a:lnSpc>
            </a:pPr>
            <a:r>
              <a:rPr lang="en-US" b="true" sz="9023" spc="-424">
                <a:solidFill>
                  <a:srgbClr val="FFFFFF"/>
                </a:solidFill>
                <a:latin typeface="Open Sauce Bold"/>
                <a:ea typeface="Open Sauce Bold"/>
                <a:cs typeface="Open Sauce Bold"/>
                <a:sym typeface="Open Sauce Bold"/>
              </a:rPr>
              <a:t>Arduino Dili</a:t>
            </a:r>
          </a:p>
        </p:txBody>
      </p:sp>
      <p:sp>
        <p:nvSpPr>
          <p:cNvPr name="TextBox 10" id="10"/>
          <p:cNvSpPr txBox="true"/>
          <p:nvPr/>
        </p:nvSpPr>
        <p:spPr>
          <a:xfrm rot="0">
            <a:off x="1531643" y="3814445"/>
            <a:ext cx="14621386" cy="5443855"/>
          </a:xfrm>
          <a:prstGeom prst="rect">
            <a:avLst/>
          </a:prstGeom>
        </p:spPr>
        <p:txBody>
          <a:bodyPr anchor="t" rtlCol="false" tIns="0" lIns="0" bIns="0" rIns="0">
            <a:spAutoFit/>
          </a:bodyPr>
          <a:lstStyle/>
          <a:p>
            <a:pPr algn="just">
              <a:lnSpc>
                <a:spcPts val="3919"/>
              </a:lnSpc>
              <a:spcBef>
                <a:spcPct val="0"/>
              </a:spcBef>
            </a:pPr>
            <a:r>
              <a:rPr lang="en-US" sz="2799" spc="5">
                <a:solidFill>
                  <a:srgbClr val="FFFFFF"/>
                </a:solidFill>
                <a:latin typeface="Open Sauce"/>
                <a:ea typeface="Open Sauce"/>
                <a:cs typeface="Open Sauce"/>
                <a:sym typeface="Open Sauce"/>
              </a:rPr>
              <a:t>Arduino dili, aslında C ve C++ temelli, mikrodenetleyici tabanlı projeler için geliştirilmiş bir programlama dilidir. Temel amacı, elektronik devreleri ve donanımları kolayca kontrol edebilmektir. Arduino IDE’si sayesinde kullanıcılar, sensörlerden motorlara, LED’lerden haberleşme modüllerine kadar geniş bir yelpazedeki donanımları basit kodlarla yönetebilir. Dilin sözdizimi, C/C++ ile büyük ölçüde uyumlu olduğundan, standart programlama mantığını bilenler için öğrenmesi oldukça hızlıdır. Aynı zamanda setup() ve loop() gibi özel fonksiyon yapıları, kodun başlatma ve sürekli çalışma döngüsünü net şekilde ayırarak mikrodenetleyici projelerinde düzenli ve okunabilir bir yapı sağlar. Bu özellikleri sayesinde Arduino dili, hem hobi projelerinde hem de prototip geliştirme süreçlerinde yaygın ve erişilebilir bir araç olarak öne çıkar.</a:t>
            </a:r>
          </a:p>
        </p:txBody>
      </p:sp>
      <p:sp>
        <p:nvSpPr>
          <p:cNvPr name="TextBox 11" id="11"/>
          <p:cNvSpPr txBox="true"/>
          <p:nvPr/>
        </p:nvSpPr>
        <p:spPr>
          <a:xfrm rot="0">
            <a:off x="823045" y="490155"/>
            <a:ext cx="2969281"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Bilim Fen Teknoloji</a:t>
            </a:r>
          </a:p>
        </p:txBody>
      </p:sp>
      <p:sp>
        <p:nvSpPr>
          <p:cNvPr name="TextBox 12" id="12"/>
          <p:cNvSpPr txBox="true"/>
          <p:nvPr/>
        </p:nvSpPr>
        <p:spPr>
          <a:xfrm rot="0">
            <a:off x="823045" y="811215"/>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Kulübü</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5400000">
            <a:off x="-755771" y="-136158"/>
            <a:ext cx="8558066" cy="8573655"/>
          </a:xfrm>
          <a:custGeom>
            <a:avLst/>
            <a:gdLst/>
            <a:ahLst/>
            <a:cxnLst/>
            <a:rect r="r" b="b" t="t" l="l"/>
            <a:pathLst>
              <a:path h="8573655" w="8558066">
                <a:moveTo>
                  <a:pt x="0" y="8573655"/>
                </a:moveTo>
                <a:lnTo>
                  <a:pt x="8558066" y="8573655"/>
                </a:lnTo>
                <a:lnTo>
                  <a:pt x="8558066"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11410540" y="5245617"/>
            <a:ext cx="7358247" cy="7358247"/>
          </a:xfrm>
          <a:custGeom>
            <a:avLst/>
            <a:gdLst/>
            <a:ahLst/>
            <a:cxnLst/>
            <a:rect r="r" b="b" t="t" l="l"/>
            <a:pathLst>
              <a:path h="7358247" w="7358247">
                <a:moveTo>
                  <a:pt x="0" y="7358246"/>
                </a:moveTo>
                <a:lnTo>
                  <a:pt x="7358246" y="7358246"/>
                </a:lnTo>
                <a:lnTo>
                  <a:pt x="7358246" y="0"/>
                </a:lnTo>
                <a:lnTo>
                  <a:pt x="0" y="0"/>
                </a:lnTo>
                <a:lnTo>
                  <a:pt x="0" y="735824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538317" y="6026528"/>
            <a:ext cx="5102692" cy="4247991"/>
          </a:xfrm>
          <a:custGeom>
            <a:avLst/>
            <a:gdLst/>
            <a:ahLst/>
            <a:cxnLst/>
            <a:rect r="r" b="b" t="t" l="l"/>
            <a:pathLst>
              <a:path h="4247991" w="5102692">
                <a:moveTo>
                  <a:pt x="0" y="0"/>
                </a:moveTo>
                <a:lnTo>
                  <a:pt x="5102692" y="0"/>
                </a:lnTo>
                <a:lnTo>
                  <a:pt x="5102692" y="4247991"/>
                </a:lnTo>
                <a:lnTo>
                  <a:pt x="0" y="4247991"/>
                </a:lnTo>
                <a:lnTo>
                  <a:pt x="0" y="0"/>
                </a:lnTo>
                <a:close/>
              </a:path>
            </a:pathLst>
          </a:custGeom>
          <a:blipFill>
            <a:blip r:embed="rId6"/>
            <a:stretch>
              <a:fillRect l="0" t="0" r="0" b="0"/>
            </a:stretch>
          </a:blipFill>
        </p:spPr>
      </p:sp>
      <p:sp>
        <p:nvSpPr>
          <p:cNvPr name="TextBox 8" id="8"/>
          <p:cNvSpPr txBox="true"/>
          <p:nvPr/>
        </p:nvSpPr>
        <p:spPr>
          <a:xfrm rot="0">
            <a:off x="157302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Sayfa 5</a:t>
            </a:r>
          </a:p>
        </p:txBody>
      </p:sp>
      <p:sp>
        <p:nvSpPr>
          <p:cNvPr name="TextBox 9" id="9"/>
          <p:cNvSpPr txBox="true"/>
          <p:nvPr/>
        </p:nvSpPr>
        <p:spPr>
          <a:xfrm rot="0">
            <a:off x="823045" y="3936432"/>
            <a:ext cx="10196882" cy="5925186"/>
          </a:xfrm>
          <a:prstGeom prst="rect">
            <a:avLst/>
          </a:prstGeom>
        </p:spPr>
        <p:txBody>
          <a:bodyPr anchor="t" rtlCol="false" tIns="0" lIns="0" bIns="0" rIns="0">
            <a:spAutoFit/>
          </a:bodyPr>
          <a:lstStyle/>
          <a:p>
            <a:pPr algn="just">
              <a:lnSpc>
                <a:spcPts val="3639"/>
              </a:lnSpc>
              <a:spcBef>
                <a:spcPct val="0"/>
              </a:spcBef>
            </a:pPr>
            <a:r>
              <a:rPr lang="en-US" sz="2599" spc="5">
                <a:solidFill>
                  <a:srgbClr val="FFFFFF"/>
                </a:solidFill>
                <a:latin typeface="Open Sauce"/>
                <a:ea typeface="Open Sauce"/>
                <a:cs typeface="Open Sauce"/>
                <a:sym typeface="Open Sauce"/>
              </a:rPr>
              <a:t>Arduino IDE, Arduino kartları için özel olarak geliştirilmiş bir bütünleşik geliştirme ortamıdır ve kullanıcıların mikrodenetleyici projelerini kolayca yazmasını, derlemesini ve karta yüklemesini sağlar. IDE, basit ve sade bir arayüze sahip olup kod yazmayı, düzenlemeyi ve hata ayıklamayı kolaylaştırır. İçinde otomatik kütüphane yönetimi ve örnek projeler barındırması, yeni başlayanların hızlıca projelere başlamasını sağlar. Kod yazıldıktan sonra “Derle” ve “Yükle” butonlarıyla Arduino kartına anında aktarım yapılabilir, seri monitör özelliği ile karttan gelen veriler gerçek zamanlı olarak takip edilebilir. Bu yönleriyle Arduino IDE, hem hobi kullanıcıları hem de prototip geliştiren mühendisler için mikrodenetleyici programlamayı erişilebilir ve verimli hale getirir.</a:t>
            </a:r>
          </a:p>
        </p:txBody>
      </p:sp>
      <p:sp>
        <p:nvSpPr>
          <p:cNvPr name="TextBox 10" id="10"/>
          <p:cNvSpPr txBox="true"/>
          <p:nvPr/>
        </p:nvSpPr>
        <p:spPr>
          <a:xfrm rot="0">
            <a:off x="823045" y="2524333"/>
            <a:ext cx="6815799" cy="937095"/>
          </a:xfrm>
          <a:prstGeom prst="rect">
            <a:avLst/>
          </a:prstGeom>
        </p:spPr>
        <p:txBody>
          <a:bodyPr anchor="t" rtlCol="false" tIns="0" lIns="0" bIns="0" rIns="0">
            <a:spAutoFit/>
          </a:bodyPr>
          <a:lstStyle/>
          <a:p>
            <a:pPr algn="just" marL="0" indent="0" lvl="0">
              <a:lnSpc>
                <a:spcPts val="7275"/>
              </a:lnSpc>
            </a:pPr>
            <a:r>
              <a:rPr lang="en-US" b="true" sz="6613" spc="13">
                <a:solidFill>
                  <a:srgbClr val="FFFFFF"/>
                </a:solidFill>
                <a:latin typeface="Open Sauce Bold"/>
                <a:ea typeface="Open Sauce Bold"/>
                <a:cs typeface="Open Sauce Bold"/>
                <a:sym typeface="Open Sauce Bold"/>
              </a:rPr>
              <a:t>ARDUINO IDE</a:t>
            </a:r>
          </a:p>
        </p:txBody>
      </p:sp>
      <p:sp>
        <p:nvSpPr>
          <p:cNvPr name="TextBox 11" id="11"/>
          <p:cNvSpPr txBox="true"/>
          <p:nvPr/>
        </p:nvSpPr>
        <p:spPr>
          <a:xfrm rot="0">
            <a:off x="823045" y="490155"/>
            <a:ext cx="2969281"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Bilim Fen Teknoloji</a:t>
            </a:r>
          </a:p>
        </p:txBody>
      </p:sp>
      <p:sp>
        <p:nvSpPr>
          <p:cNvPr name="TextBox 12" id="12"/>
          <p:cNvSpPr txBox="true"/>
          <p:nvPr/>
        </p:nvSpPr>
        <p:spPr>
          <a:xfrm rot="0">
            <a:off x="823045" y="811215"/>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Kulübü</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81179" y="576468"/>
            <a:ext cx="1919429" cy="566532"/>
            <a:chOff x="0" y="0"/>
            <a:chExt cx="505529" cy="149210"/>
          </a:xfrm>
        </p:grpSpPr>
        <p:sp>
          <p:nvSpPr>
            <p:cNvPr name="Freeform 3" id="3"/>
            <p:cNvSpPr/>
            <p:nvPr/>
          </p:nvSpPr>
          <p:spPr>
            <a:xfrm flipH="false" flipV="false" rot="0">
              <a:off x="0" y="0"/>
              <a:ext cx="505529" cy="149210"/>
            </a:xfrm>
            <a:custGeom>
              <a:avLst/>
              <a:gdLst/>
              <a:ahLst/>
              <a:cxnLst/>
              <a:rect r="r" b="b" t="t" l="l"/>
              <a:pathLst>
                <a:path h="149210" w="505529">
                  <a:moveTo>
                    <a:pt x="74605" y="0"/>
                  </a:moveTo>
                  <a:lnTo>
                    <a:pt x="430924" y="0"/>
                  </a:lnTo>
                  <a:cubicBezTo>
                    <a:pt x="472127" y="0"/>
                    <a:pt x="505529" y="33402"/>
                    <a:pt x="505529" y="74605"/>
                  </a:cubicBezTo>
                  <a:lnTo>
                    <a:pt x="505529" y="74605"/>
                  </a:lnTo>
                  <a:cubicBezTo>
                    <a:pt x="505529" y="115808"/>
                    <a:pt x="472127" y="149210"/>
                    <a:pt x="430924" y="149210"/>
                  </a:cubicBezTo>
                  <a:lnTo>
                    <a:pt x="74605" y="149210"/>
                  </a:lnTo>
                  <a:cubicBezTo>
                    <a:pt x="33402" y="149210"/>
                    <a:pt x="0" y="115808"/>
                    <a:pt x="0" y="74605"/>
                  </a:cubicBezTo>
                  <a:lnTo>
                    <a:pt x="0" y="74605"/>
                  </a:lnTo>
                  <a:cubicBezTo>
                    <a:pt x="0" y="33402"/>
                    <a:pt x="33402" y="0"/>
                    <a:pt x="74605" y="0"/>
                  </a:cubicBezTo>
                  <a:close/>
                </a:path>
              </a:pathLst>
            </a:custGeom>
            <a:gradFill rotWithShape="true">
              <a:gsLst>
                <a:gs pos="0">
                  <a:srgbClr val="7357FF">
                    <a:alpha val="100000"/>
                  </a:srgbClr>
                </a:gs>
                <a:gs pos="100000">
                  <a:srgbClr val="FCACFF">
                    <a:alpha val="100000"/>
                  </a:srgbClr>
                </a:gs>
              </a:gsLst>
              <a:lin ang="0"/>
            </a:gradFill>
          </p:spPr>
        </p:sp>
        <p:sp>
          <p:nvSpPr>
            <p:cNvPr name="TextBox 4" id="4"/>
            <p:cNvSpPr txBox="true"/>
            <p:nvPr/>
          </p:nvSpPr>
          <p:spPr>
            <a:xfrm>
              <a:off x="0" y="-38100"/>
              <a:ext cx="505529" cy="18731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5443169" y="-2557831"/>
            <a:ext cx="7401663" cy="18288000"/>
          </a:xfrm>
          <a:custGeom>
            <a:avLst/>
            <a:gdLst/>
            <a:ahLst/>
            <a:cxnLst/>
            <a:rect r="r" b="b" t="t" l="l"/>
            <a:pathLst>
              <a:path h="18288000" w="7401663">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TextBox 6" id="6"/>
          <p:cNvSpPr txBox="true"/>
          <p:nvPr/>
        </p:nvSpPr>
        <p:spPr>
          <a:xfrm rot="0">
            <a:off x="15768349" y="663200"/>
            <a:ext cx="1421291" cy="339725"/>
          </a:xfrm>
          <a:prstGeom prst="rect">
            <a:avLst/>
          </a:prstGeom>
        </p:spPr>
        <p:txBody>
          <a:bodyPr anchor="t" rtlCol="false" tIns="0" lIns="0" bIns="0" rIns="0">
            <a:spAutoFit/>
          </a:bodyPr>
          <a:lstStyle/>
          <a:p>
            <a:pPr algn="ctr">
              <a:lnSpc>
                <a:spcPts val="2799"/>
              </a:lnSpc>
              <a:spcBef>
                <a:spcPct val="0"/>
              </a:spcBef>
            </a:pPr>
            <a:r>
              <a:rPr lang="en-US" b="true" sz="1999" spc="3">
                <a:solidFill>
                  <a:srgbClr val="FFFFFF"/>
                </a:solidFill>
                <a:latin typeface="Open Sauce Bold"/>
                <a:ea typeface="Open Sauce Bold"/>
                <a:cs typeface="Open Sauce Bold"/>
                <a:sym typeface="Open Sauce Bold"/>
              </a:rPr>
              <a:t>Sayfa 10</a:t>
            </a:r>
          </a:p>
        </p:txBody>
      </p:sp>
      <p:sp>
        <p:nvSpPr>
          <p:cNvPr name="TextBox 7" id="7"/>
          <p:cNvSpPr txBox="true"/>
          <p:nvPr/>
        </p:nvSpPr>
        <p:spPr>
          <a:xfrm rot="0">
            <a:off x="8496029" y="8835324"/>
            <a:ext cx="1274721" cy="422976"/>
          </a:xfrm>
          <a:prstGeom prst="rect">
            <a:avLst/>
          </a:prstGeom>
        </p:spPr>
        <p:txBody>
          <a:bodyPr anchor="t" rtlCol="false" tIns="0" lIns="0" bIns="0" rIns="0">
            <a:spAutoFit/>
          </a:bodyPr>
          <a:lstStyle/>
          <a:p>
            <a:pPr algn="ctr">
              <a:lnSpc>
                <a:spcPts val="3461"/>
              </a:lnSpc>
            </a:pPr>
            <a:r>
              <a:rPr lang="en-US" sz="2472">
                <a:solidFill>
                  <a:srgbClr val="FFFFFF"/>
                </a:solidFill>
                <a:latin typeface="Open Sauce"/>
                <a:ea typeface="Open Sauce"/>
                <a:cs typeface="Open Sauce"/>
                <a:sym typeface="Open Sauce"/>
              </a:rPr>
              <a:t>-</a:t>
            </a:r>
          </a:p>
        </p:txBody>
      </p:sp>
      <p:sp>
        <p:nvSpPr>
          <p:cNvPr name="TextBox 8" id="8"/>
          <p:cNvSpPr txBox="true"/>
          <p:nvPr/>
        </p:nvSpPr>
        <p:spPr>
          <a:xfrm rot="0">
            <a:off x="0" y="4825246"/>
            <a:ext cx="18288000" cy="2696339"/>
          </a:xfrm>
          <a:prstGeom prst="rect">
            <a:avLst/>
          </a:prstGeom>
        </p:spPr>
        <p:txBody>
          <a:bodyPr anchor="t" rtlCol="false" tIns="0" lIns="0" bIns="0" rIns="0">
            <a:spAutoFit/>
          </a:bodyPr>
          <a:lstStyle/>
          <a:p>
            <a:pPr algn="ctr" marL="0" indent="0" lvl="0">
              <a:lnSpc>
                <a:spcPts val="22262"/>
              </a:lnSpc>
              <a:spcBef>
                <a:spcPct val="0"/>
              </a:spcBef>
            </a:pPr>
            <a:r>
              <a:rPr lang="en-US" b="true" sz="15901" spc="-747">
                <a:solidFill>
                  <a:srgbClr val="FFFFFF"/>
                </a:solidFill>
                <a:latin typeface="Open Sauce Bold"/>
                <a:ea typeface="Open Sauce Bold"/>
                <a:cs typeface="Open Sauce Bold"/>
                <a:sym typeface="Open Sauce Bold"/>
              </a:rPr>
              <a:t>Teşekkürler</a:t>
            </a:r>
          </a:p>
        </p:txBody>
      </p:sp>
      <p:sp>
        <p:nvSpPr>
          <p:cNvPr name="TextBox 9" id="9"/>
          <p:cNvSpPr txBox="true"/>
          <p:nvPr/>
        </p:nvSpPr>
        <p:spPr>
          <a:xfrm rot="0">
            <a:off x="823045" y="490155"/>
            <a:ext cx="2969281" cy="363065"/>
          </a:xfrm>
          <a:prstGeom prst="rect">
            <a:avLst/>
          </a:prstGeom>
        </p:spPr>
        <p:txBody>
          <a:bodyPr anchor="t" rtlCol="false" tIns="0" lIns="0" bIns="0" rIns="0">
            <a:spAutoFit/>
          </a:bodyPr>
          <a:lstStyle/>
          <a:p>
            <a:pPr algn="l" marL="0" indent="0" lvl="0">
              <a:lnSpc>
                <a:spcPts val="3088"/>
              </a:lnSpc>
              <a:spcBef>
                <a:spcPct val="0"/>
              </a:spcBef>
            </a:pPr>
            <a:r>
              <a:rPr lang="en-US" b="true" sz="2206" spc="4">
                <a:solidFill>
                  <a:srgbClr val="FFFFFF"/>
                </a:solidFill>
                <a:latin typeface="Open Sauce Heavy"/>
                <a:ea typeface="Open Sauce Heavy"/>
                <a:cs typeface="Open Sauce Heavy"/>
                <a:sym typeface="Open Sauce Heavy"/>
              </a:rPr>
              <a:t>Bilim Fen Teknoloji</a:t>
            </a:r>
          </a:p>
        </p:txBody>
      </p:sp>
      <p:sp>
        <p:nvSpPr>
          <p:cNvPr name="TextBox 10" id="10"/>
          <p:cNvSpPr txBox="true"/>
          <p:nvPr/>
        </p:nvSpPr>
        <p:spPr>
          <a:xfrm rot="0">
            <a:off x="823045" y="811215"/>
            <a:ext cx="1761862" cy="363065"/>
          </a:xfrm>
          <a:prstGeom prst="rect">
            <a:avLst/>
          </a:prstGeom>
        </p:spPr>
        <p:txBody>
          <a:bodyPr anchor="t" rtlCol="false" tIns="0" lIns="0" bIns="0" rIns="0">
            <a:spAutoFit/>
          </a:bodyPr>
          <a:lstStyle/>
          <a:p>
            <a:pPr algn="l" marL="0" indent="0" lvl="0">
              <a:lnSpc>
                <a:spcPts val="3088"/>
              </a:lnSpc>
              <a:spcBef>
                <a:spcPct val="0"/>
              </a:spcBef>
            </a:pPr>
            <a:r>
              <a:rPr lang="en-US" sz="2206" spc="4">
                <a:solidFill>
                  <a:srgbClr val="FFFFFF"/>
                </a:solidFill>
                <a:latin typeface="Open Sauce"/>
                <a:ea typeface="Open Sauce"/>
                <a:cs typeface="Open Sauce"/>
                <a:sym typeface="Open Sauce"/>
              </a:rPr>
              <a:t>Kulübü</a:t>
            </a:r>
          </a:p>
        </p:txBody>
      </p:sp>
      <p:sp>
        <p:nvSpPr>
          <p:cNvPr name="TextBox 11" id="11"/>
          <p:cNvSpPr txBox="true"/>
          <p:nvPr/>
        </p:nvSpPr>
        <p:spPr>
          <a:xfrm rot="0">
            <a:off x="0" y="2240370"/>
            <a:ext cx="18288000" cy="2696339"/>
          </a:xfrm>
          <a:prstGeom prst="rect">
            <a:avLst/>
          </a:prstGeom>
        </p:spPr>
        <p:txBody>
          <a:bodyPr anchor="t" rtlCol="false" tIns="0" lIns="0" bIns="0" rIns="0">
            <a:spAutoFit/>
          </a:bodyPr>
          <a:lstStyle/>
          <a:p>
            <a:pPr algn="ctr" marL="0" indent="0" lvl="0">
              <a:lnSpc>
                <a:spcPts val="22262"/>
              </a:lnSpc>
              <a:spcBef>
                <a:spcPct val="0"/>
              </a:spcBef>
            </a:pPr>
            <a:r>
              <a:rPr lang="en-US" sz="15901" spc="-747">
                <a:solidFill>
                  <a:srgbClr val="FFFFFF"/>
                </a:solidFill>
                <a:latin typeface="Open Sauce"/>
                <a:ea typeface="Open Sauce"/>
                <a:cs typeface="Open Sauce"/>
                <a:sym typeface="Open Sauce"/>
              </a:rPr>
              <a:t>Dinlediğiniz için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DAG5iRf7kg8</dc:identifier>
  <dcterms:modified xsi:type="dcterms:W3CDTF">2011-08-01T06:04:30Z</dcterms:modified>
  <cp:revision>1</cp:revision>
  <dc:title>Yazılım Dillemeleri</dc:title>
</cp:coreProperties>
</file>